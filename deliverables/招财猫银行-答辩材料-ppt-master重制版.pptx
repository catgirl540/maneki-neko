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  <Relationship Id="rId18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评委好，我们的项目是招财猫银行，一个将自然语言交互接入银行业务流程的智能体系统。今天用十分钟介绍它的业务能力、技术架构和安全边界。项目目前运行在明确标识的演示环境，尚未接入真实银行资金通道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设计这个系统时，我们始终围绕三个问题展开。安全上，怎样保证对话不会绕过客户授权，失败不会留下部分资金变化，业务上，怎样让账户、支付、账单和理财遵守一致的规则。智能体上，怎样让助手先查询权威信息，再把用户的需求带入可确认的办理流程。我们的做法是把业务规则放到服务端和共享模块中，让模型理解需求、解释结果，由银行服务验证条件并返回回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整体架构分为五层，最上方是网页、安卓、员工和 IM 入口，下一层负责接口契约与身份校验。应用层包含银行业务服务，以及基于 DSH 运行时的客户、工作人员和运维三类智能体，各自使用对应的工具与权限。共享规则层让后端与浏览器演示复用账户、预算、会员和理财等规则，减少重复实现带来的差异。底层使用 PostgreSQL 保存银行业务数据和按命名空间区分的智能体会话，提醒任务另有独立存储。Agent 办理银行业务仍须调用银行接口，不能直接修改资金账本，当前数据库最小权限迁移仍需完善。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账户与支付首先要明确资金究竟属于哪里，所以我们规定每位客户只有一个储蓄资金账户。人民币、美元和港币分别作为余额分区记账，多张银行卡共用这个账户，申请卡片或换汇都不会另开资金账户。银行卡独立管理激活、锁定、挂失、消费开关及限额，每个卡组织至多保留一张占用名额的卡。付款前由服务端核对账户归属、币种、可用余额和相应限制，需要验证的操作由本人输入支付密码。这样可以把卡片状态、客户级冻结和单笔资金预留区分清楚，避免界面操作改变了账务关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转账这里重点介绍需要进入在途窗口的指令，系统先核对收款人、账户与费用，再完成本人确认和支付验证。进入在途状态时，账面余额尚未扣减，只在实际付款币种的可用余额中预留本金和手续费。客户在有效窗口内撤销，或工作人员拦截时，系统只释放这笔指令记录的预留，其他指令和币种保持原状。到期或放行后，系统按原来确认的条件扣账，持久化失败则整体回滚相关业务变化，同一幂等请求也不能重复扣款。已经扣款、仅等待清算更新的交易属于另一种状态，不能套用在途撤销规则，回执必须如实反映这些差别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账单与资金关注的是统计口径和消费约束，月度、年度报告按所选币种和北京时间统计，账户内部换汇不计作收入或支出。流水支持条件筛选、分页和 CSV 导出，当前周期明确标注查询截止时间，查询失败也不会伪装成零金额。支出预算按商户和自然日累计，在模拟消费扣账之前检查额度，超出任一适用预算就整笔拒绝。消费先完成记账，分类模型在后台补充类别，上游失败保留其他分类，不影响已经完成的资金交易。预算额度不等于账户余额，也不会形成冻结，当前拦截范围仅限系统内模拟消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理财流程从有效的风险测评开始，客户的 C1 到 C5 适当性等级对应产品 R1 到 R5 的风险范围。匹配功能结合拟投入金额和期限要求筛选，展示匹配及排除原因，结果只供参考，不预测收益，也不代表申购已经获准。申购还需要开通理财资格，由本人抄录风险确认语句并验证支付密码，资金通过唯一储蓄账户结算。赎回逐批次检查封闭期，按先进先出的顺序处理可赎回份额，当前使用演示即时记账，没有真实异步清算。产品和净值属于虚构演示配置，存钱目标与定投目前只管理计划，尚未开放自动扣款执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个人与安全既包括客户日常设置，也包括跨入口统一执行的保护规则。支付密码连续错误五次会触发客户级冻结，错误次数持久化保存，重新登录、重启服务或重置密码都不能自行解除。冻结后仍保留登录、普通只读查询和联系客服，支付与敏感操作则停止，已有余额和资金预留不会因此改变。解冻必须由具备权限的工作人员关联在办工单、核验身份并留下审计，运维角色不能代客解冻。会员等级按上月日均资产评定，实时资产达标可以升级，连续两个评定周期未达标才降级，等级权益不会豁免支付验证和理财适当性要求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的关键是把理解需求与执行权限分开，模型先调用允许使用的工具，读取本人账户下的权威信息。白名单只读查询可以直接执行，涉及写入或敏感信息时，则按操作要求展示确认卡、补充信息并验证身份。授权绑定当前客户、会话、调用、参数和有效期，在实际执行前再次校验，而且只能消费一次，聊天中一句确认不能代替这个步骤。银行令牌和支付密码不会进入模型工具参数，最终成功与否以银行服务返回的回执为准。客户、工作人员和运维使用不同的身份与工具集，即使通过微信进入，渠道绑定也不会扩大银行权限。授权超时会拒绝执行，避免过期确认继续生效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的特色集中在日常使用与办理规则的结合，微信连接让客户能够在本人私聊中查询信息，并在独立确认后安排日程提醒。提醒只投递用户确认的文字与时间，不会授权转账或自动执行金融业务。客户、工作人员和运维各有 Agent，面对不同的任务，也使用各自的权限和工具。理财匹配解释筛选理由，预算则把消费约束和积分连接起来，符合条件的历史日可获得积分，三十积分兑换指定日期二十元的预算额度。它增加的是模拟消费预算额度，不是现金奖励，这些机制都由确定规则执行，助手负责把它们说明白。模拟消费便于验证卡限额、预算和记账流程，多端则复用统一接口与共享规则。员工IM服务已启用，但真实员工消息投递仍待完整验收，真实银行资金通道目前也尚未接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，我们已经在演示环境中形成由共享规则、本人授权和可核查回执连接的业务闭环。下一阶段的首要工作是接入合作银行，完成真实资金链路与清算验收，再推进短信实名、监管适配及数据库最小权限迁移。计息和自动计划执行，以及多副本、恢复演练和容量验证，则是后续持续完善的方向。当前作品仍是演示系统，真实金融服务必须在合作和验收条件具备后提供，谢谢各位，欢迎提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aneki_defense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neki_defense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a54db152e065d8e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f6a5d22b74a8f60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4c3dd9150cfae8b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062c6fe7fa74809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7eee1ac0ebd5149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3504" y="304800"/>
            <a:ext cx="1580388" cy="234696"/>
            <a:chOff x="603504" y="304800"/>
            <a:chExt cx="158038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4800"/>
              <a:ext cx="1580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MONEY MEOW BANK</a:t>
              </a:r>
            </a:p>
          </p:txBody>
        </p:sp>
      </p:grpSp>
      <p:sp>
        <p:nvSpPr>
          <p:cNvPr id="4" name="Line 4"/>
          <p:cNvSpPr/>
          <p:nvPr/>
        </p:nvSpPr>
        <p:spPr>
          <a:xfrm>
            <a:off x="609600" y="6276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35415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03504" y="6391275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9C5DA"/>
                </a:solidFill>
                <a:latin typeface="+mn-lt"/>
                <a:ea typeface="+mn-ea"/>
                <a:cs typeface="+mn-cs"/>
              </a:rPr>
              <a:t>招财猫银行 / 比赛演示作品，非真实银行</a:t>
            </a:r>
          </a:p>
        </p:txBody>
      </p:sp>
      <p:grpSp>
        <p:nvGrpSpPr>
          <p:cNvPr id="7" name="number"/>
          <p:cNvGrpSpPr/>
          <p:nvPr/>
        </p:nvGrpSpPr>
        <p:grpSpPr>
          <a:xfrm>
            <a:off x="10804779" y="6391275"/>
            <a:ext cx="553364" cy="234696"/>
            <a:chOff x="10804779" y="6391275"/>
            <a:chExt cx="553364" cy="234696"/>
          </a:xfrm>
        </p:grpSpPr>
        <p:sp>
          <p:nvSpPr>
            <p:cNvPr id="6" name="TextBox 6"/>
            <p:cNvSpPr txBox="1"/>
            <p:nvPr/>
          </p:nvSpPr>
          <p:spPr>
            <a:xfrm>
              <a:off x="10804779" y="63912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01 / 11</a:t>
              </a:r>
            </a:p>
          </p:txBody>
        </p:sp>
      </p:grpSp>
      <p:grpSp>
        <p:nvGrpSpPr>
          <p:cNvPr id="9" name="brand"/>
          <p:cNvGrpSpPr/>
          <p:nvPr/>
        </p:nvGrpSpPr>
        <p:grpSpPr>
          <a:xfrm>
            <a:off x="597408" y="774700"/>
            <a:ext cx="1639824" cy="469392"/>
            <a:chOff x="597408" y="774700"/>
            <a:chExt cx="1639824" cy="469392"/>
          </a:xfrm>
        </p:grpSpPr>
        <p:sp>
          <p:nvSpPr>
            <p:cNvPr id="8" name="TextBox 8"/>
            <p:cNvSpPr txBox="1"/>
            <p:nvPr/>
          </p:nvSpPr>
          <p:spPr>
            <a:xfrm>
              <a:off x="597408" y="7747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招财猫银行</a:t>
              </a:r>
            </a:p>
          </p:txBody>
        </p:sp>
      </p:grpSp>
      <p:grpSp>
        <p:nvGrpSpPr>
          <p:cNvPr id="11" name="hero"/>
          <p:cNvGrpSpPr/>
          <p:nvPr/>
        </p:nvGrpSpPr>
        <p:grpSpPr>
          <a:xfrm>
            <a:off x="590550" y="1993900"/>
            <a:ext cx="3825430" cy="2038350"/>
            <a:chOff x="590550" y="1993900"/>
            <a:chExt cx="3825430" cy="2038350"/>
          </a:xfrm>
        </p:grpSpPr>
        <p:sp>
          <p:nvSpPr>
            <p:cNvPr id="10" name="TextBox 10"/>
            <p:cNvSpPr txBox="1"/>
            <p:nvPr/>
          </p:nvSpPr>
          <p:spPr>
            <a:xfrm>
              <a:off x="590550" y="1993900"/>
              <a:ext cx="3825430" cy="2038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800"/>
                </a:lnSpc>
              </a:pPr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 AI 智能地</a:t>
              </a:r>
              <a:b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办银行业务</a:t>
              </a:r>
            </a:p>
          </p:txBody>
        </p:sp>
      </p:grpSp>
      <p:grpSp>
        <p:nvGrpSpPr>
          <p:cNvPr id="13" name="standfirst"/>
          <p:cNvGrpSpPr/>
          <p:nvPr/>
        </p:nvGrpSpPr>
        <p:grpSpPr>
          <a:xfrm>
            <a:off x="636270" y="4232275"/>
            <a:ext cx="2880360" cy="887730"/>
            <a:chOff x="636270" y="4232275"/>
            <a:chExt cx="2880360" cy="887730"/>
          </a:xfrm>
        </p:grpSpPr>
        <p:sp>
          <p:nvSpPr>
            <p:cNvPr id="12" name="TextBox 12"/>
            <p:cNvSpPr txBox="1"/>
            <p:nvPr/>
          </p:nvSpPr>
          <p:spPr>
            <a:xfrm>
              <a:off x="636270" y="4232275"/>
              <a:ext cx="2880360" cy="8877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525"/>
                </a:lnSpc>
              </a:pPr>
              <a:r>
                <a:rPr lang="zh-CN" sz="225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共享业务规则</a:t>
              </a:r>
              <a:br>
                <a:rPr lang="zh-CN" sz="225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25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服务端校验与本人授权</a:t>
              </a:r>
            </a:p>
          </p:txBody>
        </p:sp>
      </p:grpSp>
      <p:grpSp>
        <p:nvGrpSpPr>
          <p:cNvPr id="15" name="mascot"/>
          <p:cNvGrpSpPr/>
          <p:nvPr/>
        </p:nvGrpSpPr>
        <p:grpSpPr>
          <a:xfrm>
            <a:off x="7429500" y="1609725"/>
            <a:ext cx="4095750" cy="4095750"/>
            <a:chOff x="7429500" y="1609725"/>
            <a:chExt cx="4095750" cy="4095750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29500" y="1609725"/>
              <a:ext cx="4095750" cy="4095750"/>
            </a:xfrm>
            <a:prstGeom prst="rect">
              <a:avLst/>
            </a:prstGeom>
          </p:spPr>
        </p:pic>
      </p:grpSp>
      <p:grpSp>
        <p:nvGrpSpPr>
          <p:cNvPr id="17" name="metadata"/>
          <p:cNvGrpSpPr/>
          <p:nvPr/>
        </p:nvGrpSpPr>
        <p:grpSpPr>
          <a:xfrm>
            <a:off x="640080" y="5546725"/>
            <a:ext cx="3347085" cy="293370"/>
            <a:chOff x="640080" y="5546725"/>
            <a:chExt cx="3347085" cy="293370"/>
          </a:xfrm>
        </p:grpSpPr>
        <p:sp>
          <p:nvSpPr>
            <p:cNvPr id="16" name="TextBox 16"/>
            <p:cNvSpPr txBox="1"/>
            <p:nvPr/>
          </p:nvSpPr>
          <p:spPr>
            <a:xfrm>
              <a:off x="640080" y="5546725"/>
              <a:ext cx="33470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技术答辩 / 约 10 分钟 / 2026.10.30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3504" y="304800"/>
            <a:ext cx="1580388" cy="234696"/>
            <a:chOff x="603504" y="304800"/>
            <a:chExt cx="158038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4800"/>
              <a:ext cx="1580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MONEY MEOW BANK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717550"/>
            <a:ext cx="3143250" cy="645414"/>
            <a:chOff x="592836" y="717550"/>
            <a:chExt cx="3143250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717550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答辩的三条主线</a:t>
              </a:r>
            </a:p>
          </p:txBody>
        </p:sp>
      </p:grpSp>
      <p:grpSp>
        <p:nvGrpSpPr>
          <p:cNvPr id="7" name="subtitle"/>
          <p:cNvGrpSpPr/>
          <p:nvPr/>
        </p:nvGrpSpPr>
        <p:grpSpPr>
          <a:xfrm>
            <a:off x="601980" y="1412875"/>
            <a:ext cx="4659630" cy="293370"/>
            <a:chOff x="601980" y="1412875"/>
            <a:chExt cx="465963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4128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让自然语言进入办理流程，同时保留明确的业务约束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6276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3504" y="6391275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招财猫银行 / 比赛演示作品，非真实银行</a:t>
            </a:r>
          </a:p>
        </p:txBody>
      </p:sp>
      <p:grpSp>
        <p:nvGrpSpPr>
          <p:cNvPr id="11" name="number"/>
          <p:cNvGrpSpPr/>
          <p:nvPr/>
        </p:nvGrpSpPr>
        <p:grpSpPr>
          <a:xfrm>
            <a:off x="10804779" y="6391275"/>
            <a:ext cx="553364" cy="234696"/>
            <a:chOff x="10804779" y="6391275"/>
            <a:chExt cx="5533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10804779" y="63912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11</a:t>
              </a:r>
            </a:p>
          </p:txBody>
        </p:sp>
      </p:grpSp>
      <p:grpSp>
        <p:nvGrpSpPr>
          <p:cNvPr id="13" name="index01"/>
          <p:cNvGrpSpPr/>
          <p:nvPr/>
        </p:nvGrpSpPr>
        <p:grpSpPr>
          <a:xfrm>
            <a:off x="590550" y="1822450"/>
            <a:ext cx="877725" cy="1047750"/>
            <a:chOff x="590550" y="1822450"/>
            <a:chExt cx="877725" cy="1047750"/>
          </a:xfrm>
        </p:grpSpPr>
        <p:sp>
          <p:nvSpPr>
            <p:cNvPr id="12" name="TextBox 12"/>
            <p:cNvSpPr txBox="1"/>
            <p:nvPr/>
          </p:nvSpPr>
          <p:spPr>
            <a:xfrm>
              <a:off x="590550" y="182245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5" name="head01"/>
          <p:cNvGrpSpPr/>
          <p:nvPr/>
        </p:nvGrpSpPr>
        <p:grpSpPr>
          <a:xfrm>
            <a:off x="2130933" y="2022475"/>
            <a:ext cx="993648" cy="469392"/>
            <a:chOff x="2130933" y="2022475"/>
            <a:chExt cx="993648" cy="469392"/>
          </a:xfrm>
        </p:grpSpPr>
        <p:sp>
          <p:nvSpPr>
            <p:cNvPr id="14" name="TextBox 14"/>
            <p:cNvSpPr txBox="1"/>
            <p:nvPr/>
          </p:nvSpPr>
          <p:spPr>
            <a:xfrm>
              <a:off x="2130933" y="2022475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安全性</a:t>
              </a:r>
            </a:p>
          </p:txBody>
        </p:sp>
      </p:grpSp>
      <p:grpSp>
        <p:nvGrpSpPr>
          <p:cNvPr id="17" name="question01"/>
          <p:cNvGrpSpPr/>
          <p:nvPr/>
        </p:nvGrpSpPr>
        <p:grpSpPr>
          <a:xfrm>
            <a:off x="5513070" y="1997075"/>
            <a:ext cx="1840230" cy="440055"/>
            <a:chOff x="5513070" y="1997075"/>
            <a:chExt cx="1840230" cy="440055"/>
          </a:xfrm>
        </p:grpSpPr>
        <p:sp>
          <p:nvSpPr>
            <p:cNvPr id="16" name="TextBox 16"/>
            <p:cNvSpPr txBox="1"/>
            <p:nvPr/>
          </p:nvSpPr>
          <p:spPr>
            <a:xfrm>
              <a:off x="5513070" y="1997075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谁有权操作？</a:t>
              </a:r>
            </a:p>
          </p:txBody>
        </p:sp>
      </p:grpSp>
      <p:grpSp>
        <p:nvGrpSpPr>
          <p:cNvPr id="19" name="body01"/>
          <p:cNvGrpSpPr/>
          <p:nvPr/>
        </p:nvGrpSpPr>
        <p:grpSpPr>
          <a:xfrm>
            <a:off x="5514594" y="2473325"/>
            <a:ext cx="3957447" cy="381381"/>
            <a:chOff x="5514594" y="2473325"/>
            <a:chExt cx="3957447" cy="381381"/>
          </a:xfrm>
        </p:grpSpPr>
        <p:sp>
          <p:nvSpPr>
            <p:cNvPr id="18" name="TextBox 18"/>
            <p:cNvSpPr txBox="1"/>
            <p:nvPr/>
          </p:nvSpPr>
          <p:spPr>
            <a:xfrm>
              <a:off x="5514594" y="2473325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按角色鉴权，资金操作由本人确认</a:t>
              </a:r>
            </a:p>
          </p:txBody>
        </p:sp>
      </p:grpSp>
      <p:grpSp>
        <p:nvGrpSpPr>
          <p:cNvPr id="21" name="rule01"/>
          <p:cNvGrpSpPr/>
          <p:nvPr/>
        </p:nvGrpSpPr>
        <p:grpSpPr>
          <a:xfrm>
            <a:off x="2143125" y="3038475"/>
            <a:ext cx="9439275" cy="9525"/>
            <a:chOff x="2143125" y="3038475"/>
            <a:chExt cx="9439275" cy="9525"/>
          </a:xfrm>
        </p:grpSpPr>
        <p:sp>
          <p:nvSpPr>
            <p:cNvPr id="20" name="Line 20"/>
            <p:cNvSpPr/>
            <p:nvPr/>
          </p:nvSpPr>
          <p:spPr>
            <a:xfrm>
              <a:off x="2143125" y="3038475"/>
              <a:ext cx="9439275" cy="9525"/>
            </a:xfrm>
            <a:custGeom>
              <a:avLst/>
              <a:gdLst/>
              <a:ahLst/>
              <a:cxnLst/>
              <a:rect l="l" t="t" r="r" b="b"/>
              <a:pathLst>
                <a:path w="9439275" h="9525">
                  <a:moveTo>
                    <a:pt x="0" y="0"/>
                  </a:moveTo>
                  <a:lnTo>
                    <a:pt x="9439275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23" name="index02"/>
          <p:cNvGrpSpPr/>
          <p:nvPr/>
        </p:nvGrpSpPr>
        <p:grpSpPr>
          <a:xfrm>
            <a:off x="590550" y="3098800"/>
            <a:ext cx="877725" cy="1047750"/>
            <a:chOff x="590550" y="3098800"/>
            <a:chExt cx="877725" cy="1047750"/>
          </a:xfrm>
        </p:grpSpPr>
        <p:sp>
          <p:nvSpPr>
            <p:cNvPr id="22" name="TextBox 22"/>
            <p:cNvSpPr txBox="1"/>
            <p:nvPr/>
          </p:nvSpPr>
          <p:spPr>
            <a:xfrm>
              <a:off x="590550" y="309880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5" name="head02"/>
          <p:cNvGrpSpPr/>
          <p:nvPr/>
        </p:nvGrpSpPr>
        <p:grpSpPr>
          <a:xfrm>
            <a:off x="2130933" y="3298825"/>
            <a:ext cx="1316736" cy="469392"/>
            <a:chOff x="2130933" y="3298825"/>
            <a:chExt cx="1316736" cy="469392"/>
          </a:xfrm>
        </p:grpSpPr>
        <p:sp>
          <p:nvSpPr>
            <p:cNvPr id="24" name="TextBox 24"/>
            <p:cNvSpPr txBox="1"/>
            <p:nvPr/>
          </p:nvSpPr>
          <p:spPr>
            <a:xfrm>
              <a:off x="2130933" y="3298825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业务能力</a:t>
              </a:r>
            </a:p>
          </p:txBody>
        </p:sp>
      </p:grpSp>
      <p:grpSp>
        <p:nvGrpSpPr>
          <p:cNvPr id="27" name="question02"/>
          <p:cNvGrpSpPr/>
          <p:nvPr/>
        </p:nvGrpSpPr>
        <p:grpSpPr>
          <a:xfrm>
            <a:off x="5513070" y="3273425"/>
            <a:ext cx="2143125" cy="440055"/>
            <a:chOff x="5513070" y="3273425"/>
            <a:chExt cx="2143125" cy="440055"/>
          </a:xfrm>
        </p:grpSpPr>
        <p:sp>
          <p:nvSpPr>
            <p:cNvPr id="26" name="TextBox 26"/>
            <p:cNvSpPr txBox="1"/>
            <p:nvPr/>
          </p:nvSpPr>
          <p:spPr>
            <a:xfrm>
              <a:off x="5513070" y="327342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规则如何一致？</a:t>
              </a:r>
            </a:p>
          </p:txBody>
        </p:sp>
      </p:grpSp>
      <p:grpSp>
        <p:nvGrpSpPr>
          <p:cNvPr id="29" name="body02"/>
          <p:cNvGrpSpPr/>
          <p:nvPr/>
        </p:nvGrpSpPr>
        <p:grpSpPr>
          <a:xfrm>
            <a:off x="5514594" y="3749675"/>
            <a:ext cx="4718723" cy="381381"/>
            <a:chOff x="5514594" y="3749675"/>
            <a:chExt cx="4718723" cy="381381"/>
          </a:xfrm>
        </p:grpSpPr>
        <p:sp>
          <p:nvSpPr>
            <p:cNvPr id="28" name="TextBox 28"/>
            <p:cNvSpPr txBox="1"/>
            <p:nvPr/>
          </p:nvSpPr>
          <p:spPr>
            <a:xfrm>
              <a:off x="5514594" y="3749675"/>
              <a:ext cx="471872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统一接口办理，关键规则由 shared 复用</a:t>
              </a:r>
            </a:p>
          </p:txBody>
        </p:sp>
      </p:grpSp>
      <p:grpSp>
        <p:nvGrpSpPr>
          <p:cNvPr id="31" name="rule02"/>
          <p:cNvGrpSpPr/>
          <p:nvPr/>
        </p:nvGrpSpPr>
        <p:grpSpPr>
          <a:xfrm>
            <a:off x="2143125" y="4314825"/>
            <a:ext cx="9439275" cy="9525"/>
            <a:chOff x="2143125" y="4314825"/>
            <a:chExt cx="9439275" cy="9525"/>
          </a:xfrm>
        </p:grpSpPr>
        <p:sp>
          <p:nvSpPr>
            <p:cNvPr id="30" name="Line 30"/>
            <p:cNvSpPr/>
            <p:nvPr/>
          </p:nvSpPr>
          <p:spPr>
            <a:xfrm>
              <a:off x="2143125" y="4314825"/>
              <a:ext cx="9439275" cy="9525"/>
            </a:xfrm>
            <a:custGeom>
              <a:avLst/>
              <a:gdLst/>
              <a:ahLst/>
              <a:cxnLst/>
              <a:rect l="l" t="t" r="r" b="b"/>
              <a:pathLst>
                <a:path w="9439275" h="9525">
                  <a:moveTo>
                    <a:pt x="0" y="0"/>
                  </a:moveTo>
                  <a:lnTo>
                    <a:pt x="9439275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33" name="index03"/>
          <p:cNvGrpSpPr/>
          <p:nvPr/>
        </p:nvGrpSpPr>
        <p:grpSpPr>
          <a:xfrm>
            <a:off x="590550" y="4375150"/>
            <a:ext cx="877725" cy="1047750"/>
            <a:chOff x="590550" y="4375150"/>
            <a:chExt cx="877725" cy="1047750"/>
          </a:xfrm>
        </p:grpSpPr>
        <p:sp>
          <p:nvSpPr>
            <p:cNvPr id="32" name="TextBox 32"/>
            <p:cNvSpPr txBox="1"/>
            <p:nvPr/>
          </p:nvSpPr>
          <p:spPr>
            <a:xfrm>
              <a:off x="590550" y="437515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35" name="head03"/>
          <p:cNvGrpSpPr/>
          <p:nvPr/>
        </p:nvGrpSpPr>
        <p:grpSpPr>
          <a:xfrm>
            <a:off x="2130933" y="4575175"/>
            <a:ext cx="967862" cy="469392"/>
            <a:chOff x="2130933" y="4575175"/>
            <a:chExt cx="967862" cy="469392"/>
          </a:xfrm>
        </p:grpSpPr>
        <p:sp>
          <p:nvSpPr>
            <p:cNvPr id="34" name="TextBox 34"/>
            <p:cNvSpPr txBox="1"/>
            <p:nvPr/>
          </p:nvSpPr>
          <p:spPr>
            <a:xfrm>
              <a:off x="2130933" y="4575175"/>
              <a:ext cx="96786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</a:t>
              </a:r>
            </a:p>
          </p:txBody>
        </p:sp>
      </p:grpSp>
      <p:grpSp>
        <p:nvGrpSpPr>
          <p:cNvPr id="37" name="question03"/>
          <p:cNvGrpSpPr/>
          <p:nvPr/>
        </p:nvGrpSpPr>
        <p:grpSpPr>
          <a:xfrm>
            <a:off x="5513070" y="4549775"/>
            <a:ext cx="2143125" cy="440055"/>
            <a:chOff x="5513070" y="4549775"/>
            <a:chExt cx="2143125" cy="440055"/>
          </a:xfrm>
        </p:grpSpPr>
        <p:sp>
          <p:nvSpPr>
            <p:cNvPr id="36" name="TextBox 36"/>
            <p:cNvSpPr txBox="1"/>
            <p:nvPr/>
          </p:nvSpPr>
          <p:spPr>
            <a:xfrm>
              <a:off x="5513070" y="4549775"/>
              <a:ext cx="21431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助手怎样办事？</a:t>
              </a:r>
            </a:p>
          </p:txBody>
        </p:sp>
      </p:grpSp>
      <p:grpSp>
        <p:nvGrpSpPr>
          <p:cNvPr id="39" name="body03"/>
          <p:cNvGrpSpPr/>
          <p:nvPr/>
        </p:nvGrpSpPr>
        <p:grpSpPr>
          <a:xfrm>
            <a:off x="5514594" y="5026025"/>
            <a:ext cx="4744974" cy="381381"/>
            <a:chOff x="5514594" y="5026025"/>
            <a:chExt cx="4744974" cy="381381"/>
          </a:xfrm>
        </p:grpSpPr>
        <p:sp>
          <p:nvSpPr>
            <p:cNvPr id="38" name="TextBox 38"/>
            <p:cNvSpPr txBox="1"/>
            <p:nvPr/>
          </p:nvSpPr>
          <p:spPr>
            <a:xfrm>
              <a:off x="5514594" y="5026025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先查询与补充参数，执行后依据回执回答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3504" y="304800"/>
            <a:ext cx="1580388" cy="234696"/>
            <a:chOff x="603504" y="304800"/>
            <a:chExt cx="158038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4800"/>
              <a:ext cx="1580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MONEY MEOW BANK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717550"/>
            <a:ext cx="4920234" cy="645414"/>
            <a:chOff x="592836" y="717550"/>
            <a:chExt cx="492023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717550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五层架构，共用业务核心</a:t>
              </a:r>
            </a:p>
          </p:txBody>
        </p:sp>
      </p:grpSp>
      <p:grpSp>
        <p:nvGrpSpPr>
          <p:cNvPr id="7" name="subtitle"/>
          <p:cNvGrpSpPr/>
          <p:nvPr/>
        </p:nvGrpSpPr>
        <p:grpSpPr>
          <a:xfrm>
            <a:off x="601980" y="1412875"/>
            <a:ext cx="5709209" cy="293370"/>
            <a:chOff x="601980" y="1412875"/>
            <a:chExt cx="5709209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412875"/>
              <a:ext cx="57092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 经银行 API 办理业务，银行服务负责资金事实与授权校验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6276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3504" y="6391275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招财猫银行 / 比赛演示作品，非真实银行</a:t>
            </a:r>
          </a:p>
        </p:txBody>
      </p:sp>
      <p:grpSp>
        <p:nvGrpSpPr>
          <p:cNvPr id="11" name="number"/>
          <p:cNvGrpSpPr/>
          <p:nvPr/>
        </p:nvGrpSpPr>
        <p:grpSpPr>
          <a:xfrm>
            <a:off x="10804779" y="6391275"/>
            <a:ext cx="553364" cy="234696"/>
            <a:chOff x="10804779" y="6391275"/>
            <a:chExt cx="5533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10804779" y="63912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11</a:t>
              </a:r>
            </a:p>
          </p:txBody>
        </p:sp>
      </p:grpSp>
      <p:grpSp>
        <p:nvGrpSpPr>
          <p:cNvPr id="17" name="layer-module01"/>
          <p:cNvGrpSpPr/>
          <p:nvPr/>
        </p:nvGrpSpPr>
        <p:grpSpPr>
          <a:xfrm>
            <a:off x="609600" y="2009775"/>
            <a:ext cx="10972800" cy="648970"/>
            <a:chOff x="609600" y="2009775"/>
            <a:chExt cx="10972800" cy="648970"/>
          </a:xfrm>
        </p:grpSpPr>
        <p:sp>
          <p:nvSpPr>
            <p:cNvPr id="12" name="Rectangle 12"/>
            <p:cNvSpPr/>
            <p:nvPr/>
          </p:nvSpPr>
          <p:spPr>
            <a:xfrm>
              <a:off x="609600" y="2009775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0669" y="217805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2570" y="2139950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47644" y="2035175"/>
              <a:ext cx="33945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网页 / 安卓 / 工作人员 / IM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49930" y="23653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面向客户与员工的业务入口</a:t>
              </a:r>
            </a:p>
          </p:txBody>
        </p:sp>
      </p:grpSp>
      <p:grpSp>
        <p:nvGrpSpPr>
          <p:cNvPr id="23" name="layer-module02"/>
          <p:cNvGrpSpPr/>
          <p:nvPr/>
        </p:nvGrpSpPr>
        <p:grpSpPr>
          <a:xfrm>
            <a:off x="609600" y="2752725"/>
            <a:ext cx="10972800" cy="648970"/>
            <a:chOff x="609600" y="2752725"/>
            <a:chExt cx="10972800" cy="648970"/>
          </a:xfrm>
        </p:grpSpPr>
        <p:sp>
          <p:nvSpPr>
            <p:cNvPr id="18" name="Rectangle 18"/>
            <p:cNvSpPr/>
            <p:nvPr/>
          </p:nvSpPr>
          <p:spPr>
            <a:xfrm>
              <a:off x="609600" y="2752725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0669" y="292100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12570" y="2882900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接口层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47644" y="2778125"/>
              <a:ext cx="39844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银行 API / 员工 API / Agent API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49930" y="31083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身份、契约与会话归属</a:t>
              </a:r>
            </a:p>
          </p:txBody>
        </p:sp>
      </p:grpSp>
      <p:grpSp>
        <p:nvGrpSpPr>
          <p:cNvPr id="29" name="layer-module03"/>
          <p:cNvGrpSpPr/>
          <p:nvPr/>
        </p:nvGrpSpPr>
        <p:grpSpPr>
          <a:xfrm>
            <a:off x="609600" y="3495675"/>
            <a:ext cx="10972800" cy="648970"/>
            <a:chOff x="609600" y="3495675"/>
            <a:chExt cx="10972800" cy="648970"/>
          </a:xfrm>
        </p:grpSpPr>
        <p:sp>
          <p:nvSpPr>
            <p:cNvPr id="24" name="Rectangle 24"/>
            <p:cNvSpPr/>
            <p:nvPr/>
          </p:nvSpPr>
          <p:spPr>
            <a:xfrm>
              <a:off x="609600" y="3495675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80669" y="366395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2570" y="3625850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47644" y="3521075"/>
              <a:ext cx="35531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银行业务服务 / Agent 运行时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49930" y="38512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业务处理、角色工具与审计</a:t>
              </a:r>
            </a:p>
          </p:txBody>
        </p:sp>
      </p:grpSp>
      <p:grpSp>
        <p:nvGrpSpPr>
          <p:cNvPr id="35" name="layer-module04"/>
          <p:cNvGrpSpPr/>
          <p:nvPr/>
        </p:nvGrpSpPr>
        <p:grpSpPr>
          <a:xfrm>
            <a:off x="609600" y="4238625"/>
            <a:ext cx="10972800" cy="648970"/>
            <a:chOff x="609600" y="4238625"/>
            <a:chExt cx="10972800" cy="648970"/>
          </a:xfrm>
        </p:grpSpPr>
        <p:sp>
          <p:nvSpPr>
            <p:cNvPr id="30" name="Rectangle 30"/>
            <p:cNvSpPr/>
            <p:nvPr/>
          </p:nvSpPr>
          <p:spPr>
            <a:xfrm>
              <a:off x="609600" y="4238625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0669" y="440690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12570" y="4368800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规则层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47644" y="4264025"/>
              <a:ext cx="25871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shared 共享业务规则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49930" y="45942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账户、会员、预算、账单与理财匹配</a:t>
              </a:r>
            </a:p>
          </p:txBody>
        </p:sp>
      </p:grpSp>
      <p:grpSp>
        <p:nvGrpSpPr>
          <p:cNvPr id="41" name="layer-module05"/>
          <p:cNvGrpSpPr/>
          <p:nvPr/>
        </p:nvGrpSpPr>
        <p:grpSpPr>
          <a:xfrm>
            <a:off x="609600" y="4981575"/>
            <a:ext cx="10972800" cy="648970"/>
            <a:chOff x="609600" y="4981575"/>
            <a:chExt cx="10972800" cy="648970"/>
          </a:xfrm>
        </p:grpSpPr>
        <p:sp>
          <p:nvSpPr>
            <p:cNvPr id="36" name="Rectangle 36"/>
            <p:cNvSpPr/>
            <p:nvPr/>
          </p:nvSpPr>
          <p:spPr>
            <a:xfrm>
              <a:off x="609600" y="4981575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0669" y="514985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12570" y="5111750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47644" y="5006975"/>
              <a:ext cx="359984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PostgreSQL / AI 会话持久化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249930" y="53371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银行业务数据与分角色会话</a:t>
              </a:r>
            </a:p>
          </p:txBody>
        </p:sp>
      </p:grpSp>
      <p:grpSp>
        <p:nvGrpSpPr>
          <p:cNvPr id="43" name="limit"/>
          <p:cNvGrpSpPr/>
          <p:nvPr/>
        </p:nvGrpSpPr>
        <p:grpSpPr>
          <a:xfrm>
            <a:off x="601980" y="5842000"/>
            <a:ext cx="5729859" cy="293370"/>
            <a:chOff x="601980" y="5842000"/>
            <a:chExt cx="5729859" cy="293370"/>
          </a:xfrm>
        </p:grpSpPr>
        <p:sp>
          <p:nvSpPr>
            <p:cNvPr id="42" name="TextBox 42"/>
            <p:cNvSpPr txBox="1"/>
            <p:nvPr/>
          </p:nvSpPr>
          <p:spPr>
            <a:xfrm>
              <a:off x="601980" y="5842000"/>
              <a:ext cx="57298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契约先行 / 规则共享 / 事务提交；数据库最小权限迁移仍需完善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3504" y="304800"/>
            <a:ext cx="1580388" cy="234696"/>
            <a:chOff x="603504" y="304800"/>
            <a:chExt cx="158038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4800"/>
              <a:ext cx="1580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MONEY MEOW BANK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717550"/>
            <a:ext cx="2254758" cy="645414"/>
            <a:chOff x="592836" y="717550"/>
            <a:chExt cx="225475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717550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账户与支付</a:t>
              </a:r>
            </a:p>
          </p:txBody>
        </p:sp>
      </p:grpSp>
      <p:grpSp>
        <p:nvGrpSpPr>
          <p:cNvPr id="7" name="subtitle"/>
          <p:cNvGrpSpPr/>
          <p:nvPr/>
        </p:nvGrpSpPr>
        <p:grpSpPr>
          <a:xfrm>
            <a:off x="601980" y="1412875"/>
            <a:ext cx="3649980" cy="293370"/>
            <a:chOff x="601980" y="1412875"/>
            <a:chExt cx="364998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4128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资金账户承载余额，银行卡承载使用规则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6276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3504" y="6391275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招财猫银行 / 比赛演示作品，非真实银行</a:t>
            </a:r>
          </a:p>
        </p:txBody>
      </p:sp>
      <p:grpSp>
        <p:nvGrpSpPr>
          <p:cNvPr id="11" name="number"/>
          <p:cNvGrpSpPr/>
          <p:nvPr/>
        </p:nvGrpSpPr>
        <p:grpSpPr>
          <a:xfrm>
            <a:off x="10804779" y="6391275"/>
            <a:ext cx="553364" cy="234696"/>
            <a:chOff x="10804779" y="6391275"/>
            <a:chExt cx="5533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10804779" y="63912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11</a:t>
              </a:r>
            </a:p>
          </p:txBody>
        </p:sp>
      </p:grpSp>
      <p:grpSp>
        <p:nvGrpSpPr>
          <p:cNvPr id="23" name="account-model"/>
          <p:cNvGrpSpPr/>
          <p:nvPr/>
        </p:nvGrpSpPr>
        <p:grpSpPr>
          <a:xfrm>
            <a:off x="609600" y="2038350"/>
            <a:ext cx="7334250" cy="2638425"/>
            <a:chOff x="609600" y="2038350"/>
            <a:chExt cx="7334250" cy="2638425"/>
          </a:xfrm>
        </p:grpSpPr>
        <p:sp>
          <p:nvSpPr>
            <p:cNvPr id="12" name="Rectangle 12"/>
            <p:cNvSpPr/>
            <p:nvPr/>
          </p:nvSpPr>
          <p:spPr>
            <a:xfrm>
              <a:off x="609600" y="2038350"/>
              <a:ext cx="7334250" cy="2638425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8200" y="216535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83258" y="227012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储蓄资金账户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85544" y="2778125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一个对客账户号，币种分别记账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57250" y="3314700"/>
              <a:ext cx="6838950" cy="9525"/>
            </a:xfrm>
            <a:custGeom>
              <a:avLst/>
              <a:gdLst/>
              <a:ahLst/>
              <a:cxnLst/>
              <a:rect l="l" t="t" r="r" b="b"/>
              <a:pathLst>
                <a:path w="6838950" h="9525">
                  <a:moveTo>
                    <a:pt x="0" y="0"/>
                  </a:moveTo>
                  <a:lnTo>
                    <a:pt x="683895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0308" y="3508375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CNY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2594" y="4025900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人民币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26308" y="3508375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USD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28594" y="402590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美元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12308" y="3508375"/>
              <a:ext cx="6158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14594" y="402590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港币</a:t>
              </a:r>
            </a:p>
          </p:txBody>
        </p:sp>
      </p:grpSp>
      <p:grpSp>
        <p:nvGrpSpPr>
          <p:cNvPr id="25" name="cards-title"/>
          <p:cNvGrpSpPr/>
          <p:nvPr/>
        </p:nvGrpSpPr>
        <p:grpSpPr>
          <a:xfrm>
            <a:off x="598170" y="4930775"/>
            <a:ext cx="2748915" cy="440055"/>
            <a:chOff x="598170" y="4930775"/>
            <a:chExt cx="2748915" cy="440055"/>
          </a:xfrm>
        </p:grpSpPr>
        <p:sp>
          <p:nvSpPr>
            <p:cNvPr id="24" name="TextBox 24"/>
            <p:cNvSpPr txBox="1"/>
            <p:nvPr/>
          </p:nvSpPr>
          <p:spPr>
            <a:xfrm>
              <a:off x="598170" y="4930775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多张卡共用资金账户</a:t>
              </a:r>
            </a:p>
          </p:txBody>
        </p:sp>
      </p:grpSp>
      <p:grpSp>
        <p:nvGrpSpPr>
          <p:cNvPr id="27" name="cards-detail"/>
          <p:cNvGrpSpPr/>
          <p:nvPr/>
        </p:nvGrpSpPr>
        <p:grpSpPr>
          <a:xfrm>
            <a:off x="599694" y="5362575"/>
            <a:ext cx="5220462" cy="733806"/>
            <a:chOff x="599694" y="5362575"/>
            <a:chExt cx="5220462" cy="733806"/>
          </a:xfrm>
        </p:grpSpPr>
        <p:sp>
          <p:nvSpPr>
            <p:cNvPr id="26" name="TextBox 26"/>
            <p:cNvSpPr txBox="1"/>
            <p:nvPr/>
          </p:nvSpPr>
          <p:spPr>
            <a:xfrm>
              <a:off x="599694" y="5362575"/>
              <a:ext cx="5220462" cy="7338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卡状态、开关与限额约束支付</a:t>
              </a:r>
              <a:b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转账需核验完整信息、本人确认并生成业务记录</a:t>
              </a:r>
            </a:p>
          </p:txBody>
        </p:sp>
      </p:grpSp>
      <p:grpSp>
        <p:nvGrpSpPr>
          <p:cNvPr id="29" name="account-ui"/>
          <p:cNvGrpSpPr/>
          <p:nvPr/>
        </p:nvGrpSpPr>
        <p:grpSpPr>
          <a:xfrm>
            <a:off x="9055100" y="1866900"/>
            <a:ext cx="1911350" cy="4000500"/>
            <a:chOff x="9055100" y="1866900"/>
            <a:chExt cx="1911350" cy="400050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55100" y="1866900"/>
              <a:ext cx="1911350" cy="4000500"/>
            </a:xfrm>
            <a:prstGeom prst="rect">
              <a:avLst/>
            </a:prstGeom>
          </p:spPr>
        </p:pic>
      </p:grpSp>
      <p:grpSp>
        <p:nvGrpSpPr>
          <p:cNvPr id="31" name="caption"/>
          <p:cNvGrpSpPr/>
          <p:nvPr/>
        </p:nvGrpSpPr>
        <p:grpSpPr>
          <a:xfrm>
            <a:off x="8585454" y="5981700"/>
            <a:ext cx="2112264" cy="234696"/>
            <a:chOff x="8585454" y="5981700"/>
            <a:chExt cx="2112264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8585454" y="59817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界面设计稿，金额为演示数据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3504" y="304800"/>
            <a:ext cx="1580388" cy="234696"/>
            <a:chOff x="603504" y="304800"/>
            <a:chExt cx="158038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4800"/>
              <a:ext cx="1580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MONEY MEOW BANK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717550"/>
            <a:ext cx="4920234" cy="645414"/>
            <a:chOff x="592836" y="717550"/>
            <a:chExt cx="4920234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717550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转账的预留、结清与释放</a:t>
              </a:r>
            </a:p>
          </p:txBody>
        </p:sp>
      </p:grpSp>
      <p:grpSp>
        <p:nvGrpSpPr>
          <p:cNvPr id="7" name="subtitle"/>
          <p:cNvGrpSpPr/>
          <p:nvPr/>
        </p:nvGrpSpPr>
        <p:grpSpPr>
          <a:xfrm>
            <a:off x="601980" y="1412875"/>
            <a:ext cx="5265420" cy="293370"/>
            <a:chOff x="601980" y="1412875"/>
            <a:chExt cx="526542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4128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以进入在途窗口的转账为例，结清与撤销分别处理本笔预留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6276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3504" y="6391275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招财猫银行 / 比赛演示作品，非真实银行</a:t>
            </a:r>
          </a:p>
        </p:txBody>
      </p:sp>
      <p:grpSp>
        <p:nvGrpSpPr>
          <p:cNvPr id="11" name="number"/>
          <p:cNvGrpSpPr/>
          <p:nvPr/>
        </p:nvGrpSpPr>
        <p:grpSpPr>
          <a:xfrm>
            <a:off x="10804779" y="6391275"/>
            <a:ext cx="553364" cy="234696"/>
            <a:chOff x="10804779" y="6391275"/>
            <a:chExt cx="5533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10804779" y="63912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11</a:t>
              </a:r>
            </a:p>
          </p:txBody>
        </p:sp>
      </p:grpSp>
      <p:grpSp>
        <p:nvGrpSpPr>
          <p:cNvPr id="16" name="transaction-state01"/>
          <p:cNvGrpSpPr/>
          <p:nvPr/>
        </p:nvGrpSpPr>
        <p:grpSpPr>
          <a:xfrm>
            <a:off x="609600" y="2085975"/>
            <a:ext cx="3486150" cy="1524000"/>
            <a:chOff x="609600" y="2085975"/>
            <a:chExt cx="3486150" cy="1524000"/>
          </a:xfrm>
        </p:grpSpPr>
        <p:sp>
          <p:nvSpPr>
            <p:cNvPr id="12" name="Rectangle 12"/>
            <p:cNvSpPr/>
            <p:nvPr/>
          </p:nvSpPr>
          <p:spPr>
            <a:xfrm>
              <a:off x="609600" y="2085975"/>
              <a:ext cx="348615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8294" y="223520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6008" y="266065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受理与授权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8294" y="31210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核验收款、费用与密码</a:t>
              </a:r>
            </a:p>
          </p:txBody>
        </p:sp>
      </p:grpSp>
      <p:grpSp>
        <p:nvGrpSpPr>
          <p:cNvPr id="21" name="transaction-state02"/>
          <p:cNvGrpSpPr/>
          <p:nvPr/>
        </p:nvGrpSpPr>
        <p:grpSpPr>
          <a:xfrm>
            <a:off x="4352925" y="2085975"/>
            <a:ext cx="3486150" cy="1524000"/>
            <a:chOff x="4352925" y="2085975"/>
            <a:chExt cx="3486150" cy="1524000"/>
          </a:xfrm>
        </p:grpSpPr>
        <p:sp>
          <p:nvSpPr>
            <p:cNvPr id="17" name="Rectangle 17"/>
            <p:cNvSpPr/>
            <p:nvPr/>
          </p:nvSpPr>
          <p:spPr>
            <a:xfrm>
              <a:off x="4352925" y="2085975"/>
              <a:ext cx="348615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571619" y="223520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9333" y="26606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在途预留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71619" y="3121025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可用额减少，账面未扣</a:t>
              </a:r>
            </a:p>
          </p:txBody>
        </p:sp>
      </p:grpSp>
      <p:grpSp>
        <p:nvGrpSpPr>
          <p:cNvPr id="26" name="transaction-state03"/>
          <p:cNvGrpSpPr/>
          <p:nvPr/>
        </p:nvGrpSpPr>
        <p:grpSpPr>
          <a:xfrm>
            <a:off x="8096250" y="2085975"/>
            <a:ext cx="3486150" cy="1524000"/>
            <a:chOff x="8096250" y="2085975"/>
            <a:chExt cx="3486150" cy="1524000"/>
          </a:xfrm>
        </p:grpSpPr>
        <p:sp>
          <p:nvSpPr>
            <p:cNvPr id="22" name="Rectangle 22"/>
            <p:cNvSpPr/>
            <p:nvPr/>
          </p:nvSpPr>
          <p:spPr>
            <a:xfrm>
              <a:off x="8096250" y="2085975"/>
              <a:ext cx="348615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14944" y="223520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12658" y="26606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结清扣账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14944" y="3121025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按原确认条件执行</a:t>
              </a:r>
            </a:p>
          </p:txBody>
        </p:sp>
      </p:grpSp>
      <p:grpSp>
        <p:nvGrpSpPr>
          <p:cNvPr id="28" name="forward1"/>
          <p:cNvGrpSpPr/>
          <p:nvPr/>
        </p:nvGrpSpPr>
        <p:grpSpPr>
          <a:xfrm>
            <a:off x="4095750" y="2819400"/>
            <a:ext cx="257175" cy="9525"/>
            <a:chOff x="4095750" y="2819400"/>
            <a:chExt cx="257175" cy="9525"/>
          </a:xfrm>
        </p:grpSpPr>
        <p:sp>
          <p:nvSpPr>
            <p:cNvPr id="27" name="Line 27"/>
            <p:cNvSpPr/>
            <p:nvPr/>
          </p:nvSpPr>
          <p:spPr>
            <a:xfrm>
              <a:off x="4095750" y="28194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30" name="forward2"/>
          <p:cNvGrpSpPr/>
          <p:nvPr/>
        </p:nvGrpSpPr>
        <p:grpSpPr>
          <a:xfrm>
            <a:off x="7839075" y="2819400"/>
            <a:ext cx="257175" cy="9525"/>
            <a:chOff x="7839075" y="2819400"/>
            <a:chExt cx="257175" cy="9525"/>
          </a:xfrm>
        </p:grpSpPr>
        <p:sp>
          <p:nvSpPr>
            <p:cNvPr id="29" name="Line 29"/>
            <p:cNvSpPr/>
            <p:nvPr/>
          </p:nvSpPr>
          <p:spPr>
            <a:xfrm>
              <a:off x="7839075" y="28194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</p:grpSp>
      <p:grpSp>
        <p:nvGrpSpPr>
          <p:cNvPr id="32" name="cancel-branch"/>
          <p:cNvGrpSpPr/>
          <p:nvPr/>
        </p:nvGrpSpPr>
        <p:grpSpPr>
          <a:xfrm>
            <a:off x="6096000" y="3609975"/>
            <a:ext cx="9525" cy="342900"/>
            <a:chOff x="6096000" y="3609975"/>
            <a:chExt cx="9525" cy="342900"/>
          </a:xfrm>
        </p:grpSpPr>
        <p:sp>
          <p:nvSpPr>
            <p:cNvPr id="31" name="Line 31"/>
            <p:cNvSpPr/>
            <p:nvPr/>
          </p:nvSpPr>
          <p:spPr>
            <a:xfrm>
              <a:off x="6096000" y="3609975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34" name="cancel-title"/>
          <p:cNvGrpSpPr/>
          <p:nvPr/>
        </p:nvGrpSpPr>
        <p:grpSpPr>
          <a:xfrm>
            <a:off x="4351020" y="4073525"/>
            <a:ext cx="3657600" cy="440055"/>
            <a:chOff x="4351020" y="4073525"/>
            <a:chExt cx="3657600" cy="440055"/>
          </a:xfrm>
        </p:grpSpPr>
        <p:sp>
          <p:nvSpPr>
            <p:cNvPr id="33" name="TextBox 33"/>
            <p:cNvSpPr txBox="1"/>
            <p:nvPr/>
          </p:nvSpPr>
          <p:spPr>
            <a:xfrm>
              <a:off x="4351020" y="4073525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撤销或拦截：释放本笔预留</a:t>
              </a:r>
            </a:p>
          </p:txBody>
        </p:sp>
      </p:grpSp>
      <p:grpSp>
        <p:nvGrpSpPr>
          <p:cNvPr id="36" name="cancel-body"/>
          <p:cNvGrpSpPr/>
          <p:nvPr/>
        </p:nvGrpSpPr>
        <p:grpSpPr>
          <a:xfrm>
            <a:off x="4352544" y="4521200"/>
            <a:ext cx="4219956" cy="381381"/>
            <a:chOff x="4352544" y="4521200"/>
            <a:chExt cx="4219956" cy="381381"/>
          </a:xfrm>
        </p:grpSpPr>
        <p:sp>
          <p:nvSpPr>
            <p:cNvPr id="35" name="TextBox 35"/>
            <p:cNvSpPr txBox="1"/>
            <p:nvPr/>
          </p:nvSpPr>
          <p:spPr>
            <a:xfrm>
              <a:off x="4352544" y="4521200"/>
              <a:ext cx="42199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其他指令与币种不变，释放不称退款</a:t>
              </a:r>
            </a:p>
          </p:txBody>
        </p:sp>
      </p:grpSp>
      <p:grpSp>
        <p:nvGrpSpPr>
          <p:cNvPr id="38" name="constraint-rule"/>
          <p:cNvGrpSpPr/>
          <p:nvPr/>
        </p:nvGrpSpPr>
        <p:grpSpPr>
          <a:xfrm>
            <a:off x="609600" y="5114925"/>
            <a:ext cx="10972800" cy="9525"/>
            <a:chOff x="609600" y="5114925"/>
            <a:chExt cx="10972800" cy="9525"/>
          </a:xfrm>
        </p:grpSpPr>
        <p:sp>
          <p:nvSpPr>
            <p:cNvPr id="37" name="Line 37"/>
            <p:cNvSpPr/>
            <p:nvPr/>
          </p:nvSpPr>
          <p:spPr>
            <a:xfrm>
              <a:off x="609600" y="5114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40" name="equation"/>
          <p:cNvGrpSpPr/>
          <p:nvPr/>
        </p:nvGrpSpPr>
        <p:grpSpPr>
          <a:xfrm>
            <a:off x="598170" y="5283200"/>
            <a:ext cx="5903566" cy="440055"/>
            <a:chOff x="598170" y="5283200"/>
            <a:chExt cx="5903566" cy="440055"/>
          </a:xfrm>
        </p:grpSpPr>
        <p:sp>
          <p:nvSpPr>
            <p:cNvPr id="39" name="TextBox 39"/>
            <p:cNvSpPr txBox="1"/>
            <p:nvPr/>
          </p:nvSpPr>
          <p:spPr>
            <a:xfrm>
              <a:off x="598170" y="5283200"/>
              <a:ext cx="59035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同一币种：账面余额 = 可用余额 + 冻结金额</a:t>
              </a:r>
            </a:p>
          </p:txBody>
        </p:sp>
      </p:grpSp>
      <p:grpSp>
        <p:nvGrpSpPr>
          <p:cNvPr id="42" name="invariants"/>
          <p:cNvGrpSpPr/>
          <p:nvPr/>
        </p:nvGrpSpPr>
        <p:grpSpPr>
          <a:xfrm>
            <a:off x="601980" y="5803900"/>
            <a:ext cx="5669280" cy="293370"/>
            <a:chOff x="601980" y="5803900"/>
            <a:chExt cx="5669280" cy="293370"/>
          </a:xfrm>
        </p:grpSpPr>
        <p:sp>
          <p:nvSpPr>
            <p:cNvPr id="41" name="TextBox 41"/>
            <p:cNvSpPr txBox="1"/>
            <p:nvPr/>
          </p:nvSpPr>
          <p:spPr>
            <a:xfrm>
              <a:off x="601980" y="5803900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本金与费用同事务；持久化失败整体回滚；幂等重放返回原结果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3504" y="304800"/>
            <a:ext cx="1580388" cy="234696"/>
            <a:chOff x="603504" y="304800"/>
            <a:chExt cx="158038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4800"/>
              <a:ext cx="1580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MONEY MEOW BANK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717550"/>
            <a:ext cx="2254758" cy="645414"/>
            <a:chOff x="592836" y="717550"/>
            <a:chExt cx="225475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717550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账单与资金</a:t>
              </a:r>
            </a:p>
          </p:txBody>
        </p:sp>
      </p:grpSp>
      <p:grpSp>
        <p:nvGrpSpPr>
          <p:cNvPr id="7" name="subtitle"/>
          <p:cNvGrpSpPr/>
          <p:nvPr/>
        </p:nvGrpSpPr>
        <p:grpSpPr>
          <a:xfrm>
            <a:off x="601980" y="1412875"/>
            <a:ext cx="5265420" cy="293370"/>
            <a:chOff x="601980" y="1412875"/>
            <a:chExt cx="526542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4128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从可核查的流水出发，区分统计、扣账前控制与记账后分类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6276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3504" y="6391275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招财猫银行 / 比赛演示作品，非真实银行</a:t>
            </a:r>
          </a:p>
        </p:txBody>
      </p:sp>
      <p:grpSp>
        <p:nvGrpSpPr>
          <p:cNvPr id="11" name="number"/>
          <p:cNvGrpSpPr/>
          <p:nvPr/>
        </p:nvGrpSpPr>
        <p:grpSpPr>
          <a:xfrm>
            <a:off x="10804779" y="6391275"/>
            <a:ext cx="553364" cy="234696"/>
            <a:chOff x="10804779" y="6391275"/>
            <a:chExt cx="5533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10804779" y="63912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11</a:t>
              </a:r>
            </a:p>
          </p:txBody>
        </p:sp>
      </p:grpSp>
      <p:grpSp>
        <p:nvGrpSpPr>
          <p:cNvPr id="13" name="analysis-ui"/>
          <p:cNvGrpSpPr/>
          <p:nvPr/>
        </p:nvGrpSpPr>
        <p:grpSpPr>
          <a:xfrm>
            <a:off x="802534" y="1847850"/>
            <a:ext cx="1947757" cy="4076700"/>
            <a:chOff x="802534" y="1847850"/>
            <a:chExt cx="1947757" cy="407670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2534" y="1847850"/>
              <a:ext cx="1947757" cy="4076700"/>
            </a:xfrm>
            <a:prstGeom prst="rect">
              <a:avLst/>
            </a:prstGeom>
          </p:spPr>
        </p:pic>
      </p:grpSp>
      <p:grpSp>
        <p:nvGrpSpPr>
          <p:cNvPr id="15" name="analysis-caption"/>
          <p:cNvGrpSpPr/>
          <p:nvPr/>
        </p:nvGrpSpPr>
        <p:grpSpPr>
          <a:xfrm>
            <a:off x="603504" y="5981700"/>
            <a:ext cx="2112264" cy="234696"/>
            <a:chOff x="603504" y="5981700"/>
            <a:chExt cx="2112264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59817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界面设计稿，金额为演示数据</a:t>
              </a:r>
            </a:p>
          </p:txBody>
        </p:sp>
      </p:grpSp>
      <p:grpSp>
        <p:nvGrpSpPr>
          <p:cNvPr id="17" name="topic0"/>
          <p:cNvGrpSpPr/>
          <p:nvPr/>
        </p:nvGrpSpPr>
        <p:grpSpPr>
          <a:xfrm>
            <a:off x="3988308" y="1984375"/>
            <a:ext cx="1962912" cy="469392"/>
            <a:chOff x="3988308" y="1984375"/>
            <a:chExt cx="1962912" cy="469392"/>
          </a:xfrm>
        </p:grpSpPr>
        <p:sp>
          <p:nvSpPr>
            <p:cNvPr id="16" name="TextBox 16"/>
            <p:cNvSpPr txBox="1"/>
            <p:nvPr/>
          </p:nvSpPr>
          <p:spPr>
            <a:xfrm>
              <a:off x="3988308" y="198437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账单与现金流</a:t>
              </a:r>
            </a:p>
          </p:txBody>
        </p:sp>
      </p:grpSp>
      <p:grpSp>
        <p:nvGrpSpPr>
          <p:cNvPr id="19" name="details0"/>
          <p:cNvGrpSpPr/>
          <p:nvPr/>
        </p:nvGrpSpPr>
        <p:grpSpPr>
          <a:xfrm>
            <a:off x="3990594" y="2428875"/>
            <a:ext cx="3239262" cy="1086231"/>
            <a:chOff x="3990594" y="2428875"/>
            <a:chExt cx="3239262" cy="1086231"/>
          </a:xfrm>
        </p:grpSpPr>
        <p:sp>
          <p:nvSpPr>
            <p:cNvPr id="18" name="TextBox 18"/>
            <p:cNvSpPr txBox="1"/>
            <p:nvPr/>
          </p:nvSpPr>
          <p:spPr>
            <a:xfrm>
              <a:off x="3990594" y="2428875"/>
              <a:ext cx="3239262" cy="10862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筛选、分页与 CSV 导出</a:t>
              </a:r>
              <a:b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按币种、北京时间自然月统计</a:t>
              </a:r>
              <a:b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账户内换汇不计收支</a:t>
              </a:r>
            </a:p>
          </p:txBody>
        </p:sp>
      </p:grpSp>
      <p:grpSp>
        <p:nvGrpSpPr>
          <p:cNvPr id="21" name="topic1"/>
          <p:cNvGrpSpPr/>
          <p:nvPr/>
        </p:nvGrpSpPr>
        <p:grpSpPr>
          <a:xfrm>
            <a:off x="3988308" y="3708400"/>
            <a:ext cx="2609088" cy="469392"/>
            <a:chOff x="3988308" y="3708400"/>
            <a:chExt cx="2609088" cy="469392"/>
          </a:xfrm>
        </p:grpSpPr>
        <p:sp>
          <p:nvSpPr>
            <p:cNvPr id="20" name="TextBox 20"/>
            <p:cNvSpPr txBox="1"/>
            <p:nvPr/>
          </p:nvSpPr>
          <p:spPr>
            <a:xfrm>
              <a:off x="3988308" y="37084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扣账前：预算检查</a:t>
              </a:r>
            </a:p>
          </p:txBody>
        </p:sp>
      </p:grpSp>
      <p:grpSp>
        <p:nvGrpSpPr>
          <p:cNvPr id="23" name="details1"/>
          <p:cNvGrpSpPr/>
          <p:nvPr/>
        </p:nvGrpSpPr>
        <p:grpSpPr>
          <a:xfrm>
            <a:off x="3990594" y="4152900"/>
            <a:ext cx="3982212" cy="733806"/>
            <a:chOff x="3990594" y="4152900"/>
            <a:chExt cx="3982212" cy="733806"/>
          </a:xfrm>
        </p:grpSpPr>
        <p:sp>
          <p:nvSpPr>
            <p:cNvPr id="22" name="TextBox 22"/>
            <p:cNvSpPr txBox="1"/>
            <p:nvPr/>
          </p:nvSpPr>
          <p:spPr>
            <a:xfrm>
              <a:off x="3990594" y="4152900"/>
              <a:ext cx="3982212" cy="7338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按商户累计当日支出，超额整笔拒绝</a:t>
              </a:r>
              <a:b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 积分兑换指定日 +20 元额度券</a:t>
              </a:r>
            </a:p>
          </p:txBody>
        </p:sp>
      </p:grpSp>
      <p:grpSp>
        <p:nvGrpSpPr>
          <p:cNvPr id="25" name="topic2"/>
          <p:cNvGrpSpPr/>
          <p:nvPr/>
        </p:nvGrpSpPr>
        <p:grpSpPr>
          <a:xfrm>
            <a:off x="3988308" y="5089525"/>
            <a:ext cx="2609088" cy="469392"/>
            <a:chOff x="3988308" y="5089525"/>
            <a:chExt cx="2609088" cy="469392"/>
          </a:xfrm>
        </p:grpSpPr>
        <p:sp>
          <p:nvSpPr>
            <p:cNvPr id="24" name="TextBox 24"/>
            <p:cNvSpPr txBox="1"/>
            <p:nvPr/>
          </p:nvSpPr>
          <p:spPr>
            <a:xfrm>
              <a:off x="3988308" y="5089525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记账后：异步分类</a:t>
              </a:r>
            </a:p>
          </p:txBody>
        </p:sp>
      </p:grpSp>
      <p:grpSp>
        <p:nvGrpSpPr>
          <p:cNvPr id="27" name="details2"/>
          <p:cNvGrpSpPr/>
          <p:nvPr/>
        </p:nvGrpSpPr>
        <p:grpSpPr>
          <a:xfrm>
            <a:off x="3990594" y="5559425"/>
            <a:ext cx="3432429" cy="381381"/>
            <a:chOff x="3990594" y="5559425"/>
            <a:chExt cx="3432429" cy="381381"/>
          </a:xfrm>
        </p:grpSpPr>
        <p:sp>
          <p:nvSpPr>
            <p:cNvPr id="26" name="TextBox 26"/>
            <p:cNvSpPr txBox="1"/>
            <p:nvPr/>
          </p:nvSpPr>
          <p:spPr>
            <a:xfrm>
              <a:off x="3990594" y="5559425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分类失败不撤销已成功的消费</a:t>
              </a:r>
            </a:p>
          </p:txBody>
        </p:sp>
      </p:grpSp>
      <p:grpSp>
        <p:nvGrpSpPr>
          <p:cNvPr id="29" name="scope"/>
          <p:cNvGrpSpPr/>
          <p:nvPr/>
        </p:nvGrpSpPr>
        <p:grpSpPr>
          <a:xfrm>
            <a:off x="3992880" y="5937250"/>
            <a:ext cx="4861560" cy="293370"/>
            <a:chOff x="3992880" y="5937250"/>
            <a:chExt cx="4861560" cy="293370"/>
          </a:xfrm>
        </p:grpSpPr>
        <p:sp>
          <p:nvSpPr>
            <p:cNvPr id="28" name="TextBox 28"/>
            <p:cNvSpPr txBox="1"/>
            <p:nvPr/>
          </p:nvSpPr>
          <p:spPr>
            <a:xfrm>
              <a:off x="3992880" y="593725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预算仅约束系统内模拟消费，不拦截转账、换汇或理财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3504" y="304800"/>
            <a:ext cx="1580388" cy="234696"/>
            <a:chOff x="603504" y="304800"/>
            <a:chExt cx="158038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4800"/>
              <a:ext cx="1580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MONEY MEOW BANK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717550"/>
            <a:ext cx="2254758" cy="645414"/>
            <a:chOff x="592836" y="717550"/>
            <a:chExt cx="225475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717550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理财与储蓄</a:t>
              </a:r>
            </a:p>
          </p:txBody>
        </p:sp>
      </p:grpSp>
      <p:grpSp>
        <p:nvGrpSpPr>
          <p:cNvPr id="7" name="subtitle"/>
          <p:cNvGrpSpPr/>
          <p:nvPr/>
        </p:nvGrpSpPr>
        <p:grpSpPr>
          <a:xfrm>
            <a:off x="601980" y="1412875"/>
            <a:ext cx="5063490" cy="293370"/>
            <a:chOff x="601980" y="1412875"/>
            <a:chExt cx="506349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4128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匹配结果解释筛选依据，申购授权保留在独立办理流程中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6276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3504" y="6391275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招财猫银行 / 比赛演示作品，非真实银行</a:t>
            </a:r>
          </a:p>
        </p:txBody>
      </p:sp>
      <p:grpSp>
        <p:nvGrpSpPr>
          <p:cNvPr id="11" name="number"/>
          <p:cNvGrpSpPr/>
          <p:nvPr/>
        </p:nvGrpSpPr>
        <p:grpSpPr>
          <a:xfrm>
            <a:off x="10804779" y="6391275"/>
            <a:ext cx="553364" cy="234696"/>
            <a:chOff x="10804779" y="6391275"/>
            <a:chExt cx="5533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10804779" y="63912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11</a:t>
              </a:r>
            </a:p>
          </p:txBody>
        </p:sp>
      </p:grpSp>
      <p:grpSp>
        <p:nvGrpSpPr>
          <p:cNvPr id="13" name="phase-index01"/>
          <p:cNvGrpSpPr/>
          <p:nvPr/>
        </p:nvGrpSpPr>
        <p:grpSpPr>
          <a:xfrm>
            <a:off x="598170" y="2130425"/>
            <a:ext cx="372704" cy="440055"/>
            <a:chOff x="598170" y="2130425"/>
            <a:chExt cx="372704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598170" y="213042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5" name="phase-title01"/>
          <p:cNvGrpSpPr/>
          <p:nvPr/>
        </p:nvGrpSpPr>
        <p:grpSpPr>
          <a:xfrm>
            <a:off x="1368933" y="2117725"/>
            <a:ext cx="1639824" cy="469392"/>
            <a:chOff x="1368933" y="2117725"/>
            <a:chExt cx="1639824" cy="469392"/>
          </a:xfrm>
        </p:grpSpPr>
        <p:sp>
          <p:nvSpPr>
            <p:cNvPr id="14" name="TextBox 14"/>
            <p:cNvSpPr txBox="1"/>
            <p:nvPr/>
          </p:nvSpPr>
          <p:spPr>
            <a:xfrm>
              <a:off x="1368933" y="211772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测评与筛选</a:t>
              </a:r>
            </a:p>
          </p:txBody>
        </p:sp>
      </p:grpSp>
      <p:grpSp>
        <p:nvGrpSpPr>
          <p:cNvPr id="17" name="phase-body01"/>
          <p:cNvGrpSpPr/>
          <p:nvPr/>
        </p:nvGrpSpPr>
        <p:grpSpPr>
          <a:xfrm>
            <a:off x="1371219" y="2565400"/>
            <a:ext cx="4477512" cy="724281"/>
            <a:chOff x="1371219" y="2565400"/>
            <a:chExt cx="4477512" cy="724281"/>
          </a:xfrm>
        </p:grpSpPr>
        <p:sp>
          <p:nvSpPr>
            <p:cNvPr id="16" name="TextBox 16"/>
            <p:cNvSpPr txBox="1"/>
            <p:nvPr/>
          </p:nvSpPr>
          <p:spPr>
            <a:xfrm>
              <a:off x="1371219" y="2565400"/>
              <a:ext cx="4477512" cy="724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C1–C5 对应最高 R1–R5</a:t>
              </a:r>
              <a:b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按金额、期限与费用给出匹配及排除理由</a:t>
              </a:r>
            </a:p>
          </p:txBody>
        </p:sp>
      </p:grpSp>
      <p:grpSp>
        <p:nvGrpSpPr>
          <p:cNvPr id="19" name="phase-index02"/>
          <p:cNvGrpSpPr/>
          <p:nvPr/>
        </p:nvGrpSpPr>
        <p:grpSpPr>
          <a:xfrm>
            <a:off x="598170" y="3397250"/>
            <a:ext cx="372704" cy="440055"/>
            <a:chOff x="598170" y="3397250"/>
            <a:chExt cx="372704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598170" y="339725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21" name="phase-title02"/>
          <p:cNvGrpSpPr/>
          <p:nvPr/>
        </p:nvGrpSpPr>
        <p:grpSpPr>
          <a:xfrm>
            <a:off x="1368933" y="3384550"/>
            <a:ext cx="1639824" cy="469392"/>
            <a:chOff x="1368933" y="3384550"/>
            <a:chExt cx="1639824" cy="469392"/>
          </a:xfrm>
        </p:grpSpPr>
        <p:sp>
          <p:nvSpPr>
            <p:cNvPr id="20" name="TextBox 20"/>
            <p:cNvSpPr txBox="1"/>
            <p:nvPr/>
          </p:nvSpPr>
          <p:spPr>
            <a:xfrm>
              <a:off x="1368933" y="338455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开户与申购</a:t>
              </a:r>
            </a:p>
          </p:txBody>
        </p:sp>
      </p:grpSp>
      <p:grpSp>
        <p:nvGrpSpPr>
          <p:cNvPr id="23" name="phase-body02"/>
          <p:cNvGrpSpPr/>
          <p:nvPr/>
        </p:nvGrpSpPr>
        <p:grpSpPr>
          <a:xfrm>
            <a:off x="1371219" y="3832225"/>
            <a:ext cx="3734562" cy="724281"/>
            <a:chOff x="1371219" y="3832225"/>
            <a:chExt cx="3734562" cy="724281"/>
          </a:xfrm>
        </p:grpSpPr>
        <p:sp>
          <p:nvSpPr>
            <p:cNvPr id="22" name="TextBox 22"/>
            <p:cNvSpPr txBox="1"/>
            <p:nvPr/>
          </p:nvSpPr>
          <p:spPr>
            <a:xfrm>
              <a:off x="1371219" y="3832225"/>
              <a:ext cx="3734562" cy="724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开户资格、适当性与本人风险抄录</a:t>
              </a:r>
              <a:b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支付密码核验后执行申购</a:t>
              </a:r>
            </a:p>
          </p:txBody>
        </p:sp>
      </p:grpSp>
      <p:grpSp>
        <p:nvGrpSpPr>
          <p:cNvPr id="25" name="phase-index03"/>
          <p:cNvGrpSpPr/>
          <p:nvPr/>
        </p:nvGrpSpPr>
        <p:grpSpPr>
          <a:xfrm>
            <a:off x="598170" y="4664075"/>
            <a:ext cx="372704" cy="440055"/>
            <a:chOff x="598170" y="4664075"/>
            <a:chExt cx="372704" cy="440055"/>
          </a:xfrm>
        </p:grpSpPr>
        <p:sp>
          <p:nvSpPr>
            <p:cNvPr id="24" name="TextBox 24"/>
            <p:cNvSpPr txBox="1"/>
            <p:nvPr/>
          </p:nvSpPr>
          <p:spPr>
            <a:xfrm>
              <a:off x="598170" y="466407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27" name="phase-title03"/>
          <p:cNvGrpSpPr/>
          <p:nvPr/>
        </p:nvGrpSpPr>
        <p:grpSpPr>
          <a:xfrm>
            <a:off x="1368933" y="4651375"/>
            <a:ext cx="1639824" cy="469392"/>
            <a:chOff x="1368933" y="4651375"/>
            <a:chExt cx="1639824" cy="469392"/>
          </a:xfrm>
        </p:grpSpPr>
        <p:sp>
          <p:nvSpPr>
            <p:cNvPr id="26" name="TextBox 26"/>
            <p:cNvSpPr txBox="1"/>
            <p:nvPr/>
          </p:nvSpPr>
          <p:spPr>
            <a:xfrm>
              <a:off x="1368933" y="4651375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赎回与计划</a:t>
              </a:r>
            </a:p>
          </p:txBody>
        </p:sp>
      </p:grpSp>
      <p:grpSp>
        <p:nvGrpSpPr>
          <p:cNvPr id="29" name="phase-body03"/>
          <p:cNvGrpSpPr/>
          <p:nvPr/>
        </p:nvGrpSpPr>
        <p:grpSpPr>
          <a:xfrm>
            <a:off x="1371219" y="5099050"/>
            <a:ext cx="4477512" cy="724281"/>
            <a:chOff x="1371219" y="5099050"/>
            <a:chExt cx="4477512" cy="724281"/>
          </a:xfrm>
        </p:grpSpPr>
        <p:sp>
          <p:nvSpPr>
            <p:cNvPr id="28" name="TextBox 28"/>
            <p:cNvSpPr txBox="1"/>
            <p:nvPr/>
          </p:nvSpPr>
          <p:spPr>
            <a:xfrm>
              <a:off x="1371219" y="5099050"/>
              <a:ext cx="4477512" cy="724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按开放批次先进先出处理赎回</a:t>
              </a:r>
              <a:b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目标、定投保存计划，自动扣款尚未开放</a:t>
              </a:r>
            </a:p>
          </p:txBody>
        </p:sp>
      </p:grpSp>
      <p:grpSp>
        <p:nvGrpSpPr>
          <p:cNvPr id="31" name="wealth-ui"/>
          <p:cNvGrpSpPr/>
          <p:nvPr/>
        </p:nvGrpSpPr>
        <p:grpSpPr>
          <a:xfrm>
            <a:off x="9293225" y="1857375"/>
            <a:ext cx="1911350" cy="4000500"/>
            <a:chOff x="9293225" y="1857375"/>
            <a:chExt cx="1911350" cy="4000500"/>
          </a:xfrm>
        </p:grpSpPr>
        <p:pic>
          <p:nvPicPr>
            <p:cNvPr id="30" name="Image 3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93225" y="1857375"/>
              <a:ext cx="1911350" cy="4000500"/>
            </a:xfrm>
            <a:prstGeom prst="rect">
              <a:avLst/>
            </a:prstGeom>
          </p:spPr>
        </p:pic>
      </p:grpSp>
      <p:grpSp>
        <p:nvGrpSpPr>
          <p:cNvPr id="33" name="wealth-caption"/>
          <p:cNvGrpSpPr/>
          <p:nvPr/>
        </p:nvGrpSpPr>
        <p:grpSpPr>
          <a:xfrm>
            <a:off x="8566404" y="5981700"/>
            <a:ext cx="2112264" cy="234696"/>
            <a:chOff x="8566404" y="5981700"/>
            <a:chExt cx="2112264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8566404" y="59817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界面设计稿，金额为演示数据</a:t>
              </a:r>
            </a:p>
          </p:txBody>
        </p:sp>
      </p:grpSp>
      <p:grpSp>
        <p:nvGrpSpPr>
          <p:cNvPr id="35" name="wealth-limit"/>
          <p:cNvGrpSpPr/>
          <p:nvPr/>
        </p:nvGrpSpPr>
        <p:grpSpPr>
          <a:xfrm>
            <a:off x="601980" y="5813425"/>
            <a:ext cx="4861560" cy="293370"/>
            <a:chOff x="601980" y="5813425"/>
            <a:chExt cx="4861560" cy="293370"/>
          </a:xfrm>
        </p:grpSpPr>
        <p:sp>
          <p:nvSpPr>
            <p:cNvPr id="34" name="TextBox 34"/>
            <p:cNvSpPr txBox="1"/>
            <p:nvPr/>
          </p:nvSpPr>
          <p:spPr>
            <a:xfrm>
              <a:off x="601980" y="581342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虚构产品与演示净值；赎回即时演示记账，无真实清算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3504" y="304800"/>
            <a:ext cx="1580388" cy="234696"/>
            <a:chOff x="603504" y="304800"/>
            <a:chExt cx="158038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4800"/>
              <a:ext cx="1580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MONEY MEOW BANK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717550"/>
            <a:ext cx="2254758" cy="645414"/>
            <a:chOff x="592836" y="717550"/>
            <a:chExt cx="225475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717550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个人与安全</a:t>
              </a:r>
            </a:p>
          </p:txBody>
        </p:sp>
      </p:grpSp>
      <p:grpSp>
        <p:nvGrpSpPr>
          <p:cNvPr id="7" name="subtitle"/>
          <p:cNvGrpSpPr/>
          <p:nvPr/>
        </p:nvGrpSpPr>
        <p:grpSpPr>
          <a:xfrm>
            <a:off x="601980" y="1412875"/>
            <a:ext cx="3246120" cy="293370"/>
            <a:chOff x="601980" y="1412875"/>
            <a:chExt cx="324612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4128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身份、会员权益与支付保护各有职责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6276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3504" y="6391275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招财猫银行 / 比赛演示作品，非真实银行</a:t>
            </a:r>
          </a:p>
        </p:txBody>
      </p:sp>
      <p:grpSp>
        <p:nvGrpSpPr>
          <p:cNvPr id="11" name="number"/>
          <p:cNvGrpSpPr/>
          <p:nvPr/>
        </p:nvGrpSpPr>
        <p:grpSpPr>
          <a:xfrm>
            <a:off x="10804779" y="6391275"/>
            <a:ext cx="553364" cy="234696"/>
            <a:chOff x="10804779" y="6391275"/>
            <a:chExt cx="5533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10804779" y="63912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11</a:t>
              </a:r>
            </a:p>
          </p:txBody>
        </p:sp>
      </p:grpSp>
      <p:grpSp>
        <p:nvGrpSpPr>
          <p:cNvPr id="13" name="security-ui"/>
          <p:cNvGrpSpPr/>
          <p:nvPr/>
        </p:nvGrpSpPr>
        <p:grpSpPr>
          <a:xfrm>
            <a:off x="787400" y="1866900"/>
            <a:ext cx="1911350" cy="4000500"/>
            <a:chOff x="787400" y="1866900"/>
            <a:chExt cx="1911350" cy="4000500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7400" y="1866900"/>
              <a:ext cx="1911350" cy="4000500"/>
            </a:xfrm>
            <a:prstGeom prst="rect">
              <a:avLst/>
            </a:prstGeom>
          </p:spPr>
        </p:pic>
      </p:grpSp>
      <p:grpSp>
        <p:nvGrpSpPr>
          <p:cNvPr id="15" name="security-caption"/>
          <p:cNvGrpSpPr/>
          <p:nvPr/>
        </p:nvGrpSpPr>
        <p:grpSpPr>
          <a:xfrm>
            <a:off x="603504" y="5981700"/>
            <a:ext cx="2112264" cy="234696"/>
            <a:chOff x="603504" y="5981700"/>
            <a:chExt cx="2112264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598170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界面设计稿，金额为演示数据</a:t>
              </a:r>
            </a:p>
          </p:txBody>
        </p:sp>
      </p:grpSp>
      <p:grpSp>
        <p:nvGrpSpPr>
          <p:cNvPr id="17" name="five"/>
          <p:cNvGrpSpPr/>
          <p:nvPr/>
        </p:nvGrpSpPr>
        <p:grpSpPr>
          <a:xfrm>
            <a:off x="3819525" y="2089150"/>
            <a:ext cx="457912" cy="1047750"/>
            <a:chOff x="3819525" y="2089150"/>
            <a:chExt cx="457912" cy="1047750"/>
          </a:xfrm>
        </p:grpSpPr>
        <p:sp>
          <p:nvSpPr>
            <p:cNvPr id="16" name="TextBox 16"/>
            <p:cNvSpPr txBox="1"/>
            <p:nvPr/>
          </p:nvSpPr>
          <p:spPr>
            <a:xfrm>
              <a:off x="3819525" y="208915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9" name="five-head"/>
          <p:cNvGrpSpPr/>
          <p:nvPr/>
        </p:nvGrpSpPr>
        <p:grpSpPr>
          <a:xfrm>
            <a:off x="4893183" y="2079625"/>
            <a:ext cx="3255264" cy="469392"/>
            <a:chOff x="4893183" y="2079625"/>
            <a:chExt cx="3255264" cy="469392"/>
          </a:xfrm>
        </p:grpSpPr>
        <p:sp>
          <p:nvSpPr>
            <p:cNvPr id="18" name="TextBox 18"/>
            <p:cNvSpPr txBox="1"/>
            <p:nvPr/>
          </p:nvSpPr>
          <p:spPr>
            <a:xfrm>
              <a:off x="4893183" y="2079625"/>
              <a:ext cx="3255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支付密码连续错误五次</a:t>
              </a:r>
            </a:p>
          </p:txBody>
        </p:sp>
      </p:grpSp>
      <p:grpSp>
        <p:nvGrpSpPr>
          <p:cNvPr id="21" name="five-body"/>
          <p:cNvGrpSpPr/>
          <p:nvPr/>
        </p:nvGrpSpPr>
        <p:grpSpPr>
          <a:xfrm>
            <a:off x="4895469" y="2505075"/>
            <a:ext cx="2743962" cy="733806"/>
            <a:chOff x="4895469" y="2505075"/>
            <a:chExt cx="2743962" cy="733806"/>
          </a:xfrm>
        </p:grpSpPr>
        <p:sp>
          <p:nvSpPr>
            <p:cNvPr id="20" name="TextBox 20"/>
            <p:cNvSpPr txBox="1"/>
            <p:nvPr/>
          </p:nvSpPr>
          <p:spPr>
            <a:xfrm>
              <a:off x="4895469" y="2505075"/>
              <a:ext cx="2743962" cy="7338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冻结支付和敏感操作</a:t>
              </a:r>
              <a:b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重新登录或重启不能解除</a:t>
              </a:r>
            </a:p>
          </p:txBody>
        </p:sp>
      </p:grpSp>
      <p:grpSp>
        <p:nvGrpSpPr>
          <p:cNvPr id="23" name="recovery-line"/>
          <p:cNvGrpSpPr/>
          <p:nvPr/>
        </p:nvGrpSpPr>
        <p:grpSpPr>
          <a:xfrm>
            <a:off x="3952875" y="3333750"/>
            <a:ext cx="7629525" cy="9525"/>
            <a:chOff x="3952875" y="3333750"/>
            <a:chExt cx="7629525" cy="9525"/>
          </a:xfrm>
        </p:grpSpPr>
        <p:sp>
          <p:nvSpPr>
            <p:cNvPr id="22" name="Line 22"/>
            <p:cNvSpPr/>
            <p:nvPr/>
          </p:nvSpPr>
          <p:spPr>
            <a:xfrm>
              <a:off x="3952875" y="3333750"/>
              <a:ext cx="7629525" cy="9525"/>
            </a:xfrm>
            <a:custGeom>
              <a:avLst/>
              <a:gdLst/>
              <a:ahLst/>
              <a:cxnLst/>
              <a:rect l="l" t="t" r="r" b="b"/>
              <a:pathLst>
                <a:path w="7629525" h="9525">
                  <a:moveTo>
                    <a:pt x="0" y="0"/>
                  </a:moveTo>
                  <a:lnTo>
                    <a:pt x="7629525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25" name="recovery-head"/>
          <p:cNvGrpSpPr/>
          <p:nvPr/>
        </p:nvGrpSpPr>
        <p:grpSpPr>
          <a:xfrm>
            <a:off x="3941445" y="3502025"/>
            <a:ext cx="3657600" cy="440055"/>
            <a:chOff x="3941445" y="3502025"/>
            <a:chExt cx="3657600" cy="440055"/>
          </a:xfrm>
        </p:grpSpPr>
        <p:sp>
          <p:nvSpPr>
            <p:cNvPr id="24" name="TextBox 24"/>
            <p:cNvSpPr txBox="1"/>
            <p:nvPr/>
          </p:nvSpPr>
          <p:spPr>
            <a:xfrm>
              <a:off x="3941445" y="3502025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恢复需关联工单并核验身份</a:t>
              </a:r>
            </a:p>
          </p:txBody>
        </p:sp>
      </p:grpSp>
      <p:grpSp>
        <p:nvGrpSpPr>
          <p:cNvPr id="27" name="identity"/>
          <p:cNvGrpSpPr/>
          <p:nvPr/>
        </p:nvGrpSpPr>
        <p:grpSpPr>
          <a:xfrm>
            <a:off x="3942969" y="4025900"/>
            <a:ext cx="5468112" cy="752856"/>
            <a:chOff x="3942969" y="4025900"/>
            <a:chExt cx="5468112" cy="752856"/>
          </a:xfrm>
        </p:grpSpPr>
        <p:sp>
          <p:nvSpPr>
            <p:cNvPr id="26" name="TextBox 26"/>
            <p:cNvSpPr txBox="1"/>
            <p:nvPr/>
          </p:nvSpPr>
          <p:spPr>
            <a:xfrm>
              <a:off x="3942969" y="4025900"/>
              <a:ext cx="5468112" cy="7528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换手机号：人脸核身及新号短信校验</a:t>
              </a:r>
              <a:b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敏感卡信息：短时展示，支付密码不进入对话存档</a:t>
              </a:r>
            </a:p>
          </p:txBody>
        </p:sp>
      </p:grpSp>
      <p:grpSp>
        <p:nvGrpSpPr>
          <p:cNvPr id="29" name="membership"/>
          <p:cNvGrpSpPr/>
          <p:nvPr/>
        </p:nvGrpSpPr>
        <p:grpSpPr>
          <a:xfrm>
            <a:off x="3942969" y="5026025"/>
            <a:ext cx="4229862" cy="752856"/>
            <a:chOff x="3942969" y="5026025"/>
            <a:chExt cx="4229862" cy="752856"/>
          </a:xfrm>
        </p:grpSpPr>
        <p:sp>
          <p:nvSpPr>
            <p:cNvPr id="28" name="TextBox 28"/>
            <p:cNvSpPr txBox="1"/>
            <p:nvPr/>
          </p:nvSpPr>
          <p:spPr>
            <a:xfrm>
              <a:off x="3942969" y="5026025"/>
              <a:ext cx="4229862" cy="7528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会员按上月日均 AUM 评定</a:t>
              </a:r>
              <a:b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升级即时生效，降级缓冲两个评定周期</a:t>
              </a:r>
            </a:p>
          </p:txBody>
        </p:sp>
      </p:grpSp>
      <p:grpSp>
        <p:nvGrpSpPr>
          <p:cNvPr id="31" name="security-limit"/>
          <p:cNvGrpSpPr/>
          <p:nvPr/>
        </p:nvGrpSpPr>
        <p:grpSpPr>
          <a:xfrm>
            <a:off x="3945255" y="5927725"/>
            <a:ext cx="3851910" cy="293370"/>
            <a:chOff x="3945255" y="5927725"/>
            <a:chExt cx="3851910" cy="293370"/>
          </a:xfrm>
        </p:grpSpPr>
        <p:sp>
          <p:nvSpPr>
            <p:cNvPr id="30" name="TextBox 30"/>
            <p:cNvSpPr txBox="1"/>
            <p:nvPr/>
          </p:nvSpPr>
          <p:spPr>
            <a:xfrm>
              <a:off x="3945255" y="592772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短信、人脸与资金服务当前按演示模式运行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3504" y="304800"/>
            <a:ext cx="1580388" cy="234696"/>
            <a:chOff x="603504" y="304800"/>
            <a:chExt cx="158038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4800"/>
              <a:ext cx="1580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MONEY MEOW BANK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717550"/>
            <a:ext cx="4137808" cy="645414"/>
            <a:chOff x="592836" y="717550"/>
            <a:chExt cx="413780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717550"/>
              <a:ext cx="413780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Agent 的授权执行链</a:t>
              </a:r>
            </a:p>
          </p:txBody>
        </p:sp>
      </p:grpSp>
      <p:grpSp>
        <p:nvGrpSpPr>
          <p:cNvPr id="7" name="subtitle"/>
          <p:cNvGrpSpPr/>
          <p:nvPr/>
        </p:nvGrpSpPr>
        <p:grpSpPr>
          <a:xfrm>
            <a:off x="601980" y="1412875"/>
            <a:ext cx="4659630" cy="293370"/>
            <a:chOff x="601980" y="1412875"/>
            <a:chExt cx="465963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4128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模型理解与表达，银行服务校验条件并执行资金变化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6276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35415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3504" y="6391275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9C5DA"/>
                </a:solidFill>
                <a:latin typeface="+mn-lt"/>
                <a:ea typeface="+mn-ea"/>
                <a:cs typeface="+mn-cs"/>
              </a:rPr>
              <a:t>招财猫银行 / 比赛演示作品，非真实银行</a:t>
            </a:r>
          </a:p>
        </p:txBody>
      </p:sp>
      <p:grpSp>
        <p:nvGrpSpPr>
          <p:cNvPr id="11" name="number"/>
          <p:cNvGrpSpPr/>
          <p:nvPr/>
        </p:nvGrpSpPr>
        <p:grpSpPr>
          <a:xfrm>
            <a:off x="10804779" y="6391275"/>
            <a:ext cx="553364" cy="234696"/>
            <a:chOff x="10804779" y="6391275"/>
            <a:chExt cx="5533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10804779" y="63912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09 / 11</a:t>
              </a:r>
            </a:p>
          </p:txBody>
        </p:sp>
      </p:grpSp>
      <p:grpSp>
        <p:nvGrpSpPr>
          <p:cNvPr id="13" name="flow-head0"/>
          <p:cNvGrpSpPr/>
          <p:nvPr/>
        </p:nvGrpSpPr>
        <p:grpSpPr>
          <a:xfrm>
            <a:off x="597408" y="2089150"/>
            <a:ext cx="1316736" cy="469392"/>
            <a:chOff x="597408" y="2089150"/>
            <a:chExt cx="1316736" cy="469392"/>
          </a:xfrm>
        </p:grpSpPr>
        <p:sp>
          <p:nvSpPr>
            <p:cNvPr id="12" name="TextBox 12"/>
            <p:cNvSpPr txBox="1"/>
            <p:nvPr/>
          </p:nvSpPr>
          <p:spPr>
            <a:xfrm>
              <a:off x="597408" y="20891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用户意图</a:t>
              </a:r>
            </a:p>
          </p:txBody>
        </p:sp>
      </p:grpSp>
      <p:grpSp>
        <p:nvGrpSpPr>
          <p:cNvPr id="15" name="flow-body0"/>
          <p:cNvGrpSpPr/>
          <p:nvPr/>
        </p:nvGrpSpPr>
        <p:grpSpPr>
          <a:xfrm>
            <a:off x="599694" y="2597150"/>
            <a:ext cx="2382393" cy="381381"/>
            <a:chOff x="599694" y="2597150"/>
            <a:chExt cx="2382393" cy="381381"/>
          </a:xfrm>
        </p:grpSpPr>
        <p:sp>
          <p:nvSpPr>
            <p:cNvPr id="14" name="TextBox 14"/>
            <p:cNvSpPr txBox="1"/>
            <p:nvPr/>
          </p:nvSpPr>
          <p:spPr>
            <a:xfrm>
              <a:off x="599694" y="25971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理解需求、补充参数</a:t>
              </a:r>
            </a:p>
          </p:txBody>
        </p:sp>
      </p:grpSp>
      <p:grpSp>
        <p:nvGrpSpPr>
          <p:cNvPr id="17" name="flow-line0"/>
          <p:cNvGrpSpPr/>
          <p:nvPr/>
        </p:nvGrpSpPr>
        <p:grpSpPr>
          <a:xfrm>
            <a:off x="609600" y="3143250"/>
            <a:ext cx="3486150" cy="9525"/>
            <a:chOff x="609600" y="3143250"/>
            <a:chExt cx="3486150" cy="9525"/>
          </a:xfrm>
        </p:grpSpPr>
        <p:sp>
          <p:nvSpPr>
            <p:cNvPr id="16" name="Line 16"/>
            <p:cNvSpPr/>
            <p:nvPr/>
          </p:nvSpPr>
          <p:spPr>
            <a:xfrm>
              <a:off x="609600" y="3143250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9" name="flow-head1"/>
          <p:cNvGrpSpPr/>
          <p:nvPr/>
        </p:nvGrpSpPr>
        <p:grpSpPr>
          <a:xfrm>
            <a:off x="4340733" y="2089150"/>
            <a:ext cx="1316736" cy="469392"/>
            <a:chOff x="4340733" y="2089150"/>
            <a:chExt cx="1316736" cy="469392"/>
          </a:xfrm>
        </p:grpSpPr>
        <p:sp>
          <p:nvSpPr>
            <p:cNvPr id="18" name="TextBox 18"/>
            <p:cNvSpPr txBox="1"/>
            <p:nvPr/>
          </p:nvSpPr>
          <p:spPr>
            <a:xfrm>
              <a:off x="4340733" y="20891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工具查询</a:t>
              </a:r>
            </a:p>
          </p:txBody>
        </p:sp>
      </p:grpSp>
      <p:grpSp>
        <p:nvGrpSpPr>
          <p:cNvPr id="21" name="flow-body1"/>
          <p:cNvGrpSpPr/>
          <p:nvPr/>
        </p:nvGrpSpPr>
        <p:grpSpPr>
          <a:xfrm>
            <a:off x="4343019" y="2597150"/>
            <a:ext cx="2119884" cy="381381"/>
            <a:chOff x="4343019" y="2597150"/>
            <a:chExt cx="2119884" cy="381381"/>
          </a:xfrm>
        </p:grpSpPr>
        <p:sp>
          <p:nvSpPr>
            <p:cNvPr id="20" name="TextBox 20"/>
            <p:cNvSpPr txBox="1"/>
            <p:nvPr/>
          </p:nvSpPr>
          <p:spPr>
            <a:xfrm>
              <a:off x="4343019" y="25971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读取权威业务信息</a:t>
              </a:r>
            </a:p>
          </p:txBody>
        </p:sp>
      </p:grpSp>
      <p:grpSp>
        <p:nvGrpSpPr>
          <p:cNvPr id="23" name="flow-line1"/>
          <p:cNvGrpSpPr/>
          <p:nvPr/>
        </p:nvGrpSpPr>
        <p:grpSpPr>
          <a:xfrm>
            <a:off x="4352925" y="3143250"/>
            <a:ext cx="3486150" cy="9525"/>
            <a:chOff x="4352925" y="3143250"/>
            <a:chExt cx="3486150" cy="9525"/>
          </a:xfrm>
        </p:grpSpPr>
        <p:sp>
          <p:nvSpPr>
            <p:cNvPr id="22" name="Line 22"/>
            <p:cNvSpPr/>
            <p:nvPr/>
          </p:nvSpPr>
          <p:spPr>
            <a:xfrm>
              <a:off x="4352925" y="3143250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25" name="flow-head2"/>
          <p:cNvGrpSpPr/>
          <p:nvPr/>
        </p:nvGrpSpPr>
        <p:grpSpPr>
          <a:xfrm>
            <a:off x="8084058" y="2089150"/>
            <a:ext cx="1279916" cy="469392"/>
            <a:chOff x="8084058" y="2089150"/>
            <a:chExt cx="1279916" cy="469392"/>
          </a:xfrm>
        </p:grpSpPr>
        <p:sp>
          <p:nvSpPr>
            <p:cNvPr id="24" name="TextBox 24"/>
            <p:cNvSpPr txBox="1"/>
            <p:nvPr/>
          </p:nvSpPr>
          <p:spPr>
            <a:xfrm>
              <a:off x="8084058" y="2089150"/>
              <a:ext cx="12799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银行 API</a:t>
              </a:r>
            </a:p>
          </p:txBody>
        </p:sp>
      </p:grpSp>
      <p:grpSp>
        <p:nvGrpSpPr>
          <p:cNvPr id="27" name="flow-body2"/>
          <p:cNvGrpSpPr/>
          <p:nvPr/>
        </p:nvGrpSpPr>
        <p:grpSpPr>
          <a:xfrm>
            <a:off x="8086344" y="2597150"/>
            <a:ext cx="2644902" cy="381381"/>
            <a:chOff x="8086344" y="2597150"/>
            <a:chExt cx="2644902" cy="381381"/>
          </a:xfrm>
        </p:grpSpPr>
        <p:sp>
          <p:nvSpPr>
            <p:cNvPr id="26" name="TextBox 26"/>
            <p:cNvSpPr txBox="1"/>
            <p:nvPr/>
          </p:nvSpPr>
          <p:spPr>
            <a:xfrm>
              <a:off x="8086344" y="25971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校验后执行并返回回执</a:t>
              </a:r>
            </a:p>
          </p:txBody>
        </p:sp>
      </p:grpSp>
      <p:grpSp>
        <p:nvGrpSpPr>
          <p:cNvPr id="31" name="consent-module"/>
          <p:cNvGrpSpPr/>
          <p:nvPr/>
        </p:nvGrpSpPr>
        <p:grpSpPr>
          <a:xfrm>
            <a:off x="609600" y="3590925"/>
            <a:ext cx="10972800" cy="1066800"/>
            <a:chOff x="609600" y="3590925"/>
            <a:chExt cx="10972800" cy="1066800"/>
          </a:xfrm>
        </p:grpSpPr>
        <p:sp>
          <p:nvSpPr>
            <p:cNvPr id="28" name="Rectangle 28"/>
            <p:cNvSpPr/>
            <p:nvPr/>
          </p:nvSpPr>
          <p:spPr>
            <a:xfrm>
              <a:off x="609600" y="3590925"/>
              <a:ext cx="10972800" cy="1066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4108" y="374650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资金操作先经过本人授权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6394" y="4197350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确认卡展示内容，身份核验后一次性执行；超时拒绝</a:t>
              </a:r>
            </a:p>
          </p:txBody>
        </p:sp>
      </p:grpSp>
      <p:grpSp>
        <p:nvGrpSpPr>
          <p:cNvPr id="33" name="binding"/>
          <p:cNvGrpSpPr/>
          <p:nvPr/>
        </p:nvGrpSpPr>
        <p:grpSpPr>
          <a:xfrm>
            <a:off x="599694" y="4997450"/>
            <a:ext cx="5007483" cy="381381"/>
            <a:chOff x="599694" y="4997450"/>
            <a:chExt cx="5007483" cy="381381"/>
          </a:xfrm>
        </p:grpSpPr>
        <p:sp>
          <p:nvSpPr>
            <p:cNvPr id="32" name="TextBox 32"/>
            <p:cNvSpPr txBox="1"/>
            <p:nvPr/>
          </p:nvSpPr>
          <p:spPr>
            <a:xfrm>
              <a:off x="599694" y="4997450"/>
              <a:ext cx="500748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授权绑定客户、会话、调用、参数与有效期</a:t>
              </a:r>
            </a:p>
          </p:txBody>
        </p:sp>
      </p:grpSp>
      <p:grpSp>
        <p:nvGrpSpPr>
          <p:cNvPr id="35" name="credentials"/>
          <p:cNvGrpSpPr/>
          <p:nvPr/>
        </p:nvGrpSpPr>
        <p:grpSpPr>
          <a:xfrm>
            <a:off x="599694" y="5397500"/>
            <a:ext cx="4744974" cy="381381"/>
            <a:chOff x="599694" y="5397500"/>
            <a:chExt cx="4744974" cy="381381"/>
          </a:xfrm>
        </p:grpSpPr>
        <p:sp>
          <p:nvSpPr>
            <p:cNvPr id="34" name="TextBox 34"/>
            <p:cNvSpPr txBox="1"/>
            <p:nvPr/>
          </p:nvSpPr>
          <p:spPr>
            <a:xfrm>
              <a:off x="599694" y="5397500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银行令牌和支付密码不进入模型工具参数</a:t>
              </a:r>
            </a:p>
          </p:txBody>
        </p:sp>
      </p:grpSp>
      <p:grpSp>
        <p:nvGrpSpPr>
          <p:cNvPr id="37" name="roles"/>
          <p:cNvGrpSpPr/>
          <p:nvPr/>
        </p:nvGrpSpPr>
        <p:grpSpPr>
          <a:xfrm>
            <a:off x="601980" y="5861050"/>
            <a:ext cx="6176201" cy="293370"/>
            <a:chOff x="601980" y="5861050"/>
            <a:chExt cx="6176201" cy="293370"/>
          </a:xfrm>
        </p:grpSpPr>
        <p:sp>
          <p:nvSpPr>
            <p:cNvPr id="36" name="TextBox 36"/>
            <p:cNvSpPr txBox="1"/>
            <p:nvPr/>
          </p:nvSpPr>
          <p:spPr>
            <a:xfrm>
              <a:off x="601980" y="5861050"/>
              <a:ext cx="61762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DSH 运行时 / 分角色工具白名单 / 查询逐次验证归属 / 依据回执回答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3504" y="304800"/>
            <a:ext cx="1580388" cy="234696"/>
            <a:chOff x="603504" y="304800"/>
            <a:chExt cx="158038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4800"/>
              <a:ext cx="1580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MONEY MEOW BANK</a:t>
              </a:r>
            </a:p>
          </p:txBody>
        </p:sp>
      </p:grpSp>
      <p:grpSp>
        <p:nvGrpSpPr>
          <p:cNvPr id="5" name="title"/>
          <p:cNvGrpSpPr/>
          <p:nvPr/>
        </p:nvGrpSpPr>
        <p:grpSpPr>
          <a:xfrm>
            <a:off x="592836" y="717550"/>
            <a:ext cx="4031742" cy="645414"/>
            <a:chOff x="592836" y="717550"/>
            <a:chExt cx="4031742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592836" y="717550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设计特点与接入边界</a:t>
              </a:r>
            </a:p>
          </p:txBody>
        </p:sp>
      </p:grpSp>
      <p:grpSp>
        <p:nvGrpSpPr>
          <p:cNvPr id="7" name="subtitle"/>
          <p:cNvGrpSpPr/>
          <p:nvPr/>
        </p:nvGrpSpPr>
        <p:grpSpPr>
          <a:xfrm>
            <a:off x="601980" y="1412875"/>
            <a:ext cx="3044190" cy="293370"/>
            <a:chOff x="601980" y="1412875"/>
            <a:chExt cx="3044190" cy="293370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4128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用具体机制说明智能如何参与业务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" y="6276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3504" y="6391275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招财猫银行 / 比赛演示作品，非真实银行</a:t>
            </a:r>
          </a:p>
        </p:txBody>
      </p:sp>
      <p:grpSp>
        <p:nvGrpSpPr>
          <p:cNvPr id="11" name="number"/>
          <p:cNvGrpSpPr/>
          <p:nvPr/>
        </p:nvGrpSpPr>
        <p:grpSpPr>
          <a:xfrm>
            <a:off x="10804779" y="6391275"/>
            <a:ext cx="553364" cy="234696"/>
            <a:chOff x="10804779" y="6391275"/>
            <a:chExt cx="553364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10804779" y="63912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11</a:t>
              </a:r>
            </a:p>
          </p:txBody>
        </p:sp>
      </p:grpSp>
      <p:grpSp>
        <p:nvGrpSpPr>
          <p:cNvPr id="13" name="im-head"/>
          <p:cNvGrpSpPr/>
          <p:nvPr/>
        </p:nvGrpSpPr>
        <p:grpSpPr>
          <a:xfrm>
            <a:off x="592836" y="1974850"/>
            <a:ext cx="1810512" cy="645414"/>
            <a:chOff x="592836" y="1974850"/>
            <a:chExt cx="1810512" cy="645414"/>
          </a:xfrm>
        </p:grpSpPr>
        <p:sp>
          <p:nvSpPr>
            <p:cNvPr id="12" name="TextBox 12"/>
            <p:cNvSpPr txBox="1"/>
            <p:nvPr/>
          </p:nvSpPr>
          <p:spPr>
            <a:xfrm>
              <a:off x="592836" y="1974850"/>
              <a:ext cx="181051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微信协同</a:t>
              </a:r>
            </a:p>
          </p:txBody>
        </p:sp>
      </p:grpSp>
      <p:grpSp>
        <p:nvGrpSpPr>
          <p:cNvPr id="15" name="im-body"/>
          <p:cNvGrpSpPr/>
          <p:nvPr/>
        </p:nvGrpSpPr>
        <p:grpSpPr>
          <a:xfrm>
            <a:off x="599694" y="2676525"/>
            <a:ext cx="3486912" cy="781431"/>
            <a:chOff x="599694" y="2676525"/>
            <a:chExt cx="3486912" cy="781431"/>
          </a:xfrm>
        </p:grpSpPr>
        <p:sp>
          <p:nvSpPr>
            <p:cNvPr id="14" name="TextBox 14"/>
            <p:cNvSpPr txBox="1"/>
            <p:nvPr/>
          </p:nvSpPr>
          <p:spPr>
            <a:xfrm>
              <a:off x="599694" y="2676525"/>
              <a:ext cx="34869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绑定本人身份后查询与接收提醒</a:t>
              </a:r>
              <a:b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资金操作仍需独立确认和核验</a:t>
              </a:r>
            </a:p>
          </p:txBody>
        </p:sp>
      </p:grpSp>
      <p:grpSp>
        <p:nvGrpSpPr>
          <p:cNvPr id="17" name="im-status"/>
          <p:cNvGrpSpPr/>
          <p:nvPr/>
        </p:nvGrpSpPr>
        <p:grpSpPr>
          <a:xfrm>
            <a:off x="599694" y="3914775"/>
            <a:ext cx="2991612" cy="781431"/>
            <a:chOff x="599694" y="3914775"/>
            <a:chExt cx="2991612" cy="781431"/>
          </a:xfrm>
        </p:grpSpPr>
        <p:sp>
          <p:nvSpPr>
            <p:cNvPr id="16" name="TextBox 16"/>
            <p:cNvSpPr txBox="1"/>
            <p:nvPr/>
          </p:nvSpPr>
          <p:spPr>
            <a:xfrm>
              <a:off x="599694" y="3914775"/>
              <a:ext cx="2991612" cy="7814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员工 IM 已启用服务</a:t>
              </a:r>
              <a:b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9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真实消息投递仍待完整验收</a:t>
              </a:r>
            </a:p>
          </p:txBody>
        </p:sp>
      </p:grpSp>
      <p:grpSp>
        <p:nvGrpSpPr>
          <p:cNvPr id="19" name="feature0"/>
          <p:cNvGrpSpPr/>
          <p:nvPr/>
        </p:nvGrpSpPr>
        <p:grpSpPr>
          <a:xfrm>
            <a:off x="6656070" y="1968500"/>
            <a:ext cx="1912548" cy="440055"/>
            <a:chOff x="6656070" y="1968500"/>
            <a:chExt cx="1912548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6656070" y="1968500"/>
              <a:ext cx="191254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分角色 Agent</a:t>
              </a:r>
            </a:p>
          </p:txBody>
        </p:sp>
      </p:grpSp>
      <p:grpSp>
        <p:nvGrpSpPr>
          <p:cNvPr id="21" name="feature-body0"/>
          <p:cNvGrpSpPr/>
          <p:nvPr/>
        </p:nvGrpSpPr>
        <p:grpSpPr>
          <a:xfrm>
            <a:off x="6659880" y="2413000"/>
            <a:ext cx="2842260" cy="293370"/>
            <a:chOff x="6659880" y="2413000"/>
            <a:chExt cx="2842260" cy="293370"/>
          </a:xfrm>
        </p:grpSpPr>
        <p:sp>
          <p:nvSpPr>
            <p:cNvPr id="20" name="TextBox 20"/>
            <p:cNvSpPr txBox="1"/>
            <p:nvPr/>
          </p:nvSpPr>
          <p:spPr>
            <a:xfrm>
              <a:off x="6659880" y="24130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客户、客服与运维使用不同工具</a:t>
              </a:r>
            </a:p>
          </p:txBody>
        </p:sp>
      </p:grpSp>
      <p:grpSp>
        <p:nvGrpSpPr>
          <p:cNvPr id="23" name="feature-line0"/>
          <p:cNvGrpSpPr/>
          <p:nvPr/>
        </p:nvGrpSpPr>
        <p:grpSpPr>
          <a:xfrm>
            <a:off x="6667500" y="2771775"/>
            <a:ext cx="4914900" cy="9525"/>
            <a:chOff x="6667500" y="2771775"/>
            <a:chExt cx="4914900" cy="9525"/>
          </a:xfrm>
        </p:grpSpPr>
        <p:sp>
          <p:nvSpPr>
            <p:cNvPr id="22" name="Line 22"/>
            <p:cNvSpPr/>
            <p:nvPr/>
          </p:nvSpPr>
          <p:spPr>
            <a:xfrm>
              <a:off x="6667500" y="2771775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25" name="feature1"/>
          <p:cNvGrpSpPr/>
          <p:nvPr/>
        </p:nvGrpSpPr>
        <p:grpSpPr>
          <a:xfrm>
            <a:off x="6656070" y="2797175"/>
            <a:ext cx="1537335" cy="440055"/>
            <a:chOff x="6656070" y="2797175"/>
            <a:chExt cx="1537335" cy="440055"/>
          </a:xfrm>
        </p:grpSpPr>
        <p:sp>
          <p:nvSpPr>
            <p:cNvPr id="24" name="TextBox 24"/>
            <p:cNvSpPr txBox="1"/>
            <p:nvPr/>
          </p:nvSpPr>
          <p:spPr>
            <a:xfrm>
              <a:off x="6656070" y="2797175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预算与积分</a:t>
              </a:r>
            </a:p>
          </p:txBody>
        </p:sp>
      </p:grpSp>
      <p:grpSp>
        <p:nvGrpSpPr>
          <p:cNvPr id="27" name="feature-body1"/>
          <p:cNvGrpSpPr/>
          <p:nvPr/>
        </p:nvGrpSpPr>
        <p:grpSpPr>
          <a:xfrm>
            <a:off x="6659880" y="3241675"/>
            <a:ext cx="2438400" cy="293370"/>
            <a:chOff x="6659880" y="3241675"/>
            <a:chExt cx="2438400" cy="293370"/>
          </a:xfrm>
        </p:grpSpPr>
        <p:sp>
          <p:nvSpPr>
            <p:cNvPr id="26" name="TextBox 26"/>
            <p:cNvSpPr txBox="1"/>
            <p:nvPr/>
          </p:nvSpPr>
          <p:spPr>
            <a:xfrm>
              <a:off x="6659880" y="32416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扣账前控制，按日累计积分</a:t>
              </a:r>
            </a:p>
          </p:txBody>
        </p:sp>
      </p:grpSp>
      <p:grpSp>
        <p:nvGrpSpPr>
          <p:cNvPr id="29" name="feature-line1"/>
          <p:cNvGrpSpPr/>
          <p:nvPr/>
        </p:nvGrpSpPr>
        <p:grpSpPr>
          <a:xfrm>
            <a:off x="6667500" y="3600450"/>
            <a:ext cx="4914900" cy="9525"/>
            <a:chOff x="6667500" y="3600450"/>
            <a:chExt cx="4914900" cy="9525"/>
          </a:xfrm>
        </p:grpSpPr>
        <p:sp>
          <p:nvSpPr>
            <p:cNvPr id="28" name="Line 28"/>
            <p:cNvSpPr/>
            <p:nvPr/>
          </p:nvSpPr>
          <p:spPr>
            <a:xfrm>
              <a:off x="6667500" y="360045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31" name="feature2"/>
          <p:cNvGrpSpPr/>
          <p:nvPr/>
        </p:nvGrpSpPr>
        <p:grpSpPr>
          <a:xfrm>
            <a:off x="6656070" y="3625850"/>
            <a:ext cx="1537335" cy="440055"/>
            <a:chOff x="6656070" y="3625850"/>
            <a:chExt cx="1537335" cy="440055"/>
          </a:xfrm>
        </p:grpSpPr>
        <p:sp>
          <p:nvSpPr>
            <p:cNvPr id="30" name="TextBox 30"/>
            <p:cNvSpPr txBox="1"/>
            <p:nvPr/>
          </p:nvSpPr>
          <p:spPr>
            <a:xfrm>
              <a:off x="6656070" y="36258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可解释匹配</a:t>
              </a:r>
            </a:p>
          </p:txBody>
        </p:sp>
      </p:grpSp>
      <p:grpSp>
        <p:nvGrpSpPr>
          <p:cNvPr id="33" name="feature-body2"/>
          <p:cNvGrpSpPr/>
          <p:nvPr/>
        </p:nvGrpSpPr>
        <p:grpSpPr>
          <a:xfrm>
            <a:off x="6659880" y="4070350"/>
            <a:ext cx="2236470" cy="293370"/>
            <a:chOff x="6659880" y="4070350"/>
            <a:chExt cx="2236470" cy="293370"/>
          </a:xfrm>
        </p:grpSpPr>
        <p:sp>
          <p:nvSpPr>
            <p:cNvPr id="32" name="TextBox 32"/>
            <p:cNvSpPr txBox="1"/>
            <p:nvPr/>
          </p:nvSpPr>
          <p:spPr>
            <a:xfrm>
              <a:off x="6659880" y="40703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展示理财筛选及排除理由</a:t>
              </a:r>
            </a:p>
          </p:txBody>
        </p:sp>
      </p:grpSp>
      <p:grpSp>
        <p:nvGrpSpPr>
          <p:cNvPr id="35" name="feature-line2"/>
          <p:cNvGrpSpPr/>
          <p:nvPr/>
        </p:nvGrpSpPr>
        <p:grpSpPr>
          <a:xfrm>
            <a:off x="6667500" y="4429125"/>
            <a:ext cx="4914900" cy="9525"/>
            <a:chOff x="6667500" y="4429125"/>
            <a:chExt cx="4914900" cy="9525"/>
          </a:xfrm>
        </p:grpSpPr>
        <p:sp>
          <p:nvSpPr>
            <p:cNvPr id="34" name="Line 34"/>
            <p:cNvSpPr/>
            <p:nvPr/>
          </p:nvSpPr>
          <p:spPr>
            <a:xfrm>
              <a:off x="6667500" y="4429125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37" name="feature3"/>
          <p:cNvGrpSpPr/>
          <p:nvPr/>
        </p:nvGrpSpPr>
        <p:grpSpPr>
          <a:xfrm>
            <a:off x="6656070" y="4454525"/>
            <a:ext cx="2748915" cy="440055"/>
            <a:chOff x="6656070" y="4454525"/>
            <a:chExt cx="2748915" cy="440055"/>
          </a:xfrm>
        </p:grpSpPr>
        <p:sp>
          <p:nvSpPr>
            <p:cNvPr id="36" name="TextBox 36"/>
            <p:cNvSpPr txBox="1"/>
            <p:nvPr/>
          </p:nvSpPr>
          <p:spPr>
            <a:xfrm>
              <a:off x="6656070" y="4454525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模拟消费与共享核心</a:t>
              </a:r>
            </a:p>
          </p:txBody>
        </p:sp>
      </p:grpSp>
      <p:grpSp>
        <p:nvGrpSpPr>
          <p:cNvPr id="39" name="feature-body3"/>
          <p:cNvGrpSpPr/>
          <p:nvPr/>
        </p:nvGrpSpPr>
        <p:grpSpPr>
          <a:xfrm>
            <a:off x="6659880" y="4899025"/>
            <a:ext cx="3044190" cy="293370"/>
            <a:chOff x="6659880" y="4899025"/>
            <a:chExt cx="3044190" cy="293370"/>
          </a:xfrm>
        </p:grpSpPr>
        <p:sp>
          <p:nvSpPr>
            <p:cNvPr id="38" name="TextBox 38"/>
            <p:cNvSpPr txBox="1"/>
            <p:nvPr/>
          </p:nvSpPr>
          <p:spPr>
            <a:xfrm>
              <a:off x="6659880" y="48990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验证限额、预算、记账与多端规则</a:t>
              </a:r>
            </a:p>
          </p:txBody>
        </p:sp>
      </p:grpSp>
      <p:grpSp>
        <p:nvGrpSpPr>
          <p:cNvPr id="41" name="boundary-rule"/>
          <p:cNvGrpSpPr/>
          <p:nvPr/>
        </p:nvGrpSpPr>
        <p:grpSpPr>
          <a:xfrm>
            <a:off x="609600" y="5514975"/>
            <a:ext cx="10972800" cy="9525"/>
            <a:chOff x="609600" y="5514975"/>
            <a:chExt cx="10972800" cy="9525"/>
          </a:xfrm>
        </p:grpSpPr>
        <p:sp>
          <p:nvSpPr>
            <p:cNvPr id="40" name="Line 40"/>
            <p:cNvSpPr/>
            <p:nvPr/>
          </p:nvSpPr>
          <p:spPr>
            <a:xfrm>
              <a:off x="609600" y="55149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chemeClr val="accent6"/>
              </a:solidFill>
            </a:ln>
          </p:spPr>
        </p:sp>
      </p:grpSp>
      <p:grpSp>
        <p:nvGrpSpPr>
          <p:cNvPr id="43" name="boundary"/>
          <p:cNvGrpSpPr/>
          <p:nvPr/>
        </p:nvGrpSpPr>
        <p:grpSpPr>
          <a:xfrm>
            <a:off x="598170" y="5673725"/>
            <a:ext cx="6989445" cy="440055"/>
            <a:chOff x="598170" y="5673725"/>
            <a:chExt cx="6989445" cy="440055"/>
          </a:xfrm>
        </p:grpSpPr>
        <p:sp>
          <p:nvSpPr>
            <p:cNvPr id="42" name="TextBox 42"/>
            <p:cNvSpPr txBox="1"/>
            <p:nvPr/>
          </p:nvSpPr>
          <p:spPr>
            <a:xfrm>
              <a:off x="598170" y="5673725"/>
              <a:ext cx="69894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真实银行尚未接入；提醒和匹配结果不替代金融授权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03504" y="304800"/>
            <a:ext cx="1580388" cy="234696"/>
            <a:chOff x="603504" y="304800"/>
            <a:chExt cx="1580388" cy="23469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304800"/>
              <a:ext cx="1580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MONEY MEOW BANK</a:t>
              </a:r>
            </a:p>
          </p:txBody>
        </p:sp>
      </p:grpSp>
      <p:sp>
        <p:nvSpPr>
          <p:cNvPr id="4" name="Line 4"/>
          <p:cNvSpPr/>
          <p:nvPr/>
        </p:nvSpPr>
        <p:spPr>
          <a:xfrm>
            <a:off x="609600" y="6276975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4288">
            <a:solidFill>
              <a:srgbClr val="35415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603504" y="6391275"/>
            <a:ext cx="29442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9C5DA"/>
                </a:solidFill>
                <a:latin typeface="+mn-lt"/>
                <a:ea typeface="+mn-ea"/>
                <a:cs typeface="+mn-cs"/>
              </a:rPr>
              <a:t>招财猫银行 / 比赛演示作品，非真实银行</a:t>
            </a:r>
          </a:p>
        </p:txBody>
      </p:sp>
      <p:grpSp>
        <p:nvGrpSpPr>
          <p:cNvPr id="7" name="number"/>
          <p:cNvGrpSpPr/>
          <p:nvPr/>
        </p:nvGrpSpPr>
        <p:grpSpPr>
          <a:xfrm>
            <a:off x="10804779" y="6391275"/>
            <a:ext cx="553364" cy="234696"/>
            <a:chOff x="10804779" y="6391275"/>
            <a:chExt cx="553364" cy="234696"/>
          </a:xfrm>
        </p:grpSpPr>
        <p:sp>
          <p:nvSpPr>
            <p:cNvPr id="6" name="TextBox 6"/>
            <p:cNvSpPr txBox="1"/>
            <p:nvPr/>
          </p:nvSpPr>
          <p:spPr>
            <a:xfrm>
              <a:off x="10804779" y="63912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11 / 11</a:t>
              </a:r>
            </a:p>
          </p:txBody>
        </p:sp>
      </p:grpSp>
      <p:grpSp>
        <p:nvGrpSpPr>
          <p:cNvPr id="9" name="end-title"/>
          <p:cNvGrpSpPr/>
          <p:nvPr/>
        </p:nvGrpSpPr>
        <p:grpSpPr>
          <a:xfrm>
            <a:off x="592836" y="1079500"/>
            <a:ext cx="3587496" cy="645414"/>
            <a:chOff x="592836" y="1079500"/>
            <a:chExt cx="3587496" cy="645414"/>
          </a:xfrm>
        </p:grpSpPr>
        <p:sp>
          <p:nvSpPr>
            <p:cNvPr id="8" name="TextBox 8"/>
            <p:cNvSpPr txBox="1"/>
            <p:nvPr/>
          </p:nvSpPr>
          <p:spPr>
            <a:xfrm>
              <a:off x="592836" y="1079500"/>
              <a:ext cx="35874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项目成果与下一步</a:t>
              </a:r>
            </a:p>
          </p:txBody>
        </p:sp>
      </p:grpSp>
      <p:grpSp>
        <p:nvGrpSpPr>
          <p:cNvPr id="11" name="end-hero"/>
          <p:cNvGrpSpPr/>
          <p:nvPr/>
        </p:nvGrpSpPr>
        <p:grpSpPr>
          <a:xfrm>
            <a:off x="590550" y="1933575"/>
            <a:ext cx="3467100" cy="2971800"/>
            <a:chOff x="590550" y="1933575"/>
            <a:chExt cx="3467100" cy="2971800"/>
          </a:xfrm>
        </p:grpSpPr>
        <p:sp>
          <p:nvSpPr>
            <p:cNvPr id="10" name="TextBox 10"/>
            <p:cNvSpPr txBox="1"/>
            <p:nvPr/>
          </p:nvSpPr>
          <p:spPr>
            <a:xfrm>
              <a:off x="590550" y="1933575"/>
              <a:ext cx="3467100" cy="2971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575"/>
                </a:lnSpc>
              </a:pPr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共享规则</a:t>
              </a:r>
              <a:b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明确授权</a:t>
              </a:r>
              <a:b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可核查结果</a:t>
              </a:r>
            </a:p>
          </p:txBody>
        </p:sp>
      </p:grpSp>
      <p:grpSp>
        <p:nvGrpSpPr>
          <p:cNvPr id="13" name="roadmap-head"/>
          <p:cNvGrpSpPr/>
          <p:nvPr/>
        </p:nvGrpSpPr>
        <p:grpSpPr>
          <a:xfrm>
            <a:off x="7769733" y="2136775"/>
            <a:ext cx="993648" cy="469392"/>
            <a:chOff x="7769733" y="2136775"/>
            <a:chExt cx="993648" cy="469392"/>
          </a:xfrm>
        </p:grpSpPr>
        <p:sp>
          <p:nvSpPr>
            <p:cNvPr id="12" name="TextBox 12"/>
            <p:cNvSpPr txBox="1"/>
            <p:nvPr/>
          </p:nvSpPr>
          <p:spPr>
            <a:xfrm>
              <a:off x="7769733" y="2136775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</p:grpSp>
      <p:grpSp>
        <p:nvGrpSpPr>
          <p:cNvPr id="15" name="priorityP0"/>
          <p:cNvGrpSpPr/>
          <p:nvPr/>
        </p:nvGrpSpPr>
        <p:grpSpPr>
          <a:xfrm>
            <a:off x="7774305" y="2819400"/>
            <a:ext cx="261671" cy="293370"/>
            <a:chOff x="7774305" y="2819400"/>
            <a:chExt cx="261671" cy="293370"/>
          </a:xfrm>
        </p:grpSpPr>
        <p:sp>
          <p:nvSpPr>
            <p:cNvPr id="14" name="TextBox 14"/>
            <p:cNvSpPr txBox="1"/>
            <p:nvPr/>
          </p:nvSpPr>
          <p:spPr>
            <a:xfrm>
              <a:off x="7774305" y="281940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</p:grpSp>
      <p:grpSp>
        <p:nvGrpSpPr>
          <p:cNvPr id="17" name="roadmapP0"/>
          <p:cNvGrpSpPr/>
          <p:nvPr/>
        </p:nvGrpSpPr>
        <p:grpSpPr>
          <a:xfrm>
            <a:off x="8400669" y="2768600"/>
            <a:ext cx="1594866" cy="381381"/>
            <a:chOff x="8400669" y="2768600"/>
            <a:chExt cx="1594866" cy="381381"/>
          </a:xfrm>
        </p:grpSpPr>
        <p:sp>
          <p:nvSpPr>
            <p:cNvPr id="16" name="TextBox 16"/>
            <p:cNvSpPr txBox="1"/>
            <p:nvPr/>
          </p:nvSpPr>
          <p:spPr>
            <a:xfrm>
              <a:off x="8400669" y="2768600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合作银行接入</a:t>
              </a:r>
            </a:p>
          </p:txBody>
        </p:sp>
      </p:grpSp>
      <p:grpSp>
        <p:nvGrpSpPr>
          <p:cNvPr id="19" name="roadmap-detailP0"/>
          <p:cNvGrpSpPr/>
          <p:nvPr/>
        </p:nvGrpSpPr>
        <p:grpSpPr>
          <a:xfrm>
            <a:off x="7774305" y="3213100"/>
            <a:ext cx="2236470" cy="293370"/>
            <a:chOff x="7774305" y="3213100"/>
            <a:chExt cx="2236470" cy="293370"/>
          </a:xfrm>
        </p:grpSpPr>
        <p:sp>
          <p:nvSpPr>
            <p:cNvPr id="18" name="TextBox 18"/>
            <p:cNvSpPr txBox="1"/>
            <p:nvPr/>
          </p:nvSpPr>
          <p:spPr>
            <a:xfrm>
              <a:off x="7774305" y="321310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真实资金链路与清算验收</a:t>
              </a:r>
            </a:p>
          </p:txBody>
        </p:sp>
      </p:grpSp>
      <p:grpSp>
        <p:nvGrpSpPr>
          <p:cNvPr id="21" name="priorityP1"/>
          <p:cNvGrpSpPr/>
          <p:nvPr/>
        </p:nvGrpSpPr>
        <p:grpSpPr>
          <a:xfrm>
            <a:off x="7774305" y="3781425"/>
            <a:ext cx="261671" cy="293370"/>
            <a:chOff x="7774305" y="3781425"/>
            <a:chExt cx="261671" cy="293370"/>
          </a:xfrm>
        </p:grpSpPr>
        <p:sp>
          <p:nvSpPr>
            <p:cNvPr id="20" name="TextBox 20"/>
            <p:cNvSpPr txBox="1"/>
            <p:nvPr/>
          </p:nvSpPr>
          <p:spPr>
            <a:xfrm>
              <a:off x="7774305" y="37814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</p:grpSp>
      <p:grpSp>
        <p:nvGrpSpPr>
          <p:cNvPr id="23" name="roadmapP1"/>
          <p:cNvGrpSpPr/>
          <p:nvPr/>
        </p:nvGrpSpPr>
        <p:grpSpPr>
          <a:xfrm>
            <a:off x="8400669" y="3730625"/>
            <a:ext cx="2119884" cy="381381"/>
            <a:chOff x="8400669" y="3730625"/>
            <a:chExt cx="2119884" cy="381381"/>
          </a:xfrm>
        </p:grpSpPr>
        <p:sp>
          <p:nvSpPr>
            <p:cNvPr id="22" name="TextBox 22"/>
            <p:cNvSpPr txBox="1"/>
            <p:nvPr/>
          </p:nvSpPr>
          <p:spPr>
            <a:xfrm>
              <a:off x="8400669" y="3730625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实名、监管与权限</a:t>
              </a:r>
            </a:p>
          </p:txBody>
        </p:sp>
      </p:grpSp>
      <p:grpSp>
        <p:nvGrpSpPr>
          <p:cNvPr id="25" name="roadmap-detailP1"/>
          <p:cNvGrpSpPr/>
          <p:nvPr/>
        </p:nvGrpSpPr>
        <p:grpSpPr>
          <a:xfrm>
            <a:off x="7774305" y="4175125"/>
            <a:ext cx="2236470" cy="293370"/>
            <a:chOff x="7774305" y="4175125"/>
            <a:chExt cx="2236470" cy="293370"/>
          </a:xfrm>
        </p:grpSpPr>
        <p:sp>
          <p:nvSpPr>
            <p:cNvPr id="24" name="TextBox 24"/>
            <p:cNvSpPr txBox="1"/>
            <p:nvPr/>
          </p:nvSpPr>
          <p:spPr>
            <a:xfrm>
              <a:off x="7774305" y="41751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真实适配与最小权限迁移</a:t>
              </a:r>
            </a:p>
          </p:txBody>
        </p:sp>
      </p:grpSp>
      <p:grpSp>
        <p:nvGrpSpPr>
          <p:cNvPr id="27" name="priorityP2"/>
          <p:cNvGrpSpPr/>
          <p:nvPr/>
        </p:nvGrpSpPr>
        <p:grpSpPr>
          <a:xfrm>
            <a:off x="7774305" y="4743450"/>
            <a:ext cx="261671" cy="293370"/>
            <a:chOff x="7774305" y="4743450"/>
            <a:chExt cx="261671" cy="293370"/>
          </a:xfrm>
        </p:grpSpPr>
        <p:sp>
          <p:nvSpPr>
            <p:cNvPr id="26" name="TextBox 26"/>
            <p:cNvSpPr txBox="1"/>
            <p:nvPr/>
          </p:nvSpPr>
          <p:spPr>
            <a:xfrm>
              <a:off x="7774305" y="4743450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</p:grpSp>
      <p:grpSp>
        <p:nvGrpSpPr>
          <p:cNvPr id="29" name="roadmapP2"/>
          <p:cNvGrpSpPr/>
          <p:nvPr/>
        </p:nvGrpSpPr>
        <p:grpSpPr>
          <a:xfrm>
            <a:off x="8400669" y="4692650"/>
            <a:ext cx="2119884" cy="381381"/>
            <a:chOff x="8400669" y="4692650"/>
            <a:chExt cx="2119884" cy="381381"/>
          </a:xfrm>
        </p:grpSpPr>
        <p:sp>
          <p:nvSpPr>
            <p:cNvPr id="28" name="TextBox 28"/>
            <p:cNvSpPr txBox="1"/>
            <p:nvPr/>
          </p:nvSpPr>
          <p:spPr>
            <a:xfrm>
              <a:off x="8400669" y="46926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自动执行与可靠性</a:t>
              </a:r>
            </a:p>
          </p:txBody>
        </p:sp>
      </p:grpSp>
      <p:grpSp>
        <p:nvGrpSpPr>
          <p:cNvPr id="31" name="roadmap-detailP2"/>
          <p:cNvGrpSpPr/>
          <p:nvPr/>
        </p:nvGrpSpPr>
        <p:grpSpPr>
          <a:xfrm>
            <a:off x="7774305" y="5137150"/>
            <a:ext cx="2640330" cy="293370"/>
            <a:chOff x="7774305" y="5137150"/>
            <a:chExt cx="2640330" cy="293370"/>
          </a:xfrm>
        </p:grpSpPr>
        <p:sp>
          <p:nvSpPr>
            <p:cNvPr id="30" name="TextBox 30"/>
            <p:cNvSpPr txBox="1"/>
            <p:nvPr/>
          </p:nvSpPr>
          <p:spPr>
            <a:xfrm>
              <a:off x="7774305" y="51371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计息、计划及多副本恢复验证</a:t>
              </a:r>
            </a:p>
          </p:txBody>
        </p:sp>
      </p:grpSp>
      <p:grpSp>
        <p:nvGrpSpPr>
          <p:cNvPr id="33" name="close"/>
          <p:cNvGrpSpPr/>
          <p:nvPr/>
        </p:nvGrpSpPr>
        <p:grpSpPr>
          <a:xfrm>
            <a:off x="599694" y="5521325"/>
            <a:ext cx="7107555" cy="381381"/>
            <a:chOff x="599694" y="5521325"/>
            <a:chExt cx="7107555" cy="381381"/>
          </a:xfrm>
        </p:grpSpPr>
        <p:sp>
          <p:nvSpPr>
            <p:cNvPr id="32" name="TextBox 32"/>
            <p:cNvSpPr txBox="1"/>
            <p:nvPr/>
          </p:nvSpPr>
          <p:spPr>
            <a:xfrm>
              <a:off x="599694" y="5521325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B9C5DA"/>
                  </a:solidFill>
                  <a:latin typeface="+mn-lt"/>
                  <a:ea typeface="+mn-ea"/>
                  <a:cs typeface="+mn-cs"/>
                </a:rPr>
                <a:t>当前已形成演示闭环，真实金融服务须经合作银行接入与验收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aneki_defense_redesign">
  <a:themeElements>
    <a:clrScheme name="maneki_defense_redesign">
      <a:dk1>
        <a:srgbClr val="27354D"/>
      </a:dk1>
      <a:lt1>
        <a:srgbClr val="F7F8FA"/>
      </a:lt1>
      <a:dk2>
        <a:srgbClr val="1F497D"/>
      </a:dk2>
      <a:lt2>
        <a:srgbClr val="FFFFFF"/>
      </a:lt2>
      <a:accent1>
        <a:srgbClr val="111A32"/>
      </a:accent1>
      <a:accent2>
        <a:srgbClr val="6047EB"/>
      </a:accent2>
      <a:accent3>
        <a:srgbClr val="17B897"/>
      </a:accent3>
      <a:accent4>
        <a:srgbClr val="111A32"/>
      </a:accent4>
      <a:accent5>
        <a:srgbClr val="617087"/>
      </a:accent5>
      <a:accent6>
        <a:srgbClr val="DCE2EB"/>
      </a:accent6>
      <a:hlink>
        <a:srgbClr val="6047EB"/>
      </a:hlink>
      <a:folHlink>
        <a:srgbClr val="17B897"/>
      </a:folHlink>
    </a:clrScheme>
    <a:fontScheme name="maneki_defense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neki_defense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aneki_defense_redesign">
  <a:themeElements>
    <a:clrScheme name="maneki_defense_redesign">
      <a:dk1>
        <a:srgbClr val="27354D"/>
      </a:dk1>
      <a:lt1>
        <a:srgbClr val="F7F8FA"/>
      </a:lt1>
      <a:dk2>
        <a:srgbClr val="1F497D"/>
      </a:dk2>
      <a:lt2>
        <a:srgbClr val="FFFFFF"/>
      </a:lt2>
      <a:accent1>
        <a:srgbClr val="111A32"/>
      </a:accent1>
      <a:accent2>
        <a:srgbClr val="6047EB"/>
      </a:accent2>
      <a:accent3>
        <a:srgbClr val="17B897"/>
      </a:accent3>
      <a:accent4>
        <a:srgbClr val="111A32"/>
      </a:accent4>
      <a:accent5>
        <a:srgbClr val="617087"/>
      </a:accent5>
      <a:accent6>
        <a:srgbClr val="DCE2EB"/>
      </a:accent6>
      <a:hlink>
        <a:srgbClr val="6047EB"/>
      </a:hlink>
      <a:folHlink>
        <a:srgbClr val="17B897"/>
      </a:folHlink>
    </a:clrScheme>
    <a:fontScheme name="maneki_defense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neki_defense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2026-10-30T04:30:32Z</dcterms:created>
  <dcterms:modified xsi:type="dcterms:W3CDTF">2026-10-30T04:30:32Z</dcterms:modified>
  <cp:category/>
  <cp:contentStatus/>
</cp:coreProperties>
</file>