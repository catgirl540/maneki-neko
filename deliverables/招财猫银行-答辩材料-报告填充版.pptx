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9" r:id="rId7"/>
    <p:sldId id="262" r:id="rId8"/>
    <p:sldId id="270" r:id="rId9"/>
    <p:sldId id="271" r:id="rId10"/>
    <p:sldId id="272" r:id="rId11"/>
    <p:sldId id="266" r:id="rId12"/>
    <p:sldId id="265" r:id="rId13"/>
    <p:sldId id="268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大家好，我们的作品是招财猫银行，一套以自然语言为入口、覆盖账户、支付、理财和客服的 AI Banking 智能体演示系统，希望让日常银行业务更容易办理，也让每一次资金操作都有明确的确认、校验和记录。</a:t>
            </a:r>
          </a:p>
          <a:p>
            <a:pPr/>
            <a:r>
              <a:rPr lang="zh-CN" dirty="0"/>
              <a:t>它是虚拟银行比赛作品，未接入真实资金通道，接下来我们围绕业务体验、核心算法和安全设计，介绍这套系统如何同时体现便捷性与可核查的工程约束。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我们将银行安全、业务覆盖和智能体能力作为贯穿项目的三条主线：用户可以用自然语言表达需求，执行则要经过明确的银行业务规则。</a:t>
            </a:r>
          </a:p>
          <a:p>
            <a:pPr/>
            <a:r>
              <a:rPr lang="zh-CN" dirty="0"/>
              <a:t>在安全上，客户归属、支付密码、幂等和账务事务都由服务端落实，模型不能直接决定余额或交易结果。</a:t>
            </a:r>
          </a:p>
          <a:p>
            <a:pPr/>
            <a:r>
              <a:rPr lang="zh-CN" dirty="0"/>
              <a:t>在便捷性上，账户、卡、转账、理财、预算与客服连接到同一个业务体系，智能助手通过受控工具，让问询和办理有共同的入口。</a:t>
            </a:r>
          </a:p>
          <a:p>
            <a:pPr/>
            <a:r>
              <a:rPr lang="zh-CN" dirty="0"/>
              <a:t>我们的优势是将交互体验与执行边界一起设计，用户能更方便地提出需求，关键操作由本人确认，查询失败和外部能力未接入也有明确反馈。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系统分为客户端、接口与契约、应用与领域、共享规则、数据与运行五层，网页、原生安卓、工作人员端和 IM 渠道通过接口连接业务。</a:t>
            </a:r>
          </a:p>
          <a:p>
            <a:pPr/>
            <a:r>
              <a:rPr lang="zh-CN" dirty="0"/>
              <a:t>第一个优势是契约先行，界面依赖统一接口面，网页的模拟实现和 HTTP 实现保持相同语义，减少前后端对接偏差。</a:t>
            </a:r>
          </a:p>
          <a:p>
            <a:pPr/>
            <a:r>
              <a:rPr lang="zh-CN" dirty="0"/>
              <a:t>第二个优势是规则共享，十五个纯函数模块承载会员、预算、账单、理财和分摊等规则，网页模拟端、服务端和 Agent 工具复用同一份实现。</a:t>
            </a:r>
          </a:p>
          <a:p>
            <a:pPr/>
            <a:r>
              <a:rPr lang="zh-CN" dirty="0"/>
              <a:t>第三个优势是资金提交边界清晰，账户、流水、审批、幂等和凭证通过数据库事务共同提交，异常时整体回滚。</a:t>
            </a:r>
          </a:p>
          <a:p>
            <a:pPr/>
            <a:r>
              <a:rPr lang="zh-CN" dirty="0"/>
              <a:t>Agent 同样遵循接口路径，不能直连数据库，因此多端入口带来的便利，始终落在统一的业务与安全规则之内。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账户与支付的基础，是每位客户只有一个储蓄资金账户和一个对客账号，多币种是账户下的记账分区，多张银行卡是关联的支付工具。</a:t>
            </a:r>
          </a:p>
          <a:p>
            <a:pPr/>
            <a:r>
              <a:rPr lang="zh-CN" dirty="0"/>
              <a:t>开卡、换卡、锁卡和换汇都不会新增资金账户，客户切换卡片或币种时，资金归属始终清楚。</a:t>
            </a:r>
          </a:p>
          <a:p>
            <a:pPr/>
            <a:r>
              <a:rPr lang="zh-CN" dirty="0"/>
              <a:t>金额统一使用整数分，同一币种内精确计算，银行卡状态、支付渠道、单笔和单日限额在业务执行前逐项核验。</a:t>
            </a:r>
          </a:p>
          <a:p>
            <a:pPr/>
            <a:r>
              <a:rPr lang="zh-CN" dirty="0"/>
              <a:t>这种设计让客户少理解一层账户关系，也方便服务端检查余额、冻结与流水是否一致，而且单账户约束已经写入可执行的账户模型门禁。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转账经过受理校验、报价限额、支付密码、冻结预留、指令落账和结清或释放，客户归属、收款信息和费用都在相应环节核验。</a:t>
            </a:r>
          </a:p>
          <a:p>
            <a:pPr/>
            <a:r>
              <a:rPr lang="zh-CN" dirty="0"/>
              <a:t>在途资金先按付款币种预留，撤销时只释放这条指令对应的冻结，不影响其他指令或其他币种。</a:t>
            </a:r>
          </a:p>
          <a:p>
            <a:pPr/>
            <a:r>
              <a:rPr lang="zh-CN" dirty="0"/>
              <a:t>本金、手续费、流水、审批、审计和凭证处于同一事务，任一步失败，相关资金变更一起回滚，避免本金已扣却没有完整记账。</a:t>
            </a:r>
          </a:p>
          <a:p>
            <a:pPr/>
            <a:r>
              <a:rPr lang="zh-CN" dirty="0"/>
              <a:t>同一个幂等键携带相同请求时返回首次响应，参数改变则明确返回冲突，减少重复点击和网络重试造成重复执行的风险。</a:t>
            </a:r>
          </a:p>
          <a:p>
            <a:pPr/>
            <a:r>
              <a:rPr lang="zh-CN" dirty="0"/>
              <a:t>这体现了我们的资金生命周期与一致性设计，办理状态可以解释，失败和撤销有明确处理方式，真实跨行支付与清算仍需后续合作银行接入。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账单与资金分析的重点，是让同一笔钱在不同页面上遵循一致的统计口径，首页、分析页与账单以共享规则为依据。</a:t>
            </a:r>
          </a:p>
          <a:p>
            <a:pPr/>
            <a:r>
              <a:rPr lang="zh-CN" dirty="0"/>
              <a:t>系统按北京时间自然月和自然年统计，只纳入本人所选币种的成功记账流水，账户内换汇不计作收支，不同币种不直接相加。</a:t>
            </a:r>
          </a:p>
          <a:p>
            <a:pPr/>
            <a:r>
              <a:rPr lang="zh-CN" dirty="0"/>
              <a:t>月环比对照上一个完整月，无基数时明确标记，年度报告包含十二个月和分类汇总并支持导出，当前周期注明查询截止时点。</a:t>
            </a:r>
          </a:p>
          <a:p>
            <a:pPr/>
            <a:r>
              <a:rPr lang="zh-CN" dirty="0"/>
              <a:t>请求审计保留操作人与结果，资金变更关联流水与凭证，对账差异进入异常队列，不会自动修改数字来调平，让客户看得清，也让工作人员有依据可查。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理财与储蓄这部分，我们把产品选择和日常资金管理放在一起，帮助客户理解哪些产品符合条件，也通过预算约束日常消费。</a:t>
            </a:r>
          </a:p>
          <a:p>
            <a:pPr/>
            <a:r>
              <a:rPr lang="zh-CN" dirty="0"/>
              <a:t>理财匹配依据本人有效风险测评、拟投入金额、可接受期限和流动性偏好进行透明筛选，展示排序与排除理由，不预测收益，也不构成申购授权。</a:t>
            </a:r>
          </a:p>
          <a:p>
            <a:pPr/>
            <a:r>
              <a:rPr lang="zh-CN" dirty="0"/>
              <a:t>申购仍需适当性匹配、抄录风险语句和支付密码，持有批次及封闭期分别保留，赎回只处理已开放批次。</a:t>
            </a:r>
          </a:p>
          <a:p>
            <a:pPr/>
            <a:r>
              <a:rPr lang="zh-CN" dirty="0"/>
              <a:t>预算针对选定商户设置每日额度，在记账前计算今日成功支出与本次金额，超出限额就拦截，打卡积分和额度券也有统一规则。</a:t>
            </a:r>
          </a:p>
          <a:p>
            <a:pPr/>
            <a:r>
              <a:rPr lang="zh-CN" dirty="0"/>
              <a:t>沙箱模拟消费使用预设商户，经过卡状态、渠道、单笔单日限额、预算、余额与币种的校验链，让消费约束能够直接演示；它只用于演示环境，理财的即时赎回到账也明确标为沙箱行为。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个人与安全部分将身份、授权、数据和账务分别设立边界，客户端校验改善体验，服务端重新核验关键条件。</a:t>
            </a:r>
          </a:p>
          <a:p>
            <a:pPr/>
            <a:r>
              <a:rPr lang="zh-CN" dirty="0"/>
              <a:t>登录流程包括手机号格式、登录密码和短信验证码，会话令牌使用随机值，数据库只存摘要，改密后撤销其他设备会话，并通过限流约束重复尝试。</a:t>
            </a:r>
          </a:p>
          <a:p>
            <a:pPr/>
            <a:r>
              <a:rPr lang="zh-CN" dirty="0"/>
              <a:t>敏感操作由会话推导客户身份，逐次检查资源归属并核验支付密码，口令使用 scrypt 保存，敏感字段用 AES-256-GCM 加密，模型密钥仅留在服务端。</a:t>
            </a:r>
          </a:p>
          <a:p>
            <a:pPr/>
            <a:r>
              <a:rPr lang="zh-CN" dirty="0"/>
              <a:t>数据库所有者、应用和银行 worker 分权，运行时禁止自动建表，审计、不可变回执与对账异常为后续复核保留证据。</a:t>
            </a:r>
          </a:p>
          <a:p>
            <a:pPr/>
            <a:r>
              <a:rPr lang="zh-CN" dirty="0"/>
              <a:t>这些控制有明确的实现位置，同时报告也列出了真实短信、实名与银行通道未接入，以及浏览器安全头和高可用等后续事项。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的分工是模型理解需求与组织表达，账户数据、金额、业务状态和执行结果由受控工具及服务端提供。</a:t>
            </a:r>
          </a:p>
          <a:p>
            <a:pPr/>
            <a:r>
              <a:rPr lang="zh-CN" dirty="0"/>
              <a:t>只读查询逐次验证客户归属，写操作生成确认卡，等待客户在网页明确确认，再经过支付密码等业务核验，默认一百八十秒未确认即拒绝。</a:t>
            </a:r>
          </a:p>
          <a:p>
            <a:pPr/>
            <a:r>
              <a:rPr lang="zh-CN" dirty="0"/>
              <a:t>运行时以 DSH 独立 profile 注入银行人格、知识和工具集，客户、员工与运维会话按命名空间隔离，客户工具只暴露受控业务动作。</a:t>
            </a:r>
          </a:p>
          <a:p>
            <a:pPr/>
            <a:r>
              <a:rPr lang="zh-CN" dirty="0"/>
              <a:t>模型输出、工具调用和确认卡事件通过 SSE 按序推送，支持逐字展示和断线后按序续传，让用户看到办理过程的反馈。</a:t>
            </a:r>
          </a:p>
          <a:p>
            <a:pPr/>
            <a:r>
              <a:rPr lang="zh-CN" dirty="0"/>
              <a:t>查询失败不会被描述成零余额，未接入能力不会被编造成成功回执，理财分析不代替客户授权，让自然语言入口在便捷之外保留清晰的责任边界。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我们的独特之处，可以用一条沙箱场景串起来：为选定商户设置每日预算，发起模拟消费，观察额度检查、资金记账和账单如何协同。</a:t>
            </a:r>
          </a:p>
          <a:p>
            <a:pPr/>
            <a:r>
              <a:rPr lang="zh-CN" dirty="0"/>
              <a:t>消费在记账前核验卡状态、渠道、单笔与单日限额、预算及余额币种，超预算时明确给出今日额度、已用金额和本次金额，拦截原因能被直接理解。</a:t>
            </a:r>
          </a:p>
          <a:p>
            <a:pPr/>
            <a:r>
              <a:rPr lang="zh-CN" dirty="0"/>
              <a:t>通过校验的消费先记账，再异步补充分类，模型超时或失败不会将已成功消费回滚，分类结果与账单统计也有明确状态和口径。</a:t>
            </a:r>
          </a:p>
          <a:p>
            <a:pPr/>
            <a:r>
              <a:rPr lang="zh-CN" dirty="0"/>
              <a:t>流程背后是多端协同与规则共享，网页和原生安卓连接同一业务体系，客户与员工各有独立入口和工具边界，工单、审批与代客处置沿用统一事务、幂等和审计，微信渠道提供已确认消息的便捷触达。</a:t>
            </a:r>
          </a:p>
          <a:p>
            <a:pPr/>
            <a:r>
              <a:rPr lang="zh-CN" dirty="0"/>
              <a:t>报告记录了十五个共享规则模块、二十个测试文件和七十八项断言，还有四个专用数据库的整合门禁；门禁缺配置即失败，不把跳过当作通过，发布记录同时保留验证结论与未通过项。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招财猫银行希望让自然语言成为便捷的业务入口，让本人确认、服务端授权和完整事务成为资金操作的共同约束，并通过共享规则、审计与验证门禁保留可核查的工程证据。</a:t>
            </a:r>
          </a:p>
          <a:p>
            <a:pPr/>
            <a:r>
              <a:rPr lang="zh-CN" dirty="0"/>
              <a:t>当前版本是沙箱演示作品，下一步优先接入持牌银行适配器并补齐安全头，再推进短信实名、监管报送和高可用等能力，谢谢大家，欢迎提问。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1.xml"/>
</Relationships>
</file>

<file path=ppt/slides/_rels/slide2.xml.rels><?xml version='1.0' encoding='utf-8'?>
<Relationships xmlns="http://schemas.openxmlformats.org/package/2006/relationships"><Relationship Id="rId9" Type="http://schemas.openxmlformats.org/officeDocument/2006/relationships/tags" Target="../tags/tag9.xml" /><Relationship Id="rId8" Type="http://schemas.openxmlformats.org/officeDocument/2006/relationships/tags" Target="../tags/tag8.xml" /><Relationship Id="rId7" Type="http://schemas.openxmlformats.org/officeDocument/2006/relationships/tags" Target="../tags/tag7.xml" /><Relationship Id="rId6" Type="http://schemas.openxmlformats.org/officeDocument/2006/relationships/tags" Target="../tags/tag6.xml" /><Relationship Id="rId5" Type="http://schemas.openxmlformats.org/officeDocument/2006/relationships/tags" Target="../tags/tag5.xml" /><Relationship Id="rId4" Type="http://schemas.openxmlformats.org/officeDocument/2006/relationships/tags" Target="../tags/tag4.xml" /><Relationship Id="rId3" Type="http://schemas.openxmlformats.org/officeDocument/2006/relationships/tags" Target="../tags/tag3.xml" /><Relationship Id="rId2" Type="http://schemas.openxmlformats.org/officeDocument/2006/relationships/tags" Target="../tags/tag2.xml" /><Relationship Id="rId13" Type="http://schemas.openxmlformats.org/officeDocument/2006/relationships/slideLayout" Target="../slideLayouts/slideLayout7.xml" /><Relationship Id="rId12" Type="http://schemas.openxmlformats.org/officeDocument/2006/relationships/tags" Target="../tags/tag12.xml" /><Relationship Id="rId11" Type="http://schemas.openxmlformats.org/officeDocument/2006/relationships/tags" Target="../tags/tag11.xml" /><Relationship Id="rId10" Type="http://schemas.openxmlformats.org/officeDocument/2006/relationships/tags" Target="../tags/tag10.xml" /><Relationship Id="rId1" Type="http://schemas.openxmlformats.org/officeDocument/2006/relationships/tags" Target="../tags/tag1.xml" />  <Relationship Id="rId14" Type="http://schemas.openxmlformats.org/officeDocument/2006/relationships/notesSlide" Target="../notesSlides/notesSlide2.xml"/>
</Relationships>
</file>

<file path=ppt/slides/_rels/slide3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3.xml"/>
</Relationships>
</file>

<file path=ppt/slides/_rels/slide4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4.xml"/>
</Relationships>
</file>

<file path=ppt/slides/_rels/slide5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5.xml"/>
</Relationships>
</file>

<file path=ppt/slides/_rels/slide6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6.xml"/>
</Relationships>
</file>

<file path=ppt/slides/_rels/slide7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7.xml"/>
</Relationships>
</file>

<file path=ppt/slides/_rels/slide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8.xml"/>
</Relationships>
</file>

<file path=ppt/slides/_rels/slide9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9.xml"/>
</Relationships>
</file>

<file path=ppt/slides/_rels/slide10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10.xml"/>
</Relationships>
</file>

<file path=ppt/slides/_rels/slide11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0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19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2124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9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2708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1540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19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2124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24159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2708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19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2124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24159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2708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19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24159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2708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" y="841248"/>
            <a:ext cx="841248" cy="841248"/>
          </a:xfrm>
          <a:prstGeom prst="roundRect">
            <a:avLst>
              <a:gd name="adj" fmla="val 32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1005840"/>
            <a:ext cx="841248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招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73936" y="9326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EA3C8"/>
                </a:solidFill>
                <a:latin typeface="微软雅黑" panose="020B0503020204020204" charset="-122"/>
                <a:ea typeface="微软雅黑" panose="020B0503020204020204" charset="-122"/>
              </a:rPr>
              <a:t>M O N E Y   M E O W   B A N K</a:t>
            </a:r>
            <a:endParaRPr sz="1100" b="1" i="0">
              <a:solidFill>
                <a:srgbClr val="8EA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73936" y="11887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808" y="221284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1" i="0" spc="300">
                <a:solidFill>
                  <a:srgbClr val="9B8CFF"/>
                </a:solidFill>
                <a:latin typeface="微软雅黑" panose="020B0503020204020204" charset="-122"/>
                <a:ea typeface="微软雅黑" panose="020B0503020204020204" charset="-122"/>
              </a:rPr>
              <a:t>AI BANKING AGENT · 技术答辩</a:t>
            </a:r>
            <a:endParaRPr sz="1200" b="1" i="0" spc="300">
              <a:solidFill>
                <a:srgbClr val="9B8C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/>
          <p:nvPr/>
        </p:nvSpPr>
        <p:spPr>
          <a:xfrm>
            <a:off x="749808" y="2578608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97631" rIns="0" bIns="0" anchor="t" anchorCtr="0">
            <a:noAutofit/>
          </a:bodyPr>
          <a:lstStyle/>
          <a:p>
            <a:pPr algn="l"/>
            <a:r>
              <a:rPr lang="zh-CN" sz="41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 AI 安全、便捷地办业务</a:t>
            </a:r>
          </a:p>
        </p:txBody>
      </p:sp>
      <p:sp>
        <p:nvSpPr>
          <p:cNvPr id="36" name="TextBox 35"/>
          <p:cNvSpPr/>
          <p:nvPr/>
        </p:nvSpPr>
        <p:spPr>
          <a:xfrm>
            <a:off x="749808" y="3529584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54769" rIns="0" bIns="0" anchor="t" anchorCtr="0">
            <a:noAutofit/>
          </a:bodyPr>
          <a:lstStyle/>
          <a:p>
            <a:pPr algn="l"/>
            <a:r>
              <a:rPr lang="zh-CN" sz="1880" dirty="0">
                <a:solidFill>
                  <a:srgbClr val="C7D3E6"/>
                </a:solidFill>
                <a:latin typeface="Microsoft YaHei"/>
                <a:ea typeface="Microsoft YaHei"/>
                <a:cs typeface="Microsoft YaHei"/>
              </a:rPr>
              <a:t>自然语言办理 · 客户掌握授权 · 资金全程可追溯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四端一核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6112" y="47183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5C2"/>
                </a:solidFill>
                <a:latin typeface="微软雅黑" panose="020B0503020204020204" charset="-122"/>
                <a:ea typeface="微软雅黑" panose="020B0503020204020204" charset="-122"/>
              </a:rPr>
              <a:t>网页 · 安卓 · 员工端 · IM</a:t>
            </a:r>
            <a:endParaRPr sz="1050" b="0" i="0">
              <a:solidFill>
                <a:srgbClr val="93A5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6732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115 个端点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13632" y="47183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5C2"/>
                </a:solidFill>
                <a:latin typeface="微软雅黑" panose="020B0503020204020204" charset="-122"/>
                <a:ea typeface="微软雅黑" panose="020B0503020204020204" charset="-122"/>
              </a:rPr>
              <a:t>契约先行 · 同一套规则</a:t>
            </a:r>
            <a:endParaRPr sz="1050" b="0" i="0">
              <a:solidFill>
                <a:srgbClr val="93A5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78484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/>
          <p:nvPr/>
        </p:nvSpPr>
        <p:spPr>
          <a:xfrm>
            <a:off x="6931152" y="44439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6196" rIns="0" bIns="0" anchor="t" anchorCtr="0">
            <a:noAutofit/>
          </a:bodyPr>
          <a:lstStyle/>
          <a:p>
            <a:pPr algn="l"/>
            <a:r>
              <a:rPr lang="zh-CN" sz="14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 Agent</a:t>
            </a:r>
          </a:p>
        </p:txBody>
      </p:sp>
      <p:sp>
        <p:nvSpPr>
          <p:cNvPr id="45" name="TextBox 44"/>
          <p:cNvSpPr/>
          <p:nvPr/>
        </p:nvSpPr>
        <p:spPr>
          <a:xfrm>
            <a:off x="6931152" y="471830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93A5C2"/>
                </a:solidFill>
                <a:latin typeface="Microsoft YaHei"/>
                <a:ea typeface="Microsoft YaHei"/>
                <a:cs typeface="Microsoft YaHei"/>
              </a:rPr>
              <a:t>理解需求 · 确认授权 · 业务执行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" y="5797296"/>
            <a:ext cx="10692079" cy="10972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90702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E9A"/>
                </a:solidFill>
                <a:latin typeface="微软雅黑" panose="020B0503020204020204" charset="-122"/>
                <a:ea typeface="微软雅黑" panose="020B0503020204020204" charset="-122"/>
              </a:rPr>
              <a:t>比赛演示作品 · 非真实银行　|　技术文档同步提交</a:t>
            </a:r>
            <a:endParaRPr sz="950" b="0" i="0">
              <a:solidFill>
                <a:srgbClr val="6E7E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84287" y="59070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6E7E9A"/>
                </a:solidFill>
                <a:latin typeface="微软雅黑" panose="020B0503020204020204" charset="-122"/>
                <a:ea typeface="微软雅黑" panose="020B0503020204020204" charset="-122"/>
              </a:rPr>
              <a:t>2026.10.28</a:t>
            </a:r>
            <a:endParaRPr sz="950" b="0" i="0">
              <a:solidFill>
                <a:srgbClr val="6E7E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PROBLEM</a:t>
            </a:r>
            <a:endParaRPr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/>
          <p:nvPr/>
        </p:nvSpPr>
        <p:spPr>
          <a:xfrm>
            <a:off x="749808" y="731520"/>
            <a:ext cx="10692098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7620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安全可控、业务便捷、智能协同</a:t>
            </a:r>
          </a:p>
        </p:txBody>
      </p:sp>
      <p:sp>
        <p:nvSpPr>
          <p:cNvPr id="4" name="TextBox 3"/>
          <p:cNvSpPr/>
          <p:nvPr/>
        </p:nvSpPr>
        <p:spPr>
          <a:xfrm>
            <a:off x="749808" y="1298448"/>
            <a:ext cx="10692098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46196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用自然语言连接银行业务，让每次办理都有明确授权、统一规则与可追溯结果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49808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749808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42415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 i="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/>
          <p:nvPr/>
        </p:nvSpPr>
        <p:spPr>
          <a:xfrm>
            <a:off x="1042416" y="2322576"/>
            <a:ext cx="28142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5334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安全可控</a:t>
            </a: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405274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405274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697882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306F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 i="0">
              <a:solidFill>
                <a:srgbClr val="306F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/>
          <p:nvPr/>
        </p:nvSpPr>
        <p:spPr>
          <a:xfrm>
            <a:off x="4697920" y="2322576"/>
            <a:ext cx="28142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5334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业务便捷</a:t>
            </a:r>
          </a:p>
        </p:txBody>
      </p:sp>
      <p:sp>
        <p:nvSpPr>
          <p:cNvPr id="19" name="Rounded Rectangle 18"/>
          <p:cNvSpPr/>
          <p:nvPr>
            <p:custDataLst>
              <p:tags r:id="rId9"/>
            </p:custDataLst>
          </p:nvPr>
        </p:nvSpPr>
        <p:spPr>
          <a:xfrm>
            <a:off x="8060740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0"/>
            </p:custDataLst>
          </p:nvPr>
        </p:nvSpPr>
        <p:spPr>
          <a:xfrm>
            <a:off x="8060740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8353348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F8A8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 i="0">
              <a:solidFill>
                <a:srgbClr val="0F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/>
          <p:nvPr/>
        </p:nvSpPr>
        <p:spPr>
          <a:xfrm>
            <a:off x="8353330" y="2322576"/>
            <a:ext cx="28142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5334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智能协同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047488"/>
            <a:ext cx="10692079" cy="640080"/>
          </a:xfrm>
          <a:prstGeom prst="roundRect">
            <a:avLst>
              <a:gd name="adj" fmla="val 6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/>
          <p:nvPr/>
        </p:nvSpPr>
        <p:spPr>
          <a:xfrm>
            <a:off x="1078992" y="5212080"/>
            <a:ext cx="10052018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47625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我们的优势：把便捷入口、客户授权与资金约束放进同一条业务链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§1、§2.3、§4.8</a:t>
            </a:r>
          </a:p>
        </p:txBody>
      </p:sp>
      <p:sp>
        <p:nvSpPr>
          <p:cNvPr id="31" name="TextBox 30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02 / 11</a:t>
            </a:r>
          </a:p>
        </p:txBody>
      </p:sp>
      <p:grpSp>
        <p:nvGrpSpPr>
          <p:cNvPr id="46" name="pillar-content-1"/>
          <p:cNvGrpSpPr/>
          <p:nvPr/>
        </p:nvGrpSpPr>
        <p:grpSpPr>
          <a:xfrm>
            <a:off x="1034415" y="2876550"/>
            <a:ext cx="2415159" cy="1305433"/>
            <a:chOff x="1034415" y="2876550"/>
            <a:chExt cx="2415159" cy="1305433"/>
          </a:xfrm>
        </p:grpSpPr>
        <p:sp>
          <p:nvSpPr>
            <p:cNvPr id="44" name="TextBox 44"/>
            <p:cNvSpPr txBox="1"/>
            <p:nvPr/>
          </p:nvSpPr>
          <p:spPr>
            <a:xfrm>
              <a:off x="1034415" y="287655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客户掌握授权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5558" y="3270250"/>
              <a:ext cx="2414016" cy="911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确认卡＋支付密码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逐次校验资源归属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失败回滚，重复提交不重复扣款</a:t>
              </a:r>
            </a:p>
          </p:txBody>
        </p:sp>
      </p:grpSp>
      <p:grpSp>
        <p:nvGrpSpPr>
          <p:cNvPr id="49" name="pillar-content-2"/>
          <p:cNvGrpSpPr/>
          <p:nvPr/>
        </p:nvGrpSpPr>
        <p:grpSpPr>
          <a:xfrm>
            <a:off x="4689920" y="2876550"/>
            <a:ext cx="2012251" cy="1305433"/>
            <a:chOff x="4689920" y="2876550"/>
            <a:chExt cx="2012251" cy="1305433"/>
          </a:xfrm>
        </p:grpSpPr>
        <p:sp>
          <p:nvSpPr>
            <p:cNvPr id="47" name="TextBox 47"/>
            <p:cNvSpPr txBox="1"/>
            <p:nvPr/>
          </p:nvSpPr>
          <p:spPr>
            <a:xfrm>
              <a:off x="4689920" y="2876550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306FDB"/>
                  </a:solidFill>
                  <a:latin typeface="Microsoft YaHei"/>
                  <a:ea typeface="Microsoft YaHei"/>
                  <a:cs typeface="Microsoft YaHei"/>
                </a:rPr>
                <a:t>常用业务集中办理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91062" y="3270250"/>
              <a:ext cx="2011109" cy="911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账户、转账、卡与理财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账单、预算、AA 分摊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网页、原生安卓与 IM 入口</a:t>
              </a:r>
            </a:p>
          </p:txBody>
        </p:sp>
      </p:grpSp>
      <p:grpSp>
        <p:nvGrpSpPr>
          <p:cNvPr id="52" name="pillar-content-3"/>
          <p:cNvGrpSpPr/>
          <p:nvPr/>
        </p:nvGrpSpPr>
        <p:grpSpPr>
          <a:xfrm>
            <a:off x="8345329" y="2876550"/>
            <a:ext cx="2142998" cy="1305433"/>
            <a:chOff x="8345329" y="2876550"/>
            <a:chExt cx="2142998" cy="1305433"/>
          </a:xfrm>
        </p:grpSpPr>
        <p:sp>
          <p:nvSpPr>
            <p:cNvPr id="50" name="TextBox 50"/>
            <p:cNvSpPr txBox="1"/>
            <p:nvPr/>
          </p:nvSpPr>
          <p:spPr>
            <a:xfrm>
              <a:off x="8345329" y="2876550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8A8A"/>
                  </a:solidFill>
                  <a:latin typeface="Microsoft YaHei"/>
                  <a:ea typeface="Microsoft YaHei"/>
                  <a:cs typeface="Microsoft YaHei"/>
                </a:rPr>
                <a:t>助手连接真实业务接口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46472" y="3270250"/>
              <a:ext cx="2071116" cy="911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工具调用完成受控办理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客户与员工分工协作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模型失败不伪造余额或回执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五层架构：四端一核</a:t>
            </a:r>
            <a:endParaRPr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749808" y="1298448"/>
            <a:ext cx="10692098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多端共用规则；Agent 通过受控接口办理业务，权限与资金判断始终在服务端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1069207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45920"/>
            <a:ext cx="841248" cy="731520"/>
          </a:xfrm>
          <a:prstGeom prst="roundRect">
            <a:avLst>
              <a:gd name="adj" fmla="val 5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8176" y="1645920"/>
            <a:ext cx="182880" cy="731520"/>
          </a:xfrm>
          <a:prstGeom prst="rect">
            <a:avLst/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83664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客户端层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682495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/>
        </p:nvSpPr>
        <p:spPr>
          <a:xfrm>
            <a:off x="1773936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网页用户端</a:t>
            </a:r>
          </a:p>
        </p:txBody>
      </p:sp>
      <p:sp>
        <p:nvSpPr>
          <p:cNvPr id="11" name="TextBox 10"/>
          <p:cNvSpPr/>
          <p:nvPr/>
        </p:nvSpPr>
        <p:spPr>
          <a:xfrm>
            <a:off x="1773936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网页 · 34 条路由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4374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/>
        </p:nvSpPr>
        <p:spPr>
          <a:xfrm>
            <a:off x="3725799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安卓客户端</a:t>
            </a:r>
          </a:p>
        </p:txBody>
      </p:sp>
      <p:sp>
        <p:nvSpPr>
          <p:cNvPr id="14" name="TextBox 13"/>
          <p:cNvSpPr/>
          <p:nvPr/>
        </p:nvSpPr>
        <p:spPr>
          <a:xfrm>
            <a:off x="3725799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原生 Kotlin · Compose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6252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/>
        </p:nvSpPr>
        <p:spPr>
          <a:xfrm>
            <a:off x="5677662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工作人员端</a:t>
            </a:r>
          </a:p>
        </p:txBody>
      </p:sp>
      <p:sp>
        <p:nvSpPr>
          <p:cNvPr id="17" name="TextBox 16"/>
          <p:cNvSpPr/>
          <p:nvPr/>
        </p:nvSpPr>
        <p:spPr>
          <a:xfrm>
            <a:off x="5677662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工单 · 双人复核 · 审计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38130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/>
        </p:nvSpPr>
        <p:spPr>
          <a:xfrm>
            <a:off x="7629525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IM 渠道</a:t>
            </a:r>
          </a:p>
        </p:txBody>
      </p:sp>
      <p:sp>
        <p:nvSpPr>
          <p:cNvPr id="20" name="TextBox 19"/>
          <p:cNvSpPr/>
          <p:nvPr/>
        </p:nvSpPr>
        <p:spPr>
          <a:xfrm>
            <a:off x="7629525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微信 · 企业微信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90008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/>
          <p:nvPr/>
        </p:nvSpPr>
        <p:spPr>
          <a:xfrm>
            <a:off x="9581483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个人工作台</a:t>
            </a:r>
          </a:p>
        </p:txBody>
      </p:sp>
      <p:sp>
        <p:nvSpPr>
          <p:cNvPr id="23" name="TextBox 22"/>
          <p:cNvSpPr/>
          <p:nvPr/>
        </p:nvSpPr>
        <p:spPr>
          <a:xfrm>
            <a:off x="9581483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独立日历与提醒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2468880"/>
            <a:ext cx="10692079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2468880"/>
            <a:ext cx="841248" cy="603504"/>
          </a:xfrm>
          <a:prstGeom prst="roundRect">
            <a:avLst>
              <a:gd name="adj" fmla="val 5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08176" y="2468880"/>
            <a:ext cx="182880" cy="603504"/>
          </a:xfrm>
          <a:prstGeom prst="rect">
            <a:avLst/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642616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82495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/>
          <p:nvPr/>
        </p:nvSpPr>
        <p:spPr>
          <a:xfrm>
            <a:off x="1773936" y="2606040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/api 银行接口</a:t>
            </a:r>
          </a:p>
        </p:txBody>
      </p:sp>
      <p:sp>
        <p:nvSpPr>
          <p:cNvPr id="30" name="TextBox 29"/>
          <p:cNvSpPr/>
          <p:nvPr/>
        </p:nvSpPr>
        <p:spPr>
          <a:xfrm>
            <a:off x="1773936" y="2816352"/>
            <a:ext cx="218379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115 个文档化端点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22343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/>
          <p:nvPr/>
        </p:nvSpPr>
        <p:spPr>
          <a:xfrm>
            <a:off x="4213765" y="2606040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en-US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/staff-api</a:t>
            </a:r>
          </a:p>
        </p:txBody>
      </p:sp>
      <p:sp>
        <p:nvSpPr>
          <p:cNvPr id="33" name="TextBox 32"/>
          <p:cNvSpPr/>
          <p:nvPr/>
        </p:nvSpPr>
        <p:spPr>
          <a:xfrm>
            <a:off x="4213765" y="2816352"/>
            <a:ext cx="218379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员工业务独立入口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2191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/>
          <p:nvPr/>
        </p:nvSpPr>
        <p:spPr>
          <a:xfrm>
            <a:off x="6653594" y="2606040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en-US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/agent-api</a:t>
            </a:r>
          </a:p>
        </p:txBody>
      </p:sp>
      <p:sp>
        <p:nvSpPr>
          <p:cNvPr id="36" name="TextBox 35"/>
          <p:cNvSpPr/>
          <p:nvPr/>
        </p:nvSpPr>
        <p:spPr>
          <a:xfrm>
            <a:off x="6653594" y="2816352"/>
            <a:ext cx="218379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客户 Agent · SSE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2039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/>
          <p:nvPr/>
        </p:nvSpPr>
        <p:spPr>
          <a:xfrm>
            <a:off x="9093518" y="2606040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员工 Agent ×2</a:t>
            </a:r>
          </a:p>
        </p:txBody>
      </p:sp>
      <p:sp>
        <p:nvSpPr>
          <p:cNvPr id="39" name="TextBox 38"/>
          <p:cNvSpPr/>
          <p:nvPr/>
        </p:nvSpPr>
        <p:spPr>
          <a:xfrm>
            <a:off x="9093518" y="2816352"/>
            <a:ext cx="218379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员工 / 只读运维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3163824"/>
            <a:ext cx="10692079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8" y="3163824"/>
            <a:ext cx="841248" cy="786384"/>
          </a:xfrm>
          <a:prstGeom prst="roundRect">
            <a:avLst>
              <a:gd name="adj" fmla="val 5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08176" y="3163824"/>
            <a:ext cx="182880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3429000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682495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/>
          <p:nvPr/>
        </p:nvSpPr>
        <p:spPr>
          <a:xfrm>
            <a:off x="1773936" y="3300984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银行业务域</a:t>
            </a:r>
          </a:p>
        </p:txBody>
      </p:sp>
      <p:sp>
        <p:nvSpPr>
          <p:cNvPr id="46" name="TextBox 45"/>
          <p:cNvSpPr/>
          <p:nvPr/>
        </p:nvSpPr>
        <p:spPr>
          <a:xfrm>
            <a:off x="1773936" y="3511296"/>
            <a:ext cx="2183797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账户 · 卡 · 转账 · 理财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22343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/>
          <p:nvPr/>
        </p:nvSpPr>
        <p:spPr>
          <a:xfrm>
            <a:off x="4213765" y="3300984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安全网关</a:t>
            </a:r>
          </a:p>
        </p:txBody>
      </p:sp>
      <p:sp>
        <p:nvSpPr>
          <p:cNvPr id="49" name="TextBox 48"/>
          <p:cNvSpPr/>
          <p:nvPr/>
        </p:nvSpPr>
        <p:spPr>
          <a:xfrm>
            <a:off x="4213765" y="3511296"/>
            <a:ext cx="2183797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限流 · 幂等 · 授权 · 审计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62191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/>
          <p:nvPr/>
        </p:nvSpPr>
        <p:spPr>
          <a:xfrm>
            <a:off x="6653594" y="3300984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Agent 运行时</a:t>
            </a:r>
          </a:p>
        </p:txBody>
      </p:sp>
      <p:sp>
        <p:nvSpPr>
          <p:cNvPr id="52" name="TextBox 51"/>
          <p:cNvSpPr/>
          <p:nvPr/>
        </p:nvSpPr>
        <p:spPr>
          <a:xfrm>
            <a:off x="6653594" y="3511296"/>
            <a:ext cx="2183797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Profile + 工具白名单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02039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/>
          <p:nvPr/>
        </p:nvSpPr>
        <p:spPr>
          <a:xfrm>
            <a:off x="9093518" y="3300984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对账与出纳</a:t>
            </a:r>
          </a:p>
        </p:txBody>
      </p:sp>
      <p:sp>
        <p:nvSpPr>
          <p:cNvPr id="55" name="TextBox 54"/>
          <p:cNvSpPr/>
          <p:nvPr/>
        </p:nvSpPr>
        <p:spPr>
          <a:xfrm>
            <a:off x="9093518" y="3511296"/>
            <a:ext cx="2183797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回执 · outbox · 对账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8" y="4041648"/>
            <a:ext cx="10692079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9808" y="4041648"/>
            <a:ext cx="841248" cy="457200"/>
          </a:xfrm>
          <a:prstGeom prst="roundRect">
            <a:avLst>
              <a:gd name="adj" fmla="val 5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08176" y="4041648"/>
            <a:ext cx="182880" cy="457200"/>
          </a:xfrm>
          <a:prstGeom prst="rect">
            <a:avLst/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41422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规则层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682495" y="4123944"/>
            <a:ext cx="9667951" cy="29260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/>
          <p:nvPr/>
        </p:nvSpPr>
        <p:spPr>
          <a:xfrm>
            <a:off x="1773936" y="4178808"/>
            <a:ext cx="948509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shared/ 纯函数规则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1769174" y="4410075"/>
            <a:ext cx="451472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15 个纯函数模块：会员、预算、账单、理财、分摊；网页 mock、后端、Agent 共用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9808" y="4590288"/>
            <a:ext cx="1069207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49808" y="4590288"/>
            <a:ext cx="841248" cy="731520"/>
          </a:xfrm>
          <a:prstGeom prst="roundRect">
            <a:avLst>
              <a:gd name="adj" fmla="val 5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08176" y="4590288"/>
            <a:ext cx="182880" cy="731520"/>
          </a:xfrm>
          <a:prstGeom prst="rect">
            <a:avLst/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48280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682495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/>
          <p:nvPr/>
        </p:nvSpPr>
        <p:spPr>
          <a:xfrm>
            <a:off x="1773936" y="4727448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en-US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PostgreSQL 16</a:t>
            </a:r>
          </a:p>
        </p:txBody>
      </p:sp>
      <p:sp>
        <p:nvSpPr>
          <p:cNvPr id="69" name="TextBox 68"/>
          <p:cNvSpPr/>
          <p:nvPr/>
        </p:nvSpPr>
        <p:spPr>
          <a:xfrm>
            <a:off x="1773936" y="4937760"/>
            <a:ext cx="2183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四个 schema 分工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22343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/>
          <p:nvPr/>
        </p:nvSpPr>
        <p:spPr>
          <a:xfrm>
            <a:off x="4213765" y="4727448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AI 会话库</a:t>
            </a:r>
          </a:p>
        </p:txBody>
      </p:sp>
      <p:sp>
        <p:nvSpPr>
          <p:cNvPr id="72" name="TextBox 71"/>
          <p:cNvSpPr/>
          <p:nvPr/>
        </p:nvSpPr>
        <p:spPr>
          <a:xfrm>
            <a:off x="4213765" y="4937760"/>
            <a:ext cx="2183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客户 / 员工 / 运维隔离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62191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/>
          <p:nvPr/>
        </p:nvSpPr>
        <p:spPr>
          <a:xfrm>
            <a:off x="6653594" y="4727448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定时任务</a:t>
            </a:r>
          </a:p>
        </p:txBody>
      </p:sp>
      <p:sp>
        <p:nvSpPr>
          <p:cNvPr id="75" name="TextBox 74"/>
          <p:cNvSpPr/>
          <p:nvPr/>
        </p:nvSpPr>
        <p:spPr>
          <a:xfrm>
            <a:off x="6653594" y="4937760"/>
            <a:ext cx="2183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备份 · 对账 · 巡检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002039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/>
          <p:nvPr/>
        </p:nvSpPr>
        <p:spPr>
          <a:xfrm>
            <a:off x="9093518" y="4727448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主机加固</a:t>
            </a:r>
          </a:p>
        </p:txBody>
      </p:sp>
      <p:sp>
        <p:nvSpPr>
          <p:cNvPr id="78" name="TextBox 77"/>
          <p:cNvSpPr/>
          <p:nvPr/>
        </p:nvSpPr>
        <p:spPr>
          <a:xfrm>
            <a:off x="9093518" y="4937760"/>
            <a:ext cx="2183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最小权限 · 进程加固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86703" y="2395728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86703" y="3145536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86703" y="3986784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86703" y="4590288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9808" y="5705856"/>
            <a:ext cx="27432" cy="51206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7824" y="569671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契约先行</a:t>
            </a: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/>
          <p:nvPr/>
        </p:nvSpPr>
        <p:spPr>
          <a:xfrm>
            <a:off x="877824" y="592531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37624" rIns="0" bIns="0" anchor="t" anchorCtr="0">
            <a:noAutofit/>
          </a:bodyPr>
          <a:lstStyle/>
          <a:p>
            <a:pPr algn="l"/>
            <a:r>
              <a:rPr lang="zh-CN" sz="9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接口契约统一，减少跨端对接偏差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61688" y="5705856"/>
            <a:ext cx="27432" cy="512064"/>
          </a:xfrm>
          <a:prstGeom prst="rect">
            <a:avLst/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89704" y="569671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规则共享</a:t>
            </a: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/>
          <p:nvPr/>
        </p:nvSpPr>
        <p:spPr>
          <a:xfrm>
            <a:off x="4489704" y="592531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37624" rIns="0" bIns="0" anchor="t" anchorCtr="0">
            <a:noAutofit/>
          </a:bodyPr>
          <a:lstStyle/>
          <a:p>
            <a:pPr algn="l"/>
            <a:r>
              <a:rPr lang="zh-CN" sz="9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同一规则复用，金额与统计保持同口径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73568" y="5705856"/>
            <a:ext cx="27432" cy="512064"/>
          </a:xfrm>
          <a:prstGeom prst="rect">
            <a:avLst/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01584" y="569671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交易即事务</a:t>
            </a:r>
            <a:endParaRPr sz="1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/>
          <p:nvPr/>
        </p:nvSpPr>
        <p:spPr>
          <a:xfrm>
            <a:off x="8101584" y="592531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37624" rIns="0" bIns="0" anchor="t" anchorCtr="0">
            <a:noAutofit/>
          </a:bodyPr>
          <a:lstStyle/>
          <a:p>
            <a:pPr algn="l"/>
            <a:r>
              <a:rPr lang="zh-CN" sz="9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资金与证据同事务，失败整体回滚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§2.1–2.5、§5.2</a:t>
            </a:r>
          </a:p>
        </p:txBody>
      </p:sp>
      <p:sp>
        <p:nvSpPr>
          <p:cNvPr id="95" name="TextBox 94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账户与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支付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§3.1、§3.3、§3.5</a:t>
            </a:r>
          </a:p>
        </p:txBody>
      </p:sp>
      <p:sp>
        <p:nvSpPr>
          <p:cNvPr id="53" name="TextBox 52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04 / 11</a:t>
            </a:r>
          </a:p>
        </p:txBody>
      </p:sp>
      <p:grpSp>
        <p:nvGrpSpPr>
          <p:cNvPr id="23" name="account-model"/>
          <p:cNvGrpSpPr/>
          <p:nvPr/>
        </p:nvGrpSpPr>
        <p:grpSpPr>
          <a:xfrm>
            <a:off x="752475" y="1857375"/>
            <a:ext cx="5105400" cy="3219450"/>
            <a:chOff x="752475" y="1857375"/>
            <a:chExt cx="5105400" cy="3219450"/>
          </a:xfrm>
        </p:grpSpPr>
        <p:sp>
          <p:nvSpPr>
            <p:cNvPr id="9" name="Rectangle 9"/>
            <p:cNvSpPr/>
            <p:nvPr/>
          </p:nvSpPr>
          <p:spPr>
            <a:xfrm>
              <a:off x="752475" y="1857375"/>
              <a:ext cx="5105400" cy="321945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1857375"/>
              <a:ext cx="5105400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1931" y="20415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一个账户，多币种、多张卡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0407" y="24320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唯一储蓄资金账户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217" y="2835275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统一账号 · 币种分别记账 · 卡片作为支付工具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81075" y="3276600"/>
              <a:ext cx="1390650" cy="504825"/>
            </a:xfrm>
            <a:prstGeom prst="roundRect">
              <a:avLst>
                <a:gd name="adj" fmla="val 13208"/>
              </a:avLst>
            </a:prstGeom>
            <a:solidFill>
              <a:srgbClr val="F2F0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0352" y="3435350"/>
              <a:ext cx="952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人民币 CNY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43175" y="3276600"/>
              <a:ext cx="1390650" cy="504825"/>
            </a:xfrm>
            <a:prstGeom prst="roundRect">
              <a:avLst>
                <a:gd name="adj" fmla="val 13208"/>
              </a:avLst>
            </a:prstGeom>
            <a:solidFill>
              <a:srgbClr val="F2F0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3320" y="3435350"/>
              <a:ext cx="770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美元 USD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05275" y="3276600"/>
              <a:ext cx="1390650" cy="504825"/>
            </a:xfrm>
            <a:prstGeom prst="roundRect">
              <a:avLst>
                <a:gd name="adj" fmla="val 13208"/>
              </a:avLst>
            </a:prstGeom>
            <a:solidFill>
              <a:srgbClr val="F2F0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15420" y="3435350"/>
              <a:ext cx="770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港币 HKD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1075" y="400050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11430">
              <a:solidFill>
                <a:srgbClr val="E2E8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3074" y="4162425"/>
              <a:ext cx="305783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Visa / 银联卡关联同一资金账户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4217" y="45212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开卡、换卡、锁卡都不另建账户</a:t>
              </a:r>
            </a:p>
          </p:txBody>
        </p:sp>
      </p:grpSp>
      <p:grpSp>
        <p:nvGrpSpPr>
          <p:cNvPr id="33" name="payment-value"/>
          <p:cNvGrpSpPr/>
          <p:nvPr/>
        </p:nvGrpSpPr>
        <p:grpSpPr>
          <a:xfrm>
            <a:off x="6153150" y="1924050"/>
            <a:ext cx="3851148" cy="2781300"/>
            <a:chOff x="6153150" y="1924050"/>
            <a:chExt cx="3851148" cy="2781300"/>
          </a:xfrm>
        </p:grpSpPr>
        <p:sp>
          <p:nvSpPr>
            <p:cNvPr id="24" name="Rectangle 24"/>
            <p:cNvSpPr/>
            <p:nvPr/>
          </p:nvSpPr>
          <p:spPr>
            <a:xfrm>
              <a:off x="6153150" y="1924050"/>
              <a:ext cx="38100" cy="7239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3937" y="1936750"/>
              <a:ext cx="2796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便捷｜集中管理账户与卡片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5842" y="23304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多币种余额、卡状态与资金信息清晰呈现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53150" y="2952750"/>
              <a:ext cx="38100" cy="723900"/>
            </a:xfrm>
            <a:prstGeom prst="roundRect">
              <a:avLst>
                <a:gd name="adj" fmla="val 50000"/>
              </a:avLst>
            </a:prstGeom>
            <a:solidFill>
              <a:srgbClr val="306FD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3937" y="2965450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306FDB"/>
                  </a:solidFill>
                  <a:latin typeface="Microsoft YaHei"/>
                  <a:ea typeface="Microsoft YaHei"/>
                  <a:cs typeface="Microsoft YaHei"/>
                </a:rPr>
                <a:t>安全｜卡状态与资金权限分离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5842" y="33591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锁定、挂失或未激活卡片拒绝消费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53150" y="3981450"/>
              <a:ext cx="38100" cy="723900"/>
            </a:xfrm>
            <a:prstGeom prst="roundRect">
              <a:avLst>
                <a:gd name="adj" fmla="val 50000"/>
              </a:avLst>
            </a:prstGeom>
            <a:solidFill>
              <a:srgbClr val="0F8A8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3937" y="399415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F8A8A"/>
                  </a:solidFill>
                  <a:latin typeface="Microsoft YaHei"/>
                  <a:ea typeface="Microsoft YaHei"/>
                  <a:cs typeface="Microsoft YaHei"/>
                </a:rPr>
                <a:t>透明｜费用与限额先确认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5842" y="43878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报价、会员费率、额度与币种由统一规则校验</a:t>
              </a:r>
            </a:p>
          </p:txBody>
        </p:sp>
      </p:grpSp>
      <p:grpSp>
        <p:nvGrpSpPr>
          <p:cNvPr id="37" name="benefit-takeaway"/>
          <p:cNvGrpSpPr/>
          <p:nvPr/>
        </p:nvGrpSpPr>
        <p:grpSpPr>
          <a:xfrm>
            <a:off x="752475" y="5248275"/>
            <a:ext cx="10696575" cy="771525"/>
            <a:chOff x="752475" y="5248275"/>
            <a:chExt cx="10696575" cy="771525"/>
          </a:xfrm>
        </p:grpSpPr>
        <p:sp>
          <p:nvSpPr>
            <p:cNvPr id="34" name="Rectangle 34"/>
            <p:cNvSpPr/>
            <p:nvPr/>
          </p:nvSpPr>
          <p:spPr>
            <a:xfrm>
              <a:off x="752475" y="5248275"/>
              <a:ext cx="10696575" cy="771525"/>
            </a:xfrm>
            <a:prstGeom prst="roundRect">
              <a:avLst>
                <a:gd name="adj" fmla="val 7407"/>
              </a:avLst>
            </a:prstGeom>
            <a:solidFill>
              <a:srgbClr val="101C3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2693" y="534035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优势：操作入口集中，资金关系清晰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4598" y="5667375"/>
              <a:ext cx="44931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2DAEA"/>
                  </a:solidFill>
                  <a:latin typeface="Microsoft YaHei"/>
                  <a:ea typeface="Microsoft YaHei"/>
                  <a:cs typeface="Microsoft YaHei"/>
                </a:rPr>
                <a:t>卡片管理不改变资金归属；敏感动作仍由服务端验密与授权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ALGORITHM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转账：冻结 → 结清 / 释放</a:t>
            </a:r>
            <a:endParaRPr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749808" y="1298448"/>
            <a:ext cx="10692098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余额、冻结、流水与凭证同事务提交；异常整笔回滚，客户可在在途窗口撤销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 i="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/>
          <p:nvPr/>
        </p:nvSpPr>
        <p:spPr>
          <a:xfrm>
            <a:off x="877824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受理校验</a:t>
            </a:r>
          </a:p>
        </p:txBody>
      </p:sp>
      <p:sp>
        <p:nvSpPr>
          <p:cNvPr id="9" name="TextBox 8"/>
          <p:cNvSpPr/>
          <p:nvPr/>
        </p:nvSpPr>
        <p:spPr>
          <a:xfrm>
            <a:off x="877824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收款人核验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账户归属校验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渠道范围校验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4872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50592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96896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00" b="1" i="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/>
          <p:nvPr/>
        </p:nvSpPr>
        <p:spPr>
          <a:xfrm>
            <a:off x="2724912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报价限额</a:t>
            </a:r>
          </a:p>
        </p:txBody>
      </p:sp>
      <p:sp>
        <p:nvSpPr>
          <p:cNvPr id="16" name="TextBox 15"/>
          <p:cNvSpPr/>
          <p:nvPr/>
        </p:nvSpPr>
        <p:spPr>
          <a:xfrm>
            <a:off x="2724912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汇率与手续费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会员权益规则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单笔与单日限额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297679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43983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43983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D92159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 i="0">
              <a:solidFill>
                <a:srgbClr val="D921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/>
          <p:nvPr/>
        </p:nvSpPr>
        <p:spPr>
          <a:xfrm>
            <a:off x="4572000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支付验密</a:t>
            </a:r>
          </a:p>
        </p:txBody>
      </p:sp>
      <p:sp>
        <p:nvSpPr>
          <p:cNvPr id="23" name="TextBox 22"/>
          <p:cNvSpPr/>
          <p:nvPr/>
        </p:nvSpPr>
        <p:spPr>
          <a:xfrm>
            <a:off x="4572000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scrypt 验证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错误次数留存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不保存明文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7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6144767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1071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1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7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306F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 i="0">
              <a:solidFill>
                <a:srgbClr val="306F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/>
          <p:nvPr/>
        </p:nvSpPr>
        <p:spPr>
          <a:xfrm>
            <a:off x="6419088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冻结预留</a:t>
            </a:r>
          </a:p>
        </p:txBody>
      </p:sp>
      <p:sp>
        <p:nvSpPr>
          <p:cNvPr id="30" name="TextBox 29"/>
          <p:cNvSpPr/>
          <p:nvPr/>
        </p:nvSpPr>
        <p:spPr>
          <a:xfrm>
            <a:off x="6419088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按付款币种预留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只占本指令金额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并发事务锁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46136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7991856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59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8159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6175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306FD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300" b="1" i="0">
              <a:solidFill>
                <a:srgbClr val="306F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/>
          <p:nvPr/>
        </p:nvSpPr>
        <p:spPr>
          <a:xfrm>
            <a:off x="8266176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指令落账</a:t>
            </a:r>
          </a:p>
        </p:txBody>
      </p:sp>
      <p:sp>
        <p:nvSpPr>
          <p:cNvPr id="37" name="TextBox 36"/>
          <p:cNvSpPr/>
          <p:nvPr/>
        </p:nvSpPr>
        <p:spPr>
          <a:xfrm>
            <a:off x="8266176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记录在途状态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双边流水与凭证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幂等响应同事务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93224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5400000">
            <a:off x="9838944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85247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85247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13263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F8A8A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300" b="1" i="0">
              <a:solidFill>
                <a:srgbClr val="0F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/>
          <p:nvPr/>
        </p:nvSpPr>
        <p:spPr>
          <a:xfrm>
            <a:off x="10113264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结清／释放</a:t>
            </a:r>
          </a:p>
        </p:txBody>
      </p:sp>
      <p:sp>
        <p:nvSpPr>
          <p:cNvPr id="44" name="TextBox 43"/>
          <p:cNvSpPr/>
          <p:nvPr/>
        </p:nvSpPr>
        <p:spPr>
          <a:xfrm>
            <a:off x="10113264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结清确认后扣款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撤销释放原冻结</a:t>
            </a:r>
            <a:br/>
            <a:r>
              <a:rPr lang="zh-CN" sz="106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回执只增不改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8" y="3218688"/>
            <a:ext cx="5074920" cy="1207008"/>
          </a:xfrm>
          <a:prstGeom prst="roundRect">
            <a:avLst>
              <a:gd name="adj" fmla="val 6000"/>
            </a:avLst>
          </a:prstGeom>
          <a:solidFill>
            <a:srgbClr val="FFF5F8"/>
          </a:solidFill>
          <a:ln w="10160">
            <a:solidFill>
              <a:srgbClr val="F6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/>
          <p:nvPr/>
        </p:nvSpPr>
        <p:spPr>
          <a:xfrm>
            <a:off x="987552" y="3346704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9054" rIns="0" bIns="0" anchor="t" anchorCtr="0">
            <a:noAutofit/>
          </a:bodyPr>
          <a:lstStyle/>
          <a:p>
            <a:pPr algn="l"/>
            <a:r>
              <a:rPr lang="zh-CN" sz="1580" b="1" dirty="0">
                <a:solidFill>
                  <a:srgbClr val="D92159"/>
                </a:solidFill>
                <a:latin typeface="Microsoft YaHei"/>
                <a:ea typeface="Microsoft YaHei"/>
                <a:cs typeface="Microsoft YaHei"/>
              </a:rPr>
              <a:t>便捷｜在途可撤销，冻结有边界</a:t>
            </a:r>
          </a:p>
        </p:txBody>
      </p:sp>
      <p:sp>
        <p:nvSpPr>
          <p:cNvPr id="47" name="TextBox 46"/>
          <p:cNvSpPr/>
          <p:nvPr/>
        </p:nvSpPr>
        <p:spPr>
          <a:xfrm>
            <a:off x="987552" y="3621024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>
              <a:lnSpc>
                <a:spcPts val="1875"/>
              </a:lnSpc>
            </a:pPr>
            <a:r>
              <a:rPr lang="zh-CN" sz="12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只释放本指令、本币种的预留金额</a:t>
            </a:r>
            <a:br/>
            <a:r>
              <a:rPr lang="zh-CN" sz="12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其他指令与币种不受影响</a:t>
            </a:r>
            <a:br/>
            <a:r>
              <a:rPr lang="zh-CN" sz="12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员工处置沿用原指令，保留版本与审批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3218688"/>
            <a:ext cx="5312664" cy="1207008"/>
          </a:xfrm>
          <a:prstGeom prst="roundRect">
            <a:avLst>
              <a:gd name="adj" fmla="val 6000"/>
            </a:avLst>
          </a:prstGeom>
          <a:solidFill>
            <a:srgbClr val="F0FBFB"/>
          </a:solidFill>
          <a:ln w="10160">
            <a:solidFill>
              <a:srgbClr val="C9E9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/>
          <p:nvPr/>
        </p:nvSpPr>
        <p:spPr>
          <a:xfrm>
            <a:off x="6364224" y="334670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9054" rIns="0" bIns="0" anchor="t" anchorCtr="0">
            <a:noAutofit/>
          </a:bodyPr>
          <a:lstStyle/>
          <a:p>
            <a:pPr algn="l"/>
            <a:r>
              <a:rPr lang="zh-CN" sz="1580" b="1" dirty="0">
                <a:solidFill>
                  <a:srgbClr val="0F8A8A"/>
                </a:solidFill>
                <a:latin typeface="Microsoft YaHei"/>
                <a:ea typeface="Microsoft YaHei"/>
                <a:cs typeface="Microsoft YaHei"/>
              </a:rPr>
              <a:t>安全｜防重复提交，异常整体回滚</a:t>
            </a:r>
          </a:p>
        </p:txBody>
      </p:sp>
      <p:sp>
        <p:nvSpPr>
          <p:cNvPr id="50" name="TextBox 49"/>
          <p:cNvSpPr/>
          <p:nvPr/>
        </p:nvSpPr>
        <p:spPr>
          <a:xfrm>
            <a:off x="6364224" y="3621024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>
              <a:lnSpc>
                <a:spcPts val="1875"/>
              </a:lnSpc>
            </a:pPr>
            <a:r>
              <a:rPr lang="zh-CN" sz="12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同键同参数返回首次响应</a:t>
            </a:r>
            <a:br/>
            <a:r>
              <a:rPr lang="zh-CN" sz="12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同键不同参数拒绝，避免重复办理</a:t>
            </a:r>
            <a:br/>
            <a:r>
              <a:rPr lang="zh-CN" sz="128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本金、费用、流水与审计在同一事务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" y="4645152"/>
            <a:ext cx="10692079" cy="841248"/>
          </a:xfrm>
          <a:prstGeom prst="roundRect">
            <a:avLst>
              <a:gd name="adj" fmla="val 6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/>
          <p:nvPr/>
        </p:nvSpPr>
        <p:spPr>
          <a:xfrm>
            <a:off x="1060704" y="4773168"/>
            <a:ext cx="1005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20765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核心优势：资金变更与证据同步提交</a:t>
            </a:r>
          </a:p>
        </p:txBody>
      </p:sp>
      <p:sp>
        <p:nvSpPr>
          <p:cNvPr id="53" name="TextBox 52"/>
          <p:cNvSpPr/>
          <p:nvPr/>
        </p:nvSpPr>
        <p:spPr>
          <a:xfrm>
            <a:off x="1060704" y="5029200"/>
            <a:ext cx="10052018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崩溃或校验失败整笔回滚，避免出现资金已变动、流水或凭证未完成的中间状态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§3.6、§5.2</a:t>
            </a:r>
          </a:p>
        </p:txBody>
      </p:sp>
      <p:sp>
        <p:nvSpPr>
          <p:cNvPr id="57" name="TextBox 56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账单与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资金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§3.4、§3.7、§3.9</a:t>
            </a:r>
          </a:p>
        </p:txBody>
      </p:sp>
      <p:sp>
        <p:nvSpPr>
          <p:cNvPr id="53" name="TextBox 52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06 / 11</a:t>
            </a:r>
          </a:p>
        </p:txBody>
      </p:sp>
      <p:grpSp>
        <p:nvGrpSpPr>
          <p:cNvPr id="14" name="statements"/>
          <p:cNvGrpSpPr/>
          <p:nvPr/>
        </p:nvGrpSpPr>
        <p:grpSpPr>
          <a:xfrm>
            <a:off x="752475" y="1857375"/>
            <a:ext cx="3381375" cy="3219450"/>
            <a:chOff x="752475" y="1857375"/>
            <a:chExt cx="3381375" cy="3219450"/>
          </a:xfrm>
        </p:grpSpPr>
        <p:sp>
          <p:nvSpPr>
            <p:cNvPr id="9" name="Rectangle 9"/>
            <p:cNvSpPr/>
            <p:nvPr/>
          </p:nvSpPr>
          <p:spPr>
            <a:xfrm>
              <a:off x="752475" y="1857375"/>
              <a:ext cx="3381375" cy="321945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1857375"/>
              <a:ext cx="3381375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1931" y="20415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账单看得清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2693" y="25304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统一统计口径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217" y="2936875"/>
              <a:ext cx="2062544" cy="1407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按币种查看成功记账流水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自然月／年报告，支持 CSV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换汇不计入收入与支出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查询截止时点明确可见</a:t>
              </a:r>
            </a:p>
          </p:txBody>
        </p:sp>
      </p:grpSp>
      <p:grpSp>
        <p:nvGrpSpPr>
          <p:cNvPr id="20" name="budgets"/>
          <p:cNvGrpSpPr/>
          <p:nvPr/>
        </p:nvGrpSpPr>
        <p:grpSpPr>
          <a:xfrm>
            <a:off x="4410075" y="1857375"/>
            <a:ext cx="3381375" cy="3219450"/>
            <a:chOff x="4410075" y="1857375"/>
            <a:chExt cx="3381375" cy="3219450"/>
          </a:xfrm>
        </p:grpSpPr>
        <p:sp>
          <p:nvSpPr>
            <p:cNvPr id="15" name="Rectangle 15"/>
            <p:cNvSpPr/>
            <p:nvPr/>
          </p:nvSpPr>
          <p:spPr>
            <a:xfrm>
              <a:off x="4410075" y="1857375"/>
              <a:ext cx="3381375" cy="321945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10075" y="1857375"/>
              <a:ext cx="3381375" cy="38100"/>
            </a:xfrm>
            <a:prstGeom prst="roundRect">
              <a:avLst>
                <a:gd name="adj" fmla="val 50000"/>
              </a:avLst>
            </a:prstGeom>
            <a:solidFill>
              <a:srgbClr val="306FD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29531" y="20415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预算管得住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0293" y="25304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06FDB"/>
                  </a:solidFill>
                  <a:latin typeface="Microsoft YaHei"/>
                  <a:ea typeface="Microsoft YaHei"/>
                  <a:cs typeface="Microsoft YaHei"/>
                </a:rPr>
                <a:t>额度在消费前校验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31817" y="2936875"/>
              <a:ext cx="1968246" cy="1407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商户每日额度可配置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超额在记账前拦截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达标日结算积分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30 积分兑换指定日额度券</a:t>
              </a:r>
            </a:p>
          </p:txBody>
        </p:sp>
      </p:grpSp>
      <p:grpSp>
        <p:nvGrpSpPr>
          <p:cNvPr id="26" name="splitting"/>
          <p:cNvGrpSpPr/>
          <p:nvPr/>
        </p:nvGrpSpPr>
        <p:grpSpPr>
          <a:xfrm>
            <a:off x="8067675" y="1857375"/>
            <a:ext cx="3381375" cy="3219450"/>
            <a:chOff x="8067675" y="1857375"/>
            <a:chExt cx="3381375" cy="3219450"/>
          </a:xfrm>
        </p:grpSpPr>
        <p:sp>
          <p:nvSpPr>
            <p:cNvPr id="21" name="Rectangle 21"/>
            <p:cNvSpPr/>
            <p:nvPr/>
          </p:nvSpPr>
          <p:spPr>
            <a:xfrm>
              <a:off x="8067675" y="1857375"/>
              <a:ext cx="3381375" cy="321945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67675" y="1857375"/>
              <a:ext cx="3381375" cy="38100"/>
            </a:xfrm>
            <a:prstGeom prst="roundRect">
              <a:avLst>
                <a:gd name="adj" fmla="val 50000"/>
              </a:avLst>
            </a:prstGeom>
            <a:solidFill>
              <a:srgbClr val="0F8A8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7131" y="2041525"/>
              <a:ext cx="11216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AA 分得准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87893" y="25304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8A8A"/>
                  </a:solidFill>
                  <a:latin typeface="Microsoft YaHei"/>
                  <a:ea typeface="Microsoft YaHei"/>
                  <a:cs typeface="Microsoft YaHei"/>
                </a:rPr>
                <a:t>精确到整数分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89417" y="2936875"/>
              <a:ext cx="2071116" cy="1407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余分按参与者顺序分配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分摊合计严格等于总额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回款匹配真实成功转入流水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同一流水不能重复认领</a:t>
              </a:r>
            </a:p>
          </p:txBody>
        </p:sp>
      </p:grpSp>
      <p:grpSp>
        <p:nvGrpSpPr>
          <p:cNvPr id="30" name="benefit-takeaway"/>
          <p:cNvGrpSpPr/>
          <p:nvPr/>
        </p:nvGrpSpPr>
        <p:grpSpPr>
          <a:xfrm>
            <a:off x="752475" y="5248275"/>
            <a:ext cx="10696575" cy="771525"/>
            <a:chOff x="752475" y="5248275"/>
            <a:chExt cx="10696575" cy="771525"/>
          </a:xfrm>
        </p:grpSpPr>
        <p:sp>
          <p:nvSpPr>
            <p:cNvPr id="27" name="Rectangle 27"/>
            <p:cNvSpPr/>
            <p:nvPr/>
          </p:nvSpPr>
          <p:spPr>
            <a:xfrm>
              <a:off x="752475" y="5248275"/>
              <a:ext cx="10696575" cy="771525"/>
            </a:xfrm>
            <a:prstGeom prst="roundRect">
              <a:avLst>
                <a:gd name="adj" fmla="val 7407"/>
              </a:avLst>
            </a:prstGeom>
            <a:solidFill>
              <a:srgbClr val="101C3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2693" y="5340350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优势：看清资金、约束支出、减少手工核对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4598" y="5667375"/>
              <a:ext cx="53546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2DAEA"/>
                  </a:solidFill>
                  <a:latin typeface="Microsoft YaHei"/>
                  <a:ea typeface="Microsoft YaHei"/>
                  <a:cs typeface="Microsoft YaHei"/>
                </a:rPr>
                <a:t>统一时间与币种口径；预算、积分与分摊由共享规则计算，结果可复核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理财与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储蓄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§3.4–3.5、§3.8</a:t>
            </a:r>
          </a:p>
        </p:txBody>
      </p:sp>
      <p:sp>
        <p:nvSpPr>
          <p:cNvPr id="53" name="TextBox 52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07 / 11</a:t>
            </a:r>
          </a:p>
        </p:txBody>
      </p:sp>
      <p:grpSp>
        <p:nvGrpSpPr>
          <p:cNvPr id="10" name="wealth-subtitle"/>
          <p:cNvGrpSpPr/>
          <p:nvPr/>
        </p:nvGrpSpPr>
        <p:grpSpPr>
          <a:xfrm>
            <a:off x="745236" y="1355725"/>
            <a:ext cx="4411167" cy="278702"/>
            <a:chOff x="745236" y="1355725"/>
            <a:chExt cx="4411167" cy="278702"/>
          </a:xfrm>
        </p:grpSpPr>
        <p:sp>
          <p:nvSpPr>
            <p:cNvPr id="9" name="TextBox 9"/>
            <p:cNvSpPr txBox="1"/>
            <p:nvPr/>
          </p:nvSpPr>
          <p:spPr>
            <a:xfrm>
              <a:off x="745236" y="1355725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理财筛选有依据，日常消费有预算，模拟场景可验证</a:t>
              </a:r>
            </a:p>
          </p:txBody>
        </p:sp>
      </p:grpSp>
      <p:grpSp>
        <p:nvGrpSpPr>
          <p:cNvPr id="18" name="transparent-wealth"/>
          <p:cNvGrpSpPr/>
          <p:nvPr/>
        </p:nvGrpSpPr>
        <p:grpSpPr>
          <a:xfrm>
            <a:off x="752475" y="1857375"/>
            <a:ext cx="5105400" cy="3333750"/>
            <a:chOff x="752475" y="1857375"/>
            <a:chExt cx="5105400" cy="3333750"/>
          </a:xfrm>
        </p:grpSpPr>
        <p:sp>
          <p:nvSpPr>
            <p:cNvPr id="11" name="Rectangle 11"/>
            <p:cNvSpPr/>
            <p:nvPr/>
          </p:nvSpPr>
          <p:spPr>
            <a:xfrm>
              <a:off x="752475" y="1857375"/>
              <a:ext cx="5105400" cy="333375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2475" y="1857375"/>
              <a:ext cx="5105400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1931" y="20415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理财匹配：理由透明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2693" y="2463800"/>
              <a:ext cx="32186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风险测评 → 金额门槛 → 期限偏好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3836" y="2863850"/>
              <a:ext cx="2899918" cy="1021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排序与排除理由全部可见</a:t>
              </a:r>
              <a:b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申购批次与封闭期独立保留</a:t>
              </a:r>
              <a:b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赎回仅处理已开放批次，按先进先出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81075" y="4410075"/>
              <a:ext cx="4648200" cy="504825"/>
            </a:xfrm>
            <a:prstGeom prst="roundRect">
              <a:avLst>
                <a:gd name="adj" fmla="val 13208"/>
              </a:avLst>
            </a:prstGeom>
            <a:solidFill>
              <a:srgbClr val="F2F0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45286" y="4546600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申购：适当性＋风险语句＋支付密码</a:t>
              </a:r>
            </a:p>
          </p:txBody>
        </p:sp>
      </p:grpSp>
      <p:grpSp>
        <p:nvGrpSpPr>
          <p:cNvPr id="32" name="budget-and-consumption"/>
          <p:cNvGrpSpPr/>
          <p:nvPr/>
        </p:nvGrpSpPr>
        <p:grpSpPr>
          <a:xfrm>
            <a:off x="6134100" y="1857375"/>
            <a:ext cx="5314950" cy="3333750"/>
            <a:chOff x="6134100" y="1857375"/>
            <a:chExt cx="5314950" cy="3333750"/>
          </a:xfrm>
        </p:grpSpPr>
        <p:sp>
          <p:nvSpPr>
            <p:cNvPr id="19" name="Rectangle 19"/>
            <p:cNvSpPr/>
            <p:nvPr/>
          </p:nvSpPr>
          <p:spPr>
            <a:xfrm>
              <a:off x="6134100" y="1857375"/>
              <a:ext cx="5314950" cy="333375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34100" y="1857375"/>
              <a:ext cx="5314950" cy="38100"/>
            </a:xfrm>
            <a:prstGeom prst="roundRect">
              <a:avLst>
                <a:gd name="adj" fmla="val 50000"/>
              </a:avLst>
            </a:prstGeom>
            <a:solidFill>
              <a:srgbClr val="0F8A8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3556" y="2041525"/>
              <a:ext cx="2249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预算控制 × 模拟消费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362700" y="2505075"/>
              <a:ext cx="1600200" cy="800100"/>
            </a:xfrm>
            <a:prstGeom prst="roundRect">
              <a:avLst>
                <a:gd name="adj" fmla="val 9524"/>
              </a:avLst>
            </a:prstGeom>
            <a:solidFill>
              <a:srgbClr val="EDF8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29400" y="26193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F8A8A"/>
                  </a:solidFill>
                  <a:latin typeface="Microsoft YaHei"/>
                  <a:ea typeface="Microsoft YaHei"/>
                  <a:cs typeface="Microsoft YaHei"/>
                </a:rPr>
                <a:t>设置预算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72072" y="29432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商户每日限额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991475" y="2505075"/>
              <a:ext cx="1600200" cy="800100"/>
            </a:xfrm>
            <a:prstGeom prst="roundRect">
              <a:avLst>
                <a:gd name="adj" fmla="val 9524"/>
              </a:avLst>
            </a:prstGeom>
            <a:solidFill>
              <a:srgbClr val="EDF8F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58175" y="26193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F8A8A"/>
                  </a:solidFill>
                  <a:latin typeface="Microsoft YaHei"/>
                  <a:ea typeface="Microsoft YaHei"/>
                  <a:cs typeface="Microsoft YaHei"/>
                </a:rPr>
                <a:t>模拟刷卡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0075" y="29432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校验卡片与额度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620250" y="2505075"/>
              <a:ext cx="1600200" cy="800100"/>
            </a:xfrm>
            <a:prstGeom prst="roundRect">
              <a:avLst>
                <a:gd name="adj" fmla="val 9524"/>
              </a:avLst>
            </a:prstGeom>
            <a:solidFill>
              <a:srgbClr val="EDF8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86950" y="26193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F8A8A"/>
                  </a:solidFill>
                  <a:latin typeface="Microsoft YaHei"/>
                  <a:ea typeface="Microsoft YaHei"/>
                  <a:cs typeface="Microsoft YaHei"/>
                </a:rPr>
                <a:t>超额拦截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10394" y="29432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记账前拒绝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5461" y="3463925"/>
              <a:ext cx="3278632" cy="1021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达标日结算积分，额度券按指定日期使用</a:t>
              </a:r>
              <a:b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消费先记账、后台再补分类</a:t>
              </a:r>
              <a:b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模型失败保留“其他”，不影响已完成账务</a:t>
              </a:r>
            </a:p>
          </p:txBody>
        </p:sp>
      </p:grpSp>
      <p:grpSp>
        <p:nvGrpSpPr>
          <p:cNvPr id="36" name="benefit-takeaway"/>
          <p:cNvGrpSpPr/>
          <p:nvPr/>
        </p:nvGrpSpPr>
        <p:grpSpPr>
          <a:xfrm>
            <a:off x="752475" y="5353050"/>
            <a:ext cx="10696575" cy="669417"/>
            <a:chOff x="752475" y="5353050"/>
            <a:chExt cx="10696575" cy="669417"/>
          </a:xfrm>
        </p:grpSpPr>
        <p:sp>
          <p:nvSpPr>
            <p:cNvPr id="33" name="Rectangle 33"/>
            <p:cNvSpPr/>
            <p:nvPr/>
          </p:nvSpPr>
          <p:spPr>
            <a:xfrm>
              <a:off x="752475" y="5353050"/>
              <a:ext cx="10696575" cy="666750"/>
            </a:xfrm>
            <a:prstGeom prst="roundRect">
              <a:avLst>
                <a:gd name="adj" fmla="val 8571"/>
              </a:avLst>
            </a:prstGeom>
            <a:solidFill>
              <a:srgbClr val="101C3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2693" y="544512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优势：财富管理不只选产品，也帮助控制日常支出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598" y="5772150"/>
              <a:ext cx="48635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2DAEA"/>
                  </a:solidFill>
                  <a:latin typeface="Microsoft YaHei"/>
                  <a:ea typeface="Microsoft YaHei"/>
                  <a:cs typeface="Microsoft YaHei"/>
                </a:rPr>
                <a:t>模拟消费仅限 sandbox；理财匹配不预测收益，不构成申购授权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个人与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§4.3–4.9</a:t>
            </a:r>
          </a:p>
        </p:txBody>
      </p:sp>
      <p:sp>
        <p:nvSpPr>
          <p:cNvPr id="53" name="TextBox 52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08 / 11</a:t>
            </a:r>
          </a:p>
        </p:txBody>
      </p:sp>
      <p:grpSp>
        <p:nvGrpSpPr>
          <p:cNvPr id="15" name="customer-consent"/>
          <p:cNvGrpSpPr/>
          <p:nvPr/>
        </p:nvGrpSpPr>
        <p:grpSpPr>
          <a:xfrm>
            <a:off x="752475" y="1857375"/>
            <a:ext cx="3333750" cy="3333750"/>
            <a:chOff x="752475" y="1857375"/>
            <a:chExt cx="3333750" cy="3333750"/>
          </a:xfrm>
        </p:grpSpPr>
        <p:sp>
          <p:nvSpPr>
            <p:cNvPr id="9" name="Rectangle 9"/>
            <p:cNvSpPr/>
            <p:nvPr/>
          </p:nvSpPr>
          <p:spPr>
            <a:xfrm>
              <a:off x="752475" y="1857375"/>
              <a:ext cx="3333750" cy="333375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1857375"/>
              <a:ext cx="3333750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1931" y="20415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客户掌握授权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8502" y="2466975"/>
              <a:ext cx="1026719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确认卡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0026" y="29337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＋支付密码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3836" y="3454400"/>
              <a:ext cx="1989201" cy="1021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写操作由本人明确确认</a:t>
              </a:r>
              <a:b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180 秒未确认，默认拒绝</a:t>
              </a:r>
              <a:b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模型不能代替客户授权</a:t>
              </a:r>
            </a:p>
          </p:txBody>
        </p:sp>
      </p:grpSp>
      <p:grpSp>
        <p:nvGrpSpPr>
          <p:cNvPr id="20" name="auth"/>
          <p:cNvGrpSpPr/>
          <p:nvPr/>
        </p:nvGrpSpPr>
        <p:grpSpPr>
          <a:xfrm>
            <a:off x="4362450" y="1857375"/>
            <a:ext cx="3429000" cy="1581150"/>
            <a:chOff x="4362450" y="1857375"/>
            <a:chExt cx="3429000" cy="1581150"/>
          </a:xfrm>
        </p:grpSpPr>
        <p:sp>
          <p:nvSpPr>
            <p:cNvPr id="16" name="Rectangle 16"/>
            <p:cNvSpPr/>
            <p:nvPr/>
          </p:nvSpPr>
          <p:spPr>
            <a:xfrm>
              <a:off x="4362450" y="1857375"/>
              <a:ext cx="34290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62450" y="1857375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306FD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81906" y="20415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身份与会话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84573" y="2527300"/>
              <a:ext cx="2451354" cy="545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三段登录＋双维度限流</a:t>
              </a:r>
              <a:b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令牌只存摘要，改密撤销其他会话</a:t>
              </a:r>
            </a:p>
          </p:txBody>
        </p:sp>
      </p:grpSp>
      <p:grpSp>
        <p:nvGrpSpPr>
          <p:cNvPr id="25" name="crypto"/>
          <p:cNvGrpSpPr/>
          <p:nvPr/>
        </p:nvGrpSpPr>
        <p:grpSpPr>
          <a:xfrm>
            <a:off x="8020050" y="1857375"/>
            <a:ext cx="3429000" cy="1581150"/>
            <a:chOff x="8020050" y="1857375"/>
            <a:chExt cx="3429000" cy="1581150"/>
          </a:xfrm>
        </p:grpSpPr>
        <p:sp>
          <p:nvSpPr>
            <p:cNvPr id="21" name="Rectangle 21"/>
            <p:cNvSpPr/>
            <p:nvPr/>
          </p:nvSpPr>
          <p:spPr>
            <a:xfrm>
              <a:off x="8020050" y="1857375"/>
              <a:ext cx="34290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20050" y="1857375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0F8A8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39506" y="20415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口令与敏感数据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2173" y="2527300"/>
              <a:ext cx="2053082" cy="545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scrypt 哈希存储口令</a:t>
              </a:r>
              <a:b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AES-256-GCM 加密敏感字段</a:t>
              </a:r>
            </a:p>
          </p:txBody>
        </p:sp>
      </p:grpSp>
      <p:grpSp>
        <p:nvGrpSpPr>
          <p:cNvPr id="30" name="permissions"/>
          <p:cNvGrpSpPr/>
          <p:nvPr/>
        </p:nvGrpSpPr>
        <p:grpSpPr>
          <a:xfrm>
            <a:off x="4362450" y="3609975"/>
            <a:ext cx="3429000" cy="1581150"/>
            <a:chOff x="4362450" y="3609975"/>
            <a:chExt cx="3429000" cy="1581150"/>
          </a:xfrm>
        </p:grpSpPr>
        <p:sp>
          <p:nvSpPr>
            <p:cNvPr id="26" name="Rectangle 26"/>
            <p:cNvSpPr/>
            <p:nvPr/>
          </p:nvSpPr>
          <p:spPr>
            <a:xfrm>
              <a:off x="4362450" y="3609975"/>
              <a:ext cx="34290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62450" y="3609975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81906" y="37941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最小权限隔离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4573" y="4279900"/>
              <a:ext cx="2630170" cy="545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客户、员工与运维分权</a:t>
              </a:r>
              <a:b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应用、数据库所有者与 worker 分离</a:t>
              </a:r>
            </a:p>
          </p:txBody>
        </p:sp>
      </p:grpSp>
      <p:grpSp>
        <p:nvGrpSpPr>
          <p:cNvPr id="35" name="audit"/>
          <p:cNvGrpSpPr/>
          <p:nvPr/>
        </p:nvGrpSpPr>
        <p:grpSpPr>
          <a:xfrm>
            <a:off x="8020050" y="3609975"/>
            <a:ext cx="3429000" cy="1581150"/>
            <a:chOff x="8020050" y="3609975"/>
            <a:chExt cx="3429000" cy="1581150"/>
          </a:xfrm>
        </p:grpSpPr>
        <p:sp>
          <p:nvSpPr>
            <p:cNvPr id="31" name="Rectangle 31"/>
            <p:cNvSpPr/>
            <p:nvPr/>
          </p:nvSpPr>
          <p:spPr>
            <a:xfrm>
              <a:off x="8020050" y="3609975"/>
              <a:ext cx="34290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20050" y="3609975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D9215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39506" y="37941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审计、对账与恢复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2173" y="4279900"/>
              <a:ext cx="2288794" cy="545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请求、认证、资金操作留痕</a:t>
              </a:r>
              <a:b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回执不可变，差异进入异常队列</a:t>
              </a:r>
            </a:p>
          </p:txBody>
        </p:sp>
      </p:grpSp>
      <p:grpSp>
        <p:nvGrpSpPr>
          <p:cNvPr id="39" name="benefit-takeaway"/>
          <p:cNvGrpSpPr/>
          <p:nvPr/>
        </p:nvGrpSpPr>
        <p:grpSpPr>
          <a:xfrm>
            <a:off x="752475" y="5362575"/>
            <a:ext cx="10696575" cy="669417"/>
            <a:chOff x="752475" y="5362575"/>
            <a:chExt cx="10696575" cy="669417"/>
          </a:xfrm>
        </p:grpSpPr>
        <p:sp>
          <p:nvSpPr>
            <p:cNvPr id="36" name="Rectangle 36"/>
            <p:cNvSpPr/>
            <p:nvPr/>
          </p:nvSpPr>
          <p:spPr>
            <a:xfrm>
              <a:off x="752475" y="5362575"/>
              <a:ext cx="10696575" cy="657225"/>
            </a:xfrm>
            <a:prstGeom prst="roundRect">
              <a:avLst>
                <a:gd name="adj" fmla="val 8696"/>
              </a:avLst>
            </a:prstGeom>
            <a:solidFill>
              <a:srgbClr val="101C3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2693" y="5454650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优势：身份、数据、权限与账务，各有明确控制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4598" y="5781675"/>
              <a:ext cx="51823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2DAEA"/>
                  </a:solidFill>
                  <a:latin typeface="Microsoft YaHei"/>
                  <a:ea typeface="Microsoft YaHei"/>
                  <a:cs typeface="Microsoft YaHei"/>
                </a:rPr>
                <a:t>live 下未接入的外部能力明确拒绝；不以模拟结果冒充真实办理成功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PART 05 </a:t>
            </a:r>
            <a:r>
              <a:rPr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0592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487168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60903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60903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398264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6309360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3096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83096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443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2999232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2F0FF"/>
          </a:solidFill>
          <a:ln>
            <a:noFill/>
          </a:ln>
        </p:spPr>
        <p:txBody>
          <a:bodyPr wrap="none" lIns="212217" tIns="174022" rIns="0" bIns="0" anchor="t" anchorCtr="0">
            <a:noAutofit/>
          </a:bodyPr>
          <a:lstStyle/>
          <a:p>
            <a:pPr algn="l"/>
            <a:r>
              <a:rPr lang="zh-CN" sz="1580" b="1" dirty="0">
                <a:solidFill>
                  <a:srgbClr val="533AFD"/>
                </a:solidFill>
                <a:latin typeface="Microsoft YaHei"/>
                <a:ea typeface="Microsoft YaHei"/>
                <a:cs typeface="Microsoft YaHei"/>
              </a:rPr>
              <a:t>模型负责理解与表达；服务端决定事实、权限与资金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785615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3913631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8" y="4443983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4571999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9808" y="5102351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400" y="5230367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49056" y="1755648"/>
            <a:ext cx="2999232" cy="23042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49056" y="1755648"/>
            <a:ext cx="2999232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49056" y="4187952"/>
            <a:ext cx="2999232" cy="1316736"/>
          </a:xfrm>
          <a:prstGeom prst="roundRect">
            <a:avLst>
              <a:gd name="adj" fmla="val 5500"/>
            </a:avLst>
          </a:prstGeom>
          <a:solidFill>
            <a:srgbClr val="F2F0FF"/>
          </a:solidFill>
          <a:ln w="11430">
            <a:solidFill>
              <a:srgbClr val="EA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449056" y="4187952"/>
            <a:ext cx="2999232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§2.5、§3.11、§4.8</a:t>
            </a:r>
          </a:p>
        </p:txBody>
      </p:sp>
      <p:sp>
        <p:nvSpPr>
          <p:cNvPr id="55" name="TextBox 54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09 / 11</a:t>
            </a:r>
          </a:p>
        </p:txBody>
      </p:sp>
      <p:grpSp>
        <p:nvGrpSpPr>
          <p:cNvPr id="66" name="content-5"/>
          <p:cNvGrpSpPr/>
          <p:nvPr/>
        </p:nvGrpSpPr>
        <p:grpSpPr>
          <a:xfrm>
            <a:off x="875157" y="1850898"/>
            <a:ext cx="867156" cy="731202"/>
            <a:chOff x="875157" y="1850898"/>
            <a:chExt cx="867156" cy="731202"/>
          </a:xfrm>
        </p:grpSpPr>
        <p:sp>
          <p:nvSpPr>
            <p:cNvPr id="64" name="TextBox 64"/>
            <p:cNvSpPr txBox="1"/>
            <p:nvPr/>
          </p:nvSpPr>
          <p:spPr>
            <a:xfrm>
              <a:off x="875157" y="1850898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理解需求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7443" y="2142998"/>
              <a:ext cx="86487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知识库＋会话</a:t>
              </a:r>
              <a:b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识别业务意图</a:t>
              </a:r>
            </a:p>
          </p:txBody>
        </p:sp>
      </p:grpSp>
      <p:grpSp>
        <p:nvGrpSpPr>
          <p:cNvPr id="69" name="content-11"/>
          <p:cNvGrpSpPr/>
          <p:nvPr/>
        </p:nvGrpSpPr>
        <p:grpSpPr>
          <a:xfrm>
            <a:off x="2786253" y="1850898"/>
            <a:ext cx="867156" cy="731202"/>
            <a:chOff x="2786253" y="1850898"/>
            <a:chExt cx="867156" cy="731202"/>
          </a:xfrm>
        </p:grpSpPr>
        <p:sp>
          <p:nvSpPr>
            <p:cNvPr id="67" name="TextBox 67"/>
            <p:cNvSpPr txBox="1"/>
            <p:nvPr/>
          </p:nvSpPr>
          <p:spPr>
            <a:xfrm>
              <a:off x="2786253" y="1850898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受控工具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788539" y="2142998"/>
              <a:ext cx="86487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白名单校验</a:t>
              </a:r>
              <a:b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逐次校验归属</a:t>
              </a:r>
            </a:p>
          </p:txBody>
        </p:sp>
      </p:grpSp>
      <p:grpSp>
        <p:nvGrpSpPr>
          <p:cNvPr id="72" name="content-17"/>
          <p:cNvGrpSpPr/>
          <p:nvPr/>
        </p:nvGrpSpPr>
        <p:grpSpPr>
          <a:xfrm>
            <a:off x="4697349" y="1850898"/>
            <a:ext cx="867156" cy="731202"/>
            <a:chOff x="4697349" y="1850898"/>
            <a:chExt cx="867156" cy="731202"/>
          </a:xfrm>
        </p:grpSpPr>
        <p:sp>
          <p:nvSpPr>
            <p:cNvPr id="70" name="TextBox 70"/>
            <p:cNvSpPr txBox="1"/>
            <p:nvPr/>
          </p:nvSpPr>
          <p:spPr>
            <a:xfrm>
              <a:off x="4697349" y="1850898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本人确认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699635" y="2142998"/>
              <a:ext cx="86487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确认卡＋验密</a:t>
              </a:r>
              <a:b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超时默认拒绝</a:t>
              </a:r>
            </a:p>
          </p:txBody>
        </p:sp>
      </p:grpSp>
      <p:grpSp>
        <p:nvGrpSpPr>
          <p:cNvPr id="75" name="content-23"/>
          <p:cNvGrpSpPr/>
          <p:nvPr/>
        </p:nvGrpSpPr>
        <p:grpSpPr>
          <a:xfrm>
            <a:off x="6608445" y="1850898"/>
            <a:ext cx="1151636" cy="731202"/>
            <a:chOff x="6608445" y="1850898"/>
            <a:chExt cx="1151636" cy="731202"/>
          </a:xfrm>
        </p:grpSpPr>
        <p:sp>
          <p:nvSpPr>
            <p:cNvPr id="73" name="TextBox 73"/>
            <p:cNvSpPr txBox="1"/>
            <p:nvPr/>
          </p:nvSpPr>
          <p:spPr>
            <a:xfrm>
              <a:off x="6608445" y="1850898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接口执行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10731" y="2142998"/>
              <a:ext cx="114935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服务端重新校验</a:t>
              </a:r>
              <a:b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12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返回真实业务结果</a:t>
              </a:r>
            </a:p>
          </p:txBody>
        </p:sp>
      </p:grpSp>
      <p:grpSp>
        <p:nvGrpSpPr>
          <p:cNvPr id="79" name="content-29"/>
          <p:cNvGrpSpPr/>
          <p:nvPr/>
        </p:nvGrpSpPr>
        <p:grpSpPr>
          <a:xfrm>
            <a:off x="979932" y="3845941"/>
            <a:ext cx="2991993" cy="479171"/>
            <a:chOff x="979932" y="3845941"/>
            <a:chExt cx="2991993" cy="479171"/>
          </a:xfrm>
        </p:grpSpPr>
        <p:sp>
          <p:nvSpPr>
            <p:cNvPr id="76" name="TextBox 76"/>
            <p:cNvSpPr txBox="1"/>
            <p:nvPr/>
          </p:nvSpPr>
          <p:spPr>
            <a:xfrm>
              <a:off x="979932" y="4004691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373505" y="3845941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只查本人数据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375029" y="4090416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查询失败明确报错，不以零金额代替</a:t>
              </a:r>
            </a:p>
          </p:txBody>
        </p:sp>
      </p:grpSp>
      <p:grpSp>
        <p:nvGrpSpPr>
          <p:cNvPr id="83" name="content-34"/>
          <p:cNvGrpSpPr/>
          <p:nvPr/>
        </p:nvGrpSpPr>
        <p:grpSpPr>
          <a:xfrm>
            <a:off x="979932" y="4504309"/>
            <a:ext cx="2830449" cy="479171"/>
            <a:chOff x="979932" y="4504309"/>
            <a:chExt cx="2830449" cy="479171"/>
          </a:xfrm>
        </p:grpSpPr>
        <p:sp>
          <p:nvSpPr>
            <p:cNvPr id="80" name="TextBox 80"/>
            <p:cNvSpPr txBox="1"/>
            <p:nvPr/>
          </p:nvSpPr>
          <p:spPr>
            <a:xfrm>
              <a:off x="979932" y="4663059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写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373505" y="4504309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客户确认后办理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75029" y="4748784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确认卡＋支付密码，模型不能代按</a:t>
              </a:r>
            </a:p>
          </p:txBody>
        </p:sp>
      </p:grpSp>
      <p:grpSp>
        <p:nvGrpSpPr>
          <p:cNvPr id="87" name="content-39"/>
          <p:cNvGrpSpPr/>
          <p:nvPr/>
        </p:nvGrpSpPr>
        <p:grpSpPr>
          <a:xfrm>
            <a:off x="979932" y="5162677"/>
            <a:ext cx="2991993" cy="479171"/>
            <a:chOff x="979932" y="5162677"/>
            <a:chExt cx="2991993" cy="479171"/>
          </a:xfrm>
        </p:grpSpPr>
        <p:sp>
          <p:nvSpPr>
            <p:cNvPr id="84" name="TextBox 84"/>
            <p:cNvSpPr txBox="1"/>
            <p:nvPr/>
          </p:nvSpPr>
          <p:spPr>
            <a:xfrm>
              <a:off x="979932" y="532142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答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373505" y="5162677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1B31"/>
                  </a:solidFill>
                  <a:latin typeface="Microsoft YaHei"/>
                  <a:ea typeface="Microsoft YaHei"/>
                  <a:cs typeface="Microsoft YaHei"/>
                </a:rPr>
                <a:t>结果以工具为准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375029" y="540715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不编造余额、回执、费率或到账时间</a:t>
              </a:r>
            </a:p>
          </p:txBody>
        </p:sp>
      </p:grpSp>
      <p:grpSp>
        <p:nvGrpSpPr>
          <p:cNvPr id="90" name="content-44"/>
          <p:cNvGrpSpPr/>
          <p:nvPr/>
        </p:nvGrpSpPr>
        <p:grpSpPr>
          <a:xfrm>
            <a:off x="8668131" y="1965325"/>
            <a:ext cx="2073402" cy="1683258"/>
            <a:chOff x="8668131" y="1965325"/>
            <a:chExt cx="2073402" cy="1683258"/>
          </a:xfrm>
        </p:grpSpPr>
        <p:sp>
          <p:nvSpPr>
            <p:cNvPr id="88" name="TextBox 88"/>
            <p:cNvSpPr txBox="1"/>
            <p:nvPr/>
          </p:nvSpPr>
          <p:spPr>
            <a:xfrm>
              <a:off x="8668131" y="19653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8A8A"/>
                  </a:solidFill>
                  <a:latin typeface="Microsoft YaHei"/>
                  <a:ea typeface="Microsoft YaHei"/>
                  <a:cs typeface="Microsoft YaHei"/>
                </a:rPr>
                <a:t>运行时有边界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670417" y="2384425"/>
              <a:ext cx="2071116" cy="1264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DSH 树外 Profile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独立人格与受控工具集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客户／员工／运维会话隔离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仅经银行 API 访问业务</a:t>
              </a:r>
            </a:p>
          </p:txBody>
        </p:sp>
      </p:grpSp>
      <p:grpSp>
        <p:nvGrpSpPr>
          <p:cNvPr id="93" name="content-48"/>
          <p:cNvGrpSpPr/>
          <p:nvPr/>
        </p:nvGrpSpPr>
        <p:grpSpPr>
          <a:xfrm>
            <a:off x="8669274" y="4352925"/>
            <a:ext cx="2142998" cy="876808"/>
            <a:chOff x="8669274" y="4352925"/>
            <a:chExt cx="2142998" cy="876808"/>
          </a:xfrm>
        </p:grpSpPr>
        <p:sp>
          <p:nvSpPr>
            <p:cNvPr id="91" name="TextBox 91"/>
            <p:cNvSpPr txBox="1"/>
            <p:nvPr/>
          </p:nvSpPr>
          <p:spPr>
            <a:xfrm>
              <a:off x="8669274" y="4352925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533AFD"/>
                  </a:solidFill>
                  <a:latin typeface="Microsoft YaHei"/>
                  <a:ea typeface="Microsoft YaHei"/>
                  <a:cs typeface="Microsoft YaHei"/>
                </a:rPr>
                <a:t>便捷入口，授权不放松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670417" y="4679950"/>
              <a:ext cx="18996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网页／安卓／IM 协同</a:t>
              </a:r>
              <a:b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86B86"/>
                  </a:solidFill>
                  <a:latin typeface="Microsoft YaHei"/>
                  <a:ea typeface="Microsoft YaHei"/>
                  <a:cs typeface="Microsoft YaHei"/>
                </a:rPr>
                <a:t>写入仍需本人确认与核身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微软雅黑" panose="020B0503020204020204" charset="-122"/>
                <a:ea typeface="微软雅黑" panose="020B0503020204020204" charset="-122"/>
              </a:rPr>
              <a:t>CREATIVITY</a:t>
            </a:r>
            <a:endParaRPr lang="en-US" sz="1150" b="1" i="0" spc="240">
              <a:solidFill>
                <a:srgbClr val="533A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我们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的独特</a:t>
            </a:r>
            <a:r>
              <a:rPr lang="zh-CN" sz="3000" b="1" i="0">
                <a:solidFill>
                  <a:srgbClr val="061B31"/>
                </a:solidFill>
                <a:latin typeface="微软雅黑" panose="020B0503020204020204" charset="-122"/>
                <a:ea typeface="微软雅黑" panose="020B0503020204020204" charset="-122"/>
              </a:rPr>
              <a:t>之处</a:t>
            </a:r>
            <a:endParaRPr lang="zh-CN" sz="30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749808" y="1298448"/>
            <a:ext cx="10692098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46196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4E6078"/>
                </a:solidFill>
                <a:latin typeface="Microsoft YaHei"/>
                <a:ea typeface="Microsoft YaHei"/>
                <a:cs typeface="Microsoft YaHei"/>
              </a:rPr>
              <a:t>把自然语言服务、预算管理与受控执行连成可演示的业务流程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82496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FF9FB"/>
          </a:solidFill>
          <a:ln w="11430">
            <a:solidFill>
              <a:srgbClr val="F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82496"/>
            <a:ext cx="5394960" cy="41148"/>
          </a:xfrm>
          <a:prstGeom prst="roundRect">
            <a:avLst>
              <a:gd name="adj" fmla="val 50000"/>
            </a:avLst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/>
        </p:nvSpPr>
        <p:spPr>
          <a:xfrm>
            <a:off x="1042416" y="18288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2861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D92159"/>
                </a:solidFill>
                <a:latin typeface="Microsoft YaHei"/>
                <a:ea typeface="Microsoft YaHei"/>
                <a:cs typeface="Microsoft YaHei"/>
              </a:rPr>
              <a:t>演示亮点：预算 × 模拟消费</a:t>
            </a:r>
          </a:p>
        </p:txBody>
      </p:sp>
      <p:sp>
        <p:nvSpPr>
          <p:cNvPr id="8" name="TextBox 7"/>
          <p:cNvSpPr/>
          <p:nvPr/>
        </p:nvSpPr>
        <p:spPr>
          <a:xfrm>
            <a:off x="1042416" y="2176272"/>
            <a:ext cx="4846320" cy="2377440"/>
          </a:xfrm>
          <a:prstGeom prst="rect">
            <a:avLst/>
          </a:prstGeom>
          <a:noFill/>
          <a:ln>
            <a:noFill/>
          </a:ln>
        </p:spPr>
        <p:txBody>
          <a:bodyPr wrap="none" lIns="0" tIns="100203" rIns="0" bIns="0" anchor="t" anchorCtr="0">
            <a:noAutofit/>
          </a:bodyPr>
          <a:lstStyle/>
          <a:p>
            <a:pPr algn="l">
              <a:lnSpc>
                <a:spcPts val="2550"/>
              </a:lnSpc>
            </a:pPr>
            <a:r>
              <a:rPr lang="zh-CN" sz="150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01 设置商户每日预算</a:t>
            </a:r>
            <a:br/>
            <a:r>
              <a:rPr lang="zh-CN" sz="150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02 用模拟消费检验卡片与额度</a:t>
            </a:r>
            <a:br/>
            <a:r>
              <a:rPr lang="zh-CN" sz="150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03 超额即拦截，资金不落账</a:t>
            </a:r>
            <a:br/>
            <a:r>
              <a:rPr lang="zh-CN" sz="150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04 额度内消费记账后，后台补分类</a:t>
            </a:r>
            <a:br/>
            <a:r>
              <a:rPr lang="zh-CN" sz="150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05 账单反馈支出，达标日结算积分</a:t>
            </a:r>
            <a:br/>
            <a:r>
              <a:rPr lang="zh-CN" sz="150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把“管钱”与“花钱”连在同一套规则中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7373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100" b="1" i="0">
              <a:solidFill>
                <a:srgbClr val="061B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10528" y="2084831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8" y="2084831"/>
            <a:ext cx="41148" cy="475488"/>
          </a:xfrm>
          <a:prstGeom prst="rect">
            <a:avLst/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/>
        </p:nvSpPr>
        <p:spPr>
          <a:xfrm>
            <a:off x="6675120" y="22037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自然语言直达业务</a:t>
            </a:r>
          </a:p>
        </p:txBody>
      </p:sp>
      <p:sp>
        <p:nvSpPr>
          <p:cNvPr id="15" name="TextBox 14"/>
          <p:cNvSpPr/>
          <p:nvPr/>
        </p:nvSpPr>
        <p:spPr>
          <a:xfrm>
            <a:off x="8887968" y="220370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受控工具连接常用办理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2651760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0528" y="2651760"/>
            <a:ext cx="41148" cy="475488"/>
          </a:xfrm>
          <a:prstGeom prst="rect">
            <a:avLst/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/>
          <p:nvPr/>
        </p:nvSpPr>
        <p:spPr>
          <a:xfrm>
            <a:off x="6675120" y="27706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多端服务，同一套规则</a:t>
            </a:r>
          </a:p>
        </p:txBody>
      </p:sp>
      <p:sp>
        <p:nvSpPr>
          <p:cNvPr id="19" name="TextBox 18"/>
          <p:cNvSpPr/>
          <p:nvPr/>
        </p:nvSpPr>
        <p:spPr>
          <a:xfrm>
            <a:off x="8887968" y="27706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15 个共享规则模块复用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3218688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10528" y="3218688"/>
            <a:ext cx="41148" cy="47548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/>
          <p:nvPr/>
        </p:nvSpPr>
        <p:spPr>
          <a:xfrm>
            <a:off x="6675120" y="3337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客户与员工协同</a:t>
            </a:r>
          </a:p>
        </p:txBody>
      </p:sp>
      <p:sp>
        <p:nvSpPr>
          <p:cNvPr id="23" name="TextBox 22"/>
          <p:cNvSpPr/>
          <p:nvPr/>
        </p:nvSpPr>
        <p:spPr>
          <a:xfrm>
            <a:off x="8887968" y="33375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独立 Agent、工单与审批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0528" y="3785615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0528" y="3785615"/>
            <a:ext cx="41148" cy="47548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/>
          <p:nvPr/>
        </p:nvSpPr>
        <p:spPr>
          <a:xfrm>
            <a:off x="6675120" y="39044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微信入口与本人提醒</a:t>
            </a:r>
          </a:p>
        </p:txBody>
      </p:sp>
      <p:sp>
        <p:nvSpPr>
          <p:cNvPr id="27" name="TextBox 26"/>
          <p:cNvSpPr/>
          <p:nvPr/>
        </p:nvSpPr>
        <p:spPr>
          <a:xfrm>
            <a:off x="8887968" y="390448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扫码绑定，确认后投递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4352544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10528" y="4352544"/>
            <a:ext cx="41148" cy="475488"/>
          </a:xfrm>
          <a:prstGeom prst="rect">
            <a:avLst/>
          </a:prstGeom>
          <a:solidFill>
            <a:srgbClr val="647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/>
          <p:nvPr/>
        </p:nvSpPr>
        <p:spPr>
          <a:xfrm>
            <a:off x="6675120" y="44714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资金与证据同步</a:t>
            </a:r>
          </a:p>
        </p:txBody>
      </p:sp>
      <p:sp>
        <p:nvSpPr>
          <p:cNvPr id="31" name="TextBox 30"/>
          <p:cNvSpPr/>
          <p:nvPr/>
        </p:nvSpPr>
        <p:spPr>
          <a:xfrm>
            <a:off x="8887968" y="447141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Microsoft YaHei"/>
                <a:ea typeface="Microsoft YaHei"/>
                <a:cs typeface="Microsoft YaHei"/>
              </a:rPr>
              <a:t>事务、幂等、审计可追溯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992624"/>
            <a:ext cx="10692079" cy="1024128"/>
          </a:xfrm>
          <a:prstGeom prst="roundRect">
            <a:avLst>
              <a:gd name="adj" fmla="val 5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/>
          <p:nvPr/>
        </p:nvSpPr>
        <p:spPr>
          <a:xfrm>
            <a:off x="1161288" y="5120640"/>
            <a:ext cx="9869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63817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工程证据：15 个共享规则模块 · 20 个测试文件 · 78 项断言</a:t>
            </a:r>
          </a:p>
        </p:txBody>
      </p:sp>
      <p:sp>
        <p:nvSpPr>
          <p:cNvPr id="34" name="TextBox 33"/>
          <p:cNvSpPr/>
          <p:nvPr/>
        </p:nvSpPr>
        <p:spPr>
          <a:xfrm>
            <a:off x="1161288" y="5376672"/>
            <a:ext cx="98691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134017" rIns="0" bIns="0" anchor="t" anchorCtr="0">
            <a:noAutofit/>
          </a:bodyPr>
          <a:lstStyle/>
          <a:p>
            <a:pPr algn="l">
              <a:lnSpc>
                <a:spcPts val="2025"/>
              </a:lnSpc>
            </a:pPr>
            <a:r>
              <a:rPr lang="zh-CN" sz="1280" dirty="0">
                <a:solidFill>
                  <a:srgbClr val="D2DAEA"/>
                </a:solidFill>
                <a:latin typeface="Microsoft YaHei"/>
                <a:ea typeface="Microsoft YaHei"/>
                <a:cs typeface="Microsoft YaHei"/>
              </a:rPr>
              <a:t>覆盖迁移、冻结、幂等、并发、限额与账务</a:t>
            </a:r>
            <a:br/>
            <a:r>
              <a:rPr lang="zh-CN" sz="1280" dirty="0">
                <a:solidFill>
                  <a:srgbClr val="D2DAEA"/>
                </a:solidFill>
                <a:latin typeface="Microsoft YaHei"/>
                <a:ea typeface="Microsoft YaHei"/>
                <a:cs typeface="Microsoft YaHei"/>
              </a:rPr>
              <a:t>规模与验证体系据技术报告快照；模拟消费仅限 sandbox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技术报告 §3.4–3.5、§6.1</a:t>
            </a:r>
          </a:p>
        </p:txBody>
      </p:sp>
      <p:sp>
        <p:nvSpPr>
          <p:cNvPr id="38" name="TextBox 37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10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7863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00" b="1" i="0" spc="300">
                <a:solidFill>
                  <a:srgbClr val="9B8CFF"/>
                </a:solidFill>
                <a:latin typeface="微软雅黑" panose="020B0503020204020204" charset="-122"/>
                <a:ea typeface="微软雅黑" panose="020B0503020204020204" charset="-122"/>
              </a:rPr>
              <a:t>TAKEAWAYS</a:t>
            </a:r>
            <a:endParaRPr sz="1100" b="1" i="0" spc="300">
              <a:solidFill>
                <a:srgbClr val="9B8C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/>
          <p:nvPr/>
        </p:nvSpPr>
        <p:spPr>
          <a:xfrm>
            <a:off x="749808" y="1078992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7620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安全、便捷、可核查的智能银行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975104"/>
            <a:ext cx="32004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9933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9B8C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100" b="1" i="0">
              <a:solidFill>
                <a:srgbClr val="9B8C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/>
          <p:nvPr/>
        </p:nvSpPr>
        <p:spPr>
          <a:xfrm>
            <a:off x="1463040" y="1975104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54769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让业务办理更便捷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907792"/>
            <a:ext cx="32004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926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9B8C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100" b="1" i="0">
              <a:solidFill>
                <a:srgbClr val="9B8C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/>
          <p:nvPr/>
        </p:nvSpPr>
        <p:spPr>
          <a:xfrm>
            <a:off x="1463040" y="2907792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54769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让资金处理更可靠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840480"/>
            <a:ext cx="32004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858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9B8C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100" b="1" i="0">
              <a:solidFill>
                <a:srgbClr val="9B8C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1463040" y="384048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54769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让智能服务可验证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1874519"/>
            <a:ext cx="3840480" cy="2852928"/>
          </a:xfrm>
          <a:prstGeom prst="roundRect">
            <a:avLst>
              <a:gd name="adj" fmla="val 5000"/>
            </a:avLst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/>
        </p:nvSpPr>
        <p:spPr>
          <a:xfrm>
            <a:off x="7845552" y="202996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9B8CFF"/>
                </a:solidFill>
                <a:latin typeface="Microsoft YaHei"/>
                <a:ea typeface="Microsoft YaHei"/>
                <a:cs typeface="Microsoft YaHei"/>
              </a:rPr>
              <a:t>下一步：补齐真实链路与纵深防护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35915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P0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/>
          <p:nvPr/>
        </p:nvSpPr>
        <p:spPr>
          <a:xfrm>
            <a:off x="8302752" y="235915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40481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C2CEE2"/>
                </a:solidFill>
                <a:latin typeface="Microsoft YaHei"/>
                <a:ea typeface="Microsoft YaHei"/>
                <a:cs typeface="Microsoft YaHei"/>
              </a:rPr>
              <a:t>持牌银行适配器</a:t>
            </a:r>
            <a:br/>
            <a:r>
              <a:rPr lang="en-US" sz="1120" dirty="0">
                <a:solidFill>
                  <a:srgbClr val="C2CEE2"/>
                </a:solidFill>
                <a:latin typeface="Microsoft YaHei"/>
                <a:ea typeface="Microsoft YaHei"/>
                <a:cs typeface="Microsoft YaHei"/>
              </a:rPr>
              <a:t>CSP / HSTS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017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P1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/>
          <p:nvPr/>
        </p:nvSpPr>
        <p:spPr>
          <a:xfrm>
            <a:off x="8302752" y="3017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40481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C2CEE2"/>
                </a:solidFill>
                <a:latin typeface="Microsoft YaHei"/>
                <a:ea typeface="Microsoft YaHei"/>
                <a:cs typeface="Microsoft YaHei"/>
              </a:rPr>
              <a:t>短信实名核验</a:t>
            </a:r>
            <a:br/>
            <a:r>
              <a:rPr lang="zh-CN" sz="1120" dirty="0">
                <a:solidFill>
                  <a:srgbClr val="C2CEE2"/>
                </a:solidFill>
                <a:latin typeface="Microsoft YaHei"/>
                <a:ea typeface="Microsoft YaHei"/>
                <a:cs typeface="Microsoft YaHei"/>
              </a:rPr>
              <a:t>监管报送适配器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675887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P2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8302752" y="367588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40481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C2CEE2"/>
                </a:solidFill>
                <a:latin typeface="Microsoft YaHei"/>
                <a:ea typeface="Microsoft YaHei"/>
                <a:cs typeface="Microsoft YaHei"/>
              </a:rPr>
              <a:t>计息与日结自动化</a:t>
            </a:r>
            <a:br/>
            <a:r>
              <a:rPr lang="zh-CN" sz="1120" dirty="0">
                <a:solidFill>
                  <a:srgbClr val="C2CEE2"/>
                </a:solidFill>
                <a:latin typeface="Microsoft YaHei"/>
                <a:ea typeface="Microsoft YaHei"/>
                <a:cs typeface="Microsoft YaHei"/>
              </a:rPr>
              <a:t>多副本与故障切换</a:t>
            </a:r>
          </a:p>
        </p:txBody>
      </p:sp>
      <p:sp>
        <p:nvSpPr>
          <p:cNvPr id="24" name="TextBox 23"/>
          <p:cNvSpPr/>
          <p:nvPr/>
        </p:nvSpPr>
        <p:spPr>
          <a:xfrm>
            <a:off x="7845552" y="422452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7E90AE"/>
                </a:solidFill>
                <a:latin typeface="Microsoft YaHei"/>
                <a:ea typeface="Microsoft YaHei"/>
                <a:cs typeface="Microsoft YaHei"/>
              </a:rPr>
              <a:t>当前：sandbox 可演示</a:t>
            </a:r>
            <a:br/>
            <a:r>
              <a:rPr lang="zh-CN" sz="1050" dirty="0">
                <a:solidFill>
                  <a:srgbClr val="7E90AE"/>
                </a:solidFill>
                <a:latin typeface="Microsoft YaHei"/>
                <a:ea typeface="Microsoft YaHei"/>
                <a:cs typeface="Microsoft YaHei"/>
              </a:rPr>
              <a:t>live 未接入能力明确拒绝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13892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谢谢，欢迎提问。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/>
          <p:nvPr/>
        </p:nvSpPr>
        <p:spPr>
          <a:xfrm>
            <a:off x="749808" y="5833872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40481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8EA3C8"/>
                </a:solidFill>
                <a:latin typeface="Microsoft YaHei"/>
                <a:ea typeface="Microsoft YaHei"/>
                <a:cs typeface="Microsoft YaHei"/>
              </a:rPr>
              <a:t>虚拟银行演示系统；尚未接入真实资金通道、支付清算与监管报送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E7E9A"/>
                </a:solidFill>
                <a:latin typeface="微软雅黑" panose="020B0503020204020204" charset="-122"/>
                <a:ea typeface="微软雅黑" panose="020B0503020204020204" charset="-122"/>
              </a:rPr>
              <a:t>招财猫银行 · Money Meow Bank</a:t>
            </a:r>
            <a:endParaRPr sz="900" b="0" i="0">
              <a:solidFill>
                <a:srgbClr val="6E7E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/>
          <p:nvPr/>
        </p:nvSpPr>
        <p:spPr>
          <a:xfrm>
            <a:off x="10527506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6E7E9A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  <p:grpSp>
        <p:nvGrpSpPr>
          <p:cNvPr id="53" name="closing-detail-6"/>
          <p:cNvGrpSpPr/>
          <p:nvPr/>
        </p:nvGrpSpPr>
        <p:grpSpPr>
          <a:xfrm>
            <a:off x="1459611" y="2365375"/>
            <a:ext cx="3646526" cy="278702"/>
            <a:chOff x="1459611" y="2365375"/>
            <a:chExt cx="3646526" cy="278702"/>
          </a:xfrm>
        </p:grpSpPr>
        <p:sp>
          <p:nvSpPr>
            <p:cNvPr id="52" name="TextBox 52"/>
            <p:cNvSpPr txBox="1"/>
            <p:nvPr/>
          </p:nvSpPr>
          <p:spPr>
            <a:xfrm>
              <a:off x="1459611" y="2365375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5CFE1"/>
                  </a:solidFill>
                  <a:latin typeface="Microsoft YaHei"/>
                  <a:ea typeface="Microsoft YaHei"/>
                  <a:cs typeface="Microsoft YaHei"/>
                </a:rPr>
                <a:t>自然语言入口，多端协同，预算与理财联动</a:t>
              </a:r>
            </a:p>
          </p:txBody>
        </p:sp>
      </p:grpSp>
      <p:grpSp>
        <p:nvGrpSpPr>
          <p:cNvPr id="55" name="closing-detail-10"/>
          <p:cNvGrpSpPr/>
          <p:nvPr/>
        </p:nvGrpSpPr>
        <p:grpSpPr>
          <a:xfrm>
            <a:off x="1459611" y="3298825"/>
            <a:ext cx="3073044" cy="278702"/>
            <a:chOff x="1459611" y="3298825"/>
            <a:chExt cx="3073044" cy="278702"/>
          </a:xfrm>
        </p:grpSpPr>
        <p:sp>
          <p:nvSpPr>
            <p:cNvPr id="54" name="TextBox 54"/>
            <p:cNvSpPr txBox="1"/>
            <p:nvPr/>
          </p:nvSpPr>
          <p:spPr>
            <a:xfrm>
              <a:off x="1459611" y="3298825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5CFE1"/>
                  </a:solidFill>
                  <a:latin typeface="Microsoft YaHei"/>
                  <a:ea typeface="Microsoft YaHei"/>
                  <a:cs typeface="Microsoft YaHei"/>
                </a:rPr>
                <a:t>同事务、幂等与审计，失败整体回滚</a:t>
              </a:r>
            </a:p>
          </p:txBody>
        </p:sp>
      </p:grpSp>
      <p:grpSp>
        <p:nvGrpSpPr>
          <p:cNvPr id="57" name="closing-detail-14"/>
          <p:cNvGrpSpPr/>
          <p:nvPr/>
        </p:nvGrpSpPr>
        <p:grpSpPr>
          <a:xfrm>
            <a:off x="1459611" y="4232275"/>
            <a:ext cx="3073044" cy="278702"/>
            <a:chOff x="1459611" y="4232275"/>
            <a:chExt cx="3073044" cy="278702"/>
          </a:xfrm>
        </p:grpSpPr>
        <p:sp>
          <p:nvSpPr>
            <p:cNvPr id="56" name="TextBox 56"/>
            <p:cNvSpPr txBox="1"/>
            <p:nvPr/>
          </p:nvSpPr>
          <p:spPr>
            <a:xfrm>
              <a:off x="1459611" y="4232275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5CFE1"/>
                  </a:solidFill>
                  <a:latin typeface="Microsoft YaHei"/>
                  <a:ea typeface="Microsoft YaHei"/>
                  <a:cs typeface="Microsoft YaHei"/>
                </a:rPr>
                <a:t>客户保留授权，关键约束有工程门禁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2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3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4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5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6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7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8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9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0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1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2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2318</Words>
  <Application>WPS 演示</Application>
  <PresentationFormat>On-screen Show (4:3)</PresentationFormat>
  <Paragraphs>331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张天棋</cp:lastModifiedBy>
  <cp:revision>3</cp:revision>
  <dcterms:created xsi:type="dcterms:W3CDTF">2013-01-27T09:14:00Z</dcterms:created>
  <dcterms:modified xsi:type="dcterms:W3CDTF">2026-10-30T02:23:16Z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26F5E97154324BF4ACDBCE6024A01655_12</vt:lpwstr>
  </property>
</Properties>
</file>