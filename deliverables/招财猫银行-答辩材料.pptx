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9" r:id="rId7"/>
    <p:sldId id="270" r:id="rId8"/>
    <p:sldId id="271" r:id="rId9"/>
    <p:sldId id="272" r:id="rId10"/>
    <p:sldId id="266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【0:00–0:30】开场：我们做的是招财猫银行，一个能真正办理银行业务的 AI 智能体系统。</a:t>
            </a:r>
          </a:p>
          <a:p>
            <a:r>
              <a:t>今天用 10 分钟讲四件事：架构怎么分层、核心算法怎么保证钱不出错、安全边界在哪里、以及我们明确没做什么。</a:t>
            </a:r>
          </a:p>
          <a:p>
            <a:r>
              <a:t>先说清楚定位：这是比赛演示作品，不是真实银行；但它的资金逻辑和约束是按真实系统写的。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【1:10–2:00】这三道题是我们踩过的坑。</a:t>
            </a:r>
          </a:p>
          <a:p>
            <a:r>
              <a:t>第一，钱的中间态：如果先扣余额再写流水，进程崩了就会出现扣了钱没流水。我们的答案是交易即事务。</a:t>
            </a:r>
          </a:p>
          <a:p>
            <a:r>
              <a:t>第二，规则漂移：前端要能脱离后端开发，就会有两套实现。我们把规则下沉到 shared/ 纯函数。</a:t>
            </a:r>
          </a:p>
          <a:p>
            <a:r>
              <a:t>第三，AI 拍板：模型不能代替客户确认，也不能编造回执——这是后面安全章节的主线。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【2:00–3:00】这张图是整份文档的骨架。</a:t>
            </a:r>
          </a:p>
          <a:p>
            <a:r>
              <a:t>横向看是五层：客户端、接口与契约、应用与领域、共享规则、数据与运行。</a:t>
            </a:r>
          </a:p>
          <a:p>
            <a:r>
              <a:t>纵向看只有一个入口：所有客户端，包括 Agent，都只能通过接口层访问银行，Agent 不能直连数据库。</a:t>
            </a:r>
          </a:p>
          <a:p>
            <a:r>
              <a:t>三个要点：契约先行让前端可以脱离后端开发；规则共享让两端算一样的数；交易即事务保证钱不会停在中间态。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【5:35–6:25】第三组算法是预算和消费风控。</a:t>
            </a:r>
          </a:p>
          <a:p>
            <a:r>
              <a:t>六道校验顺序固定：卡状态、渠道类别、单笔单日、预算闸门、余额币种、记账分类。</a:t>
            </a:r>
          </a:p>
          <a:p>
            <a:r>
              <a:t>右边的参数都来自 shared/budgets.mjs，前端 mock 和后端用同一份。</a:t>
            </a:r>
          </a:p>
          <a:p>
            <a:r>
              <a:t>特别说下异步分类：如果同步等模型，刷卡就被第三方延迟绑架；如果失败回滚，一笔成功的消费反而失败。所以先落账再补分类。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【5:35–6:25】第三组算法是预算和消费风控。</a:t>
            </a:r>
          </a:p>
          <a:p>
            <a:r>
              <a:t>六道校验顺序固定：卡状态、渠道类别、单笔单日、预算闸门、余额币种、记账分类。</a:t>
            </a:r>
          </a:p>
          <a:p>
            <a:r>
              <a:t>右边的参数都来自 shared/budgets.mjs，前端 mock 和后端用同一份。</a:t>
            </a:r>
          </a:p>
          <a:p>
            <a:r>
              <a:t>特别说下异步分类：如果同步等模型，刷卡就被第三方延迟绑架；如果失败回滚，一笔成功的消费反而失败。所以先落账再补分类。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【5:35–6:25】第三组算法是预算和消费风控。</a:t>
            </a:r>
          </a:p>
          <a:p>
            <a:r>
              <a:t>六道校验顺序固定：卡状态、渠道类别、单笔单日、预算闸门、余额币种、记账分类。</a:t>
            </a:r>
          </a:p>
          <a:p>
            <a:r>
              <a:t>右边的参数都来自 shared/budgets.mjs，前端 mock 和后端用同一份。</a:t>
            </a:r>
          </a:p>
          <a:p>
            <a:r>
              <a:t>特别说下异步分类：如果同步等模型，刷卡就被第三方延迟绑架；如果失败回滚，一笔成功的消费反而失败。所以先落账再补分类。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【5:35–6:25】第三组算法是预算和消费风控。</a:t>
            </a:r>
          </a:p>
          <a:p>
            <a:r>
              <a:t>六道校验顺序固定：卡状态、渠道类别、单笔单日、预算闸门、余额币种、记账分类。</a:t>
            </a:r>
          </a:p>
          <a:p>
            <a:r>
              <a:t>右边的参数都来自 shared/budgets.mjs，前端 mock 和后端用同一份。</a:t>
            </a:r>
          </a:p>
          <a:p>
            <a:r>
              <a:t>特别说下异步分类：如果同步等模型，刷卡就被第三方延迟绑架；如果失败回滚，一笔成功的消费反而失败。所以先落账再补分类。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【8:20–9:15】Agent 这块，一句话：模型负责理解与表达，服务端负责事实与资金。</a:t>
            </a:r>
          </a:p>
          <a:p>
            <a:r>
              <a:t>链路是客户 → 会话 → 运行时 → 银行 API。写操作有一个回路：发确认卡、客户在网页点确认、再验支付密码，才落账；超时按拒绝处理。</a:t>
            </a:r>
          </a:p>
          <a:p>
            <a:r>
              <a:t>三条规则：读要逐次校验归属；写要确认卡加密码；答不预测收益、不构成申购授权。</a:t>
            </a:r>
          </a:p>
          <a:p>
            <a:r>
              <a:t>技术上是 DSH 树外 profile，三套人格与工具集，会话库独立隔离。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【7:20–8:20】这一页是我个人最想讲的：我们明确没做什么。</a:t>
            </a:r>
          </a:p>
          <a:p>
            <a:r>
              <a:t>真实银行通道没接、短信实名没接、监管报送只有模板、CSP 和 HSTS 还没配、没有自动计息、单机没有高可用。</a:t>
            </a:r>
          </a:p>
          <a:p>
            <a:r>
              <a:t>重点不是列清单，而是这些「没接」在系统里是显式状态：live 模式下未接入的操作直接 503，绝不回落到模拟器；生产环境拒绝 sandbox 启动。</a:t>
            </a:r>
          </a:p>
          <a:p>
            <a:r>
              <a:t>我们宁可显示不可用，也不假装可用。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19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2124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9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2708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19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2124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24159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2708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19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2124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24159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2708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19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4159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2708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1005840"/>
            <a:ext cx="84124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73936" y="932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EA3C8"/>
                </a:solidFill>
                <a:latin typeface="微软雅黑" panose="020B0503020204020204" charset="-122"/>
                <a:ea typeface="微软雅黑" panose="020B0503020204020204" charset="-122"/>
              </a:rPr>
              <a:t>M O N E Y   M E O W   B A N K</a:t>
            </a:r>
            <a:endParaRPr sz="1100" b="1" i="0">
              <a:solidFill>
                <a:srgbClr val="8EA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73936" y="11887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221284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1" i="0" spc="300">
                <a:solidFill>
                  <a:srgbClr val="9B8CFF"/>
                </a:solidFill>
                <a:latin typeface="微软雅黑" panose="020B0503020204020204" charset="-122"/>
                <a:ea typeface="微软雅黑" panose="020B0503020204020204" charset="-122"/>
              </a:rPr>
              <a:t>AI BANKING AGENT · 技术答辩</a:t>
            </a:r>
            <a:endParaRPr sz="1200" b="1" i="0" spc="30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9808" y="257860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 AI </a:t>
            </a:r>
            <a:r>
              <a:rPr lang="zh-CN"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智能地</a:t>
            </a: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办银行业务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3529584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C7D3E6"/>
                </a:solidFill>
                <a:latin typeface="微软雅黑" panose="020B0503020204020204" charset="-122"/>
                <a:ea typeface="微软雅黑" panose="020B0503020204020204" charset="-122"/>
              </a:rPr>
              <a:t>一个可验证、可回滚、可演示的智能银行系统</a:t>
            </a:r>
            <a:endParaRPr sz="1900" b="0" i="0">
              <a:solidFill>
                <a:srgbClr val="C7D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4980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四端一核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11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微软雅黑" panose="020B0503020204020204" charset="-122"/>
                <a:ea typeface="微软雅黑" panose="020B0503020204020204" charset="-122"/>
              </a:rPr>
              <a:t>网页 · 安卓 · 员工端 · IM</a:t>
            </a:r>
            <a:endParaRPr sz="1050" b="0" i="0">
              <a:solidFill>
                <a:srgbClr val="93A5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6732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115 个端点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1363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微软雅黑" panose="020B0503020204020204" charset="-122"/>
                <a:ea typeface="微软雅黑" panose="020B0503020204020204" charset="-122"/>
              </a:rPr>
              <a:t>契约先行 · 同一套规则</a:t>
            </a:r>
            <a:endParaRPr sz="1050" b="0" i="0">
              <a:solidFill>
                <a:srgbClr val="93A5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78484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115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分钟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3115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微软雅黑" panose="020B0503020204020204" charset="-122"/>
                <a:ea typeface="微软雅黑" panose="020B0503020204020204" charset="-122"/>
              </a:rPr>
              <a:t>架构 / 算法 / 安全 / 边界</a:t>
            </a:r>
            <a:endParaRPr sz="1050" b="0" i="0">
              <a:solidFill>
                <a:srgbClr val="93A5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9808" y="5797296"/>
            <a:ext cx="10692079" cy="10972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90702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E9A"/>
                </a:solidFill>
                <a:latin typeface="微软雅黑" panose="020B0503020204020204" charset="-122"/>
                <a:ea typeface="微软雅黑" panose="020B0503020204020204" charset="-122"/>
              </a:rPr>
              <a:t>比赛演示作品 · 非真实银行　|　技术文档同步提交</a:t>
            </a:r>
            <a:endParaRPr sz="950" b="0" i="0">
              <a:solidFill>
                <a:srgbClr val="6E7E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84287" y="5907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6E7E9A"/>
                </a:solidFill>
                <a:latin typeface="微软雅黑" panose="020B0503020204020204" charset="-122"/>
                <a:ea typeface="微软雅黑" panose="020B0503020204020204" charset="-122"/>
              </a:rPr>
              <a:t>2026.10.28</a:t>
            </a:r>
            <a:endParaRPr sz="950" b="0" i="0">
              <a:solidFill>
                <a:srgbClr val="6E7E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Imag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120" y="514350"/>
            <a:ext cx="1235075" cy="1235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PROBLEM</a:t>
            </a:r>
            <a:endParaRPr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做 AI 银行，难的不是对话</a:t>
            </a:r>
            <a:endParaRPr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2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altLang="zh-CN"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AI  bank</a:t>
            </a:r>
            <a:r>
              <a:rPr lang="zh-CN" altLang="en-US"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把“会办业务”装进一套可审计的资金约束里，真正发挥智能体的优势，让银行业务更加“触手可及”</a:t>
            </a:r>
            <a:endParaRPr lang="zh-CN" altLang="en-US" sz="13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49808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749808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42415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 i="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42415" y="2322576"/>
            <a:ext cx="281421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zh-CN" sz="165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安全性</a:t>
            </a:r>
            <a:r>
              <a:rPr lang="zh-CN" sz="165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sz="165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405274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05274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697882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306F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 i="0">
              <a:solidFill>
                <a:srgbClr val="306F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697882" y="2322576"/>
            <a:ext cx="281421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zh-CN" altLang="en-US" sz="165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业务</a:t>
            </a:r>
            <a:r>
              <a:rPr lang="zh-CN" altLang="en-US" sz="165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能力设计</a:t>
            </a:r>
            <a:endParaRPr lang="zh-CN" altLang="en-US" sz="165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9"/>
            </p:custDataLst>
          </p:nvPr>
        </p:nvSpPr>
        <p:spPr>
          <a:xfrm>
            <a:off x="8060740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8060740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8353348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F8A8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 i="0">
              <a:solidFill>
                <a:srgbClr val="0F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8353348" y="2322576"/>
            <a:ext cx="281421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en-US" altLang="zh-CN" sz="165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165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sz="165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9808" y="5047488"/>
            <a:ext cx="10692079" cy="640080"/>
          </a:xfrm>
          <a:prstGeom prst="roundRect">
            <a:avLst>
              <a:gd name="adj" fmla="val 6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212080"/>
            <a:ext cx="1005199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三条主线贯穿全篇：</a:t>
            </a: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银行安全性</a:t>
            </a: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银行业务能力覆盖</a:t>
            </a:r>
            <a:r>
              <a:rPr lang="en-US" altLang="zh-CN"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</a:t>
            </a:r>
            <a:r>
              <a:rPr 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agent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智能性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34415" y="2725420"/>
            <a:ext cx="2022602" cy="10138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75"/>
              </a:lnSpc>
            </a:pPr>
            <a: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按客户与员工角色鉴权</a:t>
            </a:r>
            <a:b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资金操作需本人确认</a:t>
            </a:r>
            <a:b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支付凭据留在银行服务</a:t>
            </a:r>
            <a:endParaRPr lang="zh-CN" sz="1580" dirty="0">
              <a:solidFill>
                <a:srgbClr val="435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697540" y="2725420"/>
            <a:ext cx="2203196" cy="10138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75"/>
              </a:lnSpc>
            </a:pPr>
            <a: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账户、卡、账单与理财</a:t>
            </a:r>
            <a:b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通过统一接口办理</a:t>
            </a:r>
            <a:b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80" dirty="0">
                <a:solidFill>
                  <a:srgbClr val="435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关键规则由 shared 复用</a:t>
            </a:r>
            <a:endParaRPr lang="zh-CN" sz="1580" dirty="0">
              <a:solidFill>
                <a:srgbClr val="435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五层架构：四端一核</a:t>
            </a:r>
            <a:endParaRPr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2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客户端只经接口层访问；Agent 同样不能绕过接口直连数据库</a:t>
            </a:r>
            <a:endParaRPr sz="13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1069207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841248" cy="731520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8176" y="1645920"/>
            <a:ext cx="182880" cy="731520"/>
          </a:xfrm>
          <a:prstGeom prst="rect">
            <a:avLst/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客户端层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682495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1783080"/>
            <a:ext cx="167755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网页用户端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3936" y="1993392"/>
            <a:ext cx="1695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React 19 · 34 路由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34374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5814" y="1783080"/>
            <a:ext cx="167755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安卓客户端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5814" y="1993392"/>
            <a:ext cx="1695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Kotlin · Compose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86252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7692" y="1783080"/>
            <a:ext cx="167755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工作人员端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7692" y="1993392"/>
            <a:ext cx="1695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工单 / 审批 / 审计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38130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9570" y="1783080"/>
            <a:ext cx="167755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IM 渠道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29570" y="1993392"/>
            <a:ext cx="1695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微信 · 企业微信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90008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1448" y="1783080"/>
            <a:ext cx="167755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个人工作台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81448" y="1993392"/>
            <a:ext cx="1695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DSH · 单用户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9808" y="2468880"/>
            <a:ext cx="10692079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2468880"/>
            <a:ext cx="841248" cy="603504"/>
          </a:xfrm>
          <a:prstGeom prst="roundRect">
            <a:avLst>
              <a:gd name="adj" fmla="val 5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08176" y="2468880"/>
            <a:ext cx="182880" cy="603504"/>
          </a:xfrm>
          <a:prstGeom prst="rect">
            <a:avLst/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42616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82495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2606040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/api 银行接口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73936" y="2816352"/>
            <a:ext cx="2183815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115 端点 · 8081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22343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13783" y="2606040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/staff-api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13783" y="2816352"/>
            <a:ext cx="2183815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员工接口 · 8080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62191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3631" y="2606040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/agent-api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53631" y="2816352"/>
            <a:ext cx="2183815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客户 Agent · SSE · 8891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002039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3479" y="2606040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员工 Agent ×2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93479" y="2816352"/>
            <a:ext cx="2183815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8789 / 8790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49808" y="3163824"/>
            <a:ext cx="1069207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3163824"/>
            <a:ext cx="841248" cy="786384"/>
          </a:xfrm>
          <a:prstGeom prst="roundRect">
            <a:avLst>
              <a:gd name="adj" fmla="val 5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08176" y="3163824"/>
            <a:ext cx="182880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42900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682495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73936" y="3300984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银行业务域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73936" y="3511296"/>
            <a:ext cx="2183815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账户 · 卡 · 转账 · 理财 · 预算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122343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13783" y="3300984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安全网关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213783" y="3511296"/>
            <a:ext cx="2183815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限流 · 幂等 · 闸门 · 审计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562191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3631" y="3300984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Agent 运行时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53631" y="3511296"/>
            <a:ext cx="2183815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profile + 工具白名单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002039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3479" y="3300984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对账与出纳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093479" y="3511296"/>
            <a:ext cx="2183815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回执 · outbox · 日结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49808" y="4041648"/>
            <a:ext cx="10692079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9808" y="4041648"/>
            <a:ext cx="841248" cy="457200"/>
          </a:xfrm>
          <a:prstGeom prst="roundRect">
            <a:avLst>
              <a:gd name="adj" fmla="val 5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08176" y="4041648"/>
            <a:ext cx="182880" cy="457200"/>
          </a:xfrm>
          <a:prstGeom prst="rect">
            <a:avLst/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41422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682495" y="4123944"/>
            <a:ext cx="9667951" cy="29260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73936" y="4178808"/>
            <a:ext cx="9485071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shared/ 纯函数规则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773936" y="4389120"/>
            <a:ext cx="9503359" cy="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会员 AUM · 预算 · 账单 · 理财 · 分摊　—　三端共用同一份实现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49808" y="4590288"/>
            <a:ext cx="1069207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49808" y="4590288"/>
            <a:ext cx="841248" cy="731520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08176" y="4590288"/>
            <a:ext cx="182880" cy="731520"/>
          </a:xfrm>
          <a:prstGeom prst="rect">
            <a:avLst/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48280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682495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73936" y="4727448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PostgreSQL 16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773936" y="4937759"/>
            <a:ext cx="218381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public / banking / accounting / regulatory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4122343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13783" y="4727448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AI 会话库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13783" y="4937759"/>
            <a:ext cx="218381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customer / staff / ops 隔离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562191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53631" y="4727448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53631" y="4937759"/>
            <a:ext cx="218381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备份 · 对账 · 巡检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002039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93479" y="4727448"/>
            <a:ext cx="2165527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86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主机加固</a:t>
            </a:r>
            <a:endParaRPr sz="86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093479" y="4937759"/>
            <a:ext cx="218381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只读文件系统 · 零 capability</a:t>
            </a:r>
            <a:endParaRPr sz="72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086703" y="2395728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86703" y="3145536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86703" y="3986784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86703" y="4590288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9808" y="5705856"/>
            <a:ext cx="27432" cy="51206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7824" y="569671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契约先行</a:t>
            </a: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77824" y="592531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84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app/src/api/contract.ts 是前端唯一依赖</a:t>
            </a:r>
            <a:endParaRPr sz="84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361688" y="5705856"/>
            <a:ext cx="27432" cy="512064"/>
          </a:xfrm>
          <a:prstGeom prst="rect">
            <a:avLst/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89704" y="569671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规则共享</a:t>
            </a: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489704" y="592531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84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shared/ 15 个纯函数模块，mock 与后端同口径</a:t>
            </a:r>
            <a:endParaRPr sz="84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973568" y="5705856"/>
            <a:ext cx="27432" cy="512064"/>
          </a:xfrm>
          <a:prstGeom prst="rect">
            <a:avLst/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01584" y="569671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交易即事务</a:t>
            </a: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101584" y="592531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84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advisory lock + 同事务提交，失败整体回滚</a:t>
            </a:r>
            <a:endParaRPr sz="84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04 / 13　约 60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账户与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支付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 / 13　约 50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账单与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资金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 / 13　约 50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理财与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储蓄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 / 13　约 50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个人与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 / 13　约 50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 05 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487168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60903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60903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398264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6309360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83096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443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2999232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3785615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3913631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" y="4443983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571999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8" y="5102351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400" y="5230367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49056" y="1755648"/>
            <a:ext cx="2999232" cy="2304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9056" y="1755648"/>
            <a:ext cx="2999232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49056" y="4187952"/>
            <a:ext cx="2999232" cy="1316736"/>
          </a:xfrm>
          <a:prstGeom prst="roundRect">
            <a:avLst>
              <a:gd name="adj" fmla="val 5500"/>
            </a:avLst>
          </a:prstGeom>
          <a:solidFill>
            <a:srgbClr val="F2F0FF"/>
          </a:solidFill>
          <a:ln w="11430">
            <a:solidFill>
              <a:srgbClr val="EA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49056" y="4187952"/>
            <a:ext cx="2999232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11 / 13　约 55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CREATIVITY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我们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的独特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之处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2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zh-CN" altLang="en-US"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AI bank</a:t>
            </a:r>
            <a:r>
              <a:rPr lang="zh-CN" altLang="en-US"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真正做到智能</a:t>
            </a:r>
            <a:r>
              <a:rPr lang="zh-CN" altLang="en-US" sz="13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工作</a:t>
            </a:r>
            <a:endParaRPr lang="zh-CN" altLang="en-US" sz="13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682496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FF9FB"/>
          </a:solidFill>
          <a:ln w="11430">
            <a:solidFill>
              <a:srgbClr val="F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82496"/>
            <a:ext cx="5394960" cy="41148"/>
          </a:xfrm>
          <a:prstGeom prst="roundRect">
            <a:avLst>
              <a:gd name="adj" fmla="val 5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8288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altLang="en-US" sz="1100" b="1" i="0">
                <a:solidFill>
                  <a:srgbClr val="D92159"/>
                </a:solidFill>
                <a:latin typeface="微软雅黑" panose="020B0503020204020204" charset="-122"/>
                <a:ea typeface="微软雅黑" panose="020B0503020204020204" charset="-122"/>
              </a:rPr>
              <a:t>智能始终贯穿我们的</a:t>
            </a:r>
            <a:r>
              <a:rPr lang="en-US" altLang="zh-CN" sz="1100" b="1" i="0">
                <a:solidFill>
                  <a:srgbClr val="D92159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1100" b="1" i="0">
                <a:solidFill>
                  <a:srgbClr val="D92159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r>
              <a:rPr lang="zh-CN" altLang="en-US" sz="1100" b="1" i="0">
                <a:solidFill>
                  <a:srgbClr val="D92159"/>
                </a:solidFill>
                <a:latin typeface="微软雅黑" panose="020B0503020204020204" charset="-122"/>
                <a:ea typeface="微软雅黑" panose="020B0503020204020204" charset="-122"/>
              </a:rPr>
              <a:t>理念</a:t>
            </a:r>
            <a:endParaRPr lang="zh-CN" altLang="en-US" sz="1100" b="1" i="0">
              <a:solidFill>
                <a:srgbClr val="D921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5" y="2176272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85000"/>
              </a:lnSpc>
            </a:pPr>
            <a:r>
              <a:rPr lang="en-US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IM</a:t>
            </a:r>
            <a:r>
              <a:rPr lang="zh-CN" altLang="en-US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机器人</a:t>
            </a:r>
            <a:r>
              <a:rPr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可通过微信建立</a:t>
            </a:r>
            <a:r>
              <a:rPr lang="en-US" altLang="zh-CN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IM</a:t>
            </a:r>
            <a:r>
              <a:rPr lang="zh-CN" alt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连接，把智能助手协同到</a:t>
            </a:r>
            <a:r>
              <a:rPr lang="zh-CN" alt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微信，即时收到消息提醒</a:t>
            </a:r>
            <a:endParaRPr sz="10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5000"/>
              </a:lnSpc>
            </a:pPr>
            <a:r>
              <a:rPr lang="zh-CN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个人理财助手</a:t>
            </a:r>
            <a:r>
              <a:rPr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预算控制</a:t>
            </a:r>
            <a:r>
              <a:rPr lang="en-US" altLang="zh-CN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打卡积分</a:t>
            </a:r>
            <a:endParaRPr sz="10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5000"/>
              </a:lnSpc>
            </a:pPr>
            <a:r>
              <a:rPr lang="zh-CN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双端分离</a:t>
            </a:r>
            <a:r>
              <a:rPr 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客户端与员工端分离，二者使用不同</a:t>
            </a:r>
            <a:r>
              <a:rPr lang="en-US" altLang="zh-CN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sz="10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5000"/>
              </a:lnSpc>
            </a:pPr>
            <a:r>
              <a:rPr lang="zh-CN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模拟消费</a:t>
            </a:r>
            <a:r>
              <a:rPr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sz="10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5000"/>
              </a:lnSpc>
            </a:pPr>
            <a:r>
              <a:rPr lang="en-US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r>
              <a:rPr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dsh</a:t>
            </a:r>
            <a:r>
              <a:rPr lang="zh-CN" alt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作为底层</a:t>
            </a:r>
            <a:r>
              <a:rPr lang="zh-CN" altLang="en-US" sz="1000" b="0" i="0">
                <a:solidFill>
                  <a:srgbClr val="4E6078"/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endParaRPr lang="zh-CN" altLang="en-US" sz="100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1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10528" y="2084831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8" y="2084831"/>
            <a:ext cx="41148" cy="475488"/>
          </a:xfrm>
          <a:prstGeom prst="rect">
            <a:avLst/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03703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87968" y="2203703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98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10528" y="2651760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0528" y="2651760"/>
            <a:ext cx="41148" cy="475488"/>
          </a:xfrm>
          <a:prstGeom prst="rect">
            <a:avLst/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7706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87968" y="277063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98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10528" y="3218688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0528" y="3218688"/>
            <a:ext cx="41148" cy="47548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337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8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98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10528" y="3785615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3785615"/>
            <a:ext cx="41148" cy="47548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904487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87968" y="3904487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98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10528" y="4352544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4352544"/>
            <a:ext cx="41148" cy="475488"/>
          </a:xfrm>
          <a:prstGeom prst="rect">
            <a:avLst/>
          </a:prstGeom>
          <a:solidFill>
            <a:srgbClr val="647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4714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87968" y="447141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980" b="0" i="0">
              <a:solidFill>
                <a:srgbClr val="4E6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9808" y="4992624"/>
            <a:ext cx="10692079" cy="1024128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5120640"/>
            <a:ext cx="98691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000" b="1" i="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1288" y="5376672"/>
            <a:ext cx="9869119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endParaRPr sz="13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18527" y="6382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10 / 13　约 60 秒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27487" y="6382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1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950" b="1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2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3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4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5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6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7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8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9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0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1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2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1665</Words>
  <Application>WPS 演示</Application>
  <PresentationFormat>On-screen Show (4:3)</PresentationFormat>
  <Paragraphs>230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张天棋</cp:lastModifiedBy>
  <cp:revision>4</cp:revision>
  <dcterms:created xsi:type="dcterms:W3CDTF">2013-01-27T09:14:00Z</dcterms:created>
  <dcterms:modified xsi:type="dcterms:W3CDTF">2026-10-30T11:22:02Z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26F5E97154324BF4ACDBCE6024A01655_12</vt:lpwstr>
  </property>
</Properties>
</file>