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8" r:id="rId5"/>
    <p:sldId id="259" r:id="rId6"/>
    <p:sldId id="269" r:id="rId7"/>
    <p:sldId id="262" r:id="rId8"/>
    <p:sldId id="270" r:id="rId9"/>
    <p:sldId id="271" r:id="rId10"/>
    <p:sldId id="272" r:id="rId11"/>
    <p:sldId id="266" r:id="rId12"/>
    <p:sldId id="265" r:id="rId13"/>
    <p:sldId id="268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大家好，我们的作品是招财猫银行，一套以自然语言为入口、覆盖账户、支付、理财和客服的 AI Banking 智能体演示系统，希望让日常银行业务更容易办理，也让每一次资金操作都有明确的确认、校验和记录。</a:t>
            </a:r>
            <a:endParaRPr lang="zh-CN" dirty="0"/>
          </a:p>
          <a:p>
            <a:r>
              <a:rPr lang="zh-CN" dirty="0"/>
              <a:t>它是虚拟银行比赛作品，未接入真实资金通道，接下来我们围绕业务体验、核心算法和安全设计，介绍这套系统如何同时体现便捷性与可核查的工程约束。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我们将银行安全、业务覆盖和智能体能力作为贯穿项目的三条主线：用户可以用自然语言表达需求，执行则要经过明确的银行业务规则。</a:t>
            </a:r>
            <a:endParaRPr lang="zh-CN" dirty="0"/>
          </a:p>
          <a:p>
            <a:r>
              <a:rPr lang="zh-CN" dirty="0"/>
              <a:t>在安全上，客户归属、支付密码、幂等和账务事务都由服务端落实，模型不能直接决定余额或交易结果。</a:t>
            </a:r>
            <a:endParaRPr lang="zh-CN" dirty="0"/>
          </a:p>
          <a:p>
            <a:r>
              <a:rPr lang="zh-CN" dirty="0"/>
              <a:t>在便捷性上，账户、卡、转账、理财、预算与客服连接到同一个业务体系，智能助手通过受控工具，让问询和办理有共同的入口。</a:t>
            </a:r>
            <a:endParaRPr lang="zh-CN" dirty="0"/>
          </a:p>
          <a:p>
            <a:r>
              <a:rPr lang="zh-CN" dirty="0"/>
              <a:t>我们的优势是将交互体验与执行边界一起设计，用户能更方便地提出需求，关键操作由本人确认，查询失败和外部能力未接入也有明确反馈。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系统分为客户端、接口与契约、应用与领域、共享规则、数据与运行五层，网页、原生安卓、工作人员端和 IM 渠道通过接口连接业务。</a:t>
            </a:r>
            <a:endParaRPr lang="zh-CN" dirty="0"/>
          </a:p>
          <a:p>
            <a:r>
              <a:rPr lang="zh-CN" dirty="0"/>
              <a:t>第一个优势是契约先行，界面依赖统一接口面，网页的模拟实现和 HTTP 实现保持相同语义，减少前后端对接偏差。</a:t>
            </a:r>
            <a:endParaRPr lang="zh-CN" dirty="0"/>
          </a:p>
          <a:p>
            <a:r>
              <a:rPr lang="zh-CN" dirty="0"/>
              <a:t>第二个优势是规则共享，十五个纯函数模块承载会员、预算、账单、理财和分摊等规则，网页模拟端、服务端和 Agent 工具复用同一份实现。</a:t>
            </a:r>
            <a:endParaRPr lang="zh-CN" dirty="0"/>
          </a:p>
          <a:p>
            <a:r>
              <a:rPr lang="zh-CN" dirty="0"/>
              <a:t>第三个优势是资金提交边界清晰，账户、流水、审批、幂等和凭证通过数据库事务共同提交，异常时整体回滚。</a:t>
            </a:r>
            <a:endParaRPr lang="zh-CN" dirty="0"/>
          </a:p>
          <a:p>
            <a:r>
              <a:rPr lang="zh-CN" dirty="0"/>
              <a:t>Agent 同样遵循接口路径，不能直连数据库，因此多端入口带来的便利，始终落在统一的业务与安全规则之内。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账户与支付的基础，是每位客户只有一个储蓄资金账户和一个对客账号，多币种是账户下的记账分区，多张银行卡是关联的支付工具。</a:t>
            </a:r>
            <a:endParaRPr lang="zh-CN" dirty="0"/>
          </a:p>
          <a:p>
            <a:r>
              <a:rPr lang="zh-CN" dirty="0"/>
              <a:t>开卡、换卡、锁卡和换汇都不会新增资金账户，客户切换卡片或币种时，资金归属始终清楚。</a:t>
            </a:r>
            <a:endParaRPr lang="zh-CN" dirty="0"/>
          </a:p>
          <a:p>
            <a:r>
              <a:rPr lang="zh-CN" dirty="0"/>
              <a:t>金额统一使用整数分，同一币种内精确计算，银行卡状态、支付渠道、单笔和单日限额在业务执行前逐项核验。</a:t>
            </a:r>
            <a:endParaRPr lang="zh-CN" dirty="0"/>
          </a:p>
          <a:p>
            <a:r>
              <a:rPr lang="zh-CN" dirty="0"/>
              <a:t>这种设计让客户少理解一层账户关系，也方便服务端检查余额、冻结与流水是否一致，而且单账户约束已经写入可执行的账户模型门禁。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转账经过受理校验、报价限额、支付密码、冻结预留、指令落账和结清或释放，客户归属、收款信息和费用都在相应环节核验。</a:t>
            </a:r>
            <a:endParaRPr lang="zh-CN" dirty="0"/>
          </a:p>
          <a:p>
            <a:r>
              <a:rPr lang="zh-CN" dirty="0"/>
              <a:t>在途资金先按付款币种预留，撤销时只释放这条指令对应的冻结，不影响其他指令或其他币种。</a:t>
            </a:r>
            <a:endParaRPr lang="zh-CN" dirty="0"/>
          </a:p>
          <a:p>
            <a:r>
              <a:rPr lang="zh-CN" dirty="0"/>
              <a:t>本金、手续费、流水、审批、审计和凭证处于同一事务，任一步失败，相关资金变更一起回滚，避免本金已扣却没有完整记账。</a:t>
            </a:r>
            <a:endParaRPr lang="zh-CN" dirty="0"/>
          </a:p>
          <a:p>
            <a:r>
              <a:rPr lang="zh-CN" dirty="0"/>
              <a:t>同一个幂等键携带相同请求时返回首次响应，参数改变则明确返回冲突，减少重复点击和网络重试造成重复执行的风险。</a:t>
            </a:r>
            <a:endParaRPr lang="zh-CN" dirty="0"/>
          </a:p>
          <a:p>
            <a:r>
              <a:rPr lang="zh-CN" dirty="0"/>
              <a:t>这体现了我们的资金生命周期与一致性设计，办理状态可以解释，失败和撤销有明确处理方式，真实跨行支付与清算仍需后续合作银行接入。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账单与资金分析的重点，是让同一笔钱在不同页面上遵循一致的统计口径，首页、分析页与账单以共享规则为依据。</a:t>
            </a:r>
            <a:endParaRPr lang="zh-CN" dirty="0"/>
          </a:p>
          <a:p>
            <a:r>
              <a:rPr lang="zh-CN" dirty="0"/>
              <a:t>系统按北京时间自然月和自然年统计，只纳入本人所选币种的成功记账流水，账户内换汇不计作收支，不同币种不直接相加。</a:t>
            </a:r>
            <a:endParaRPr lang="zh-CN" dirty="0"/>
          </a:p>
          <a:p>
            <a:r>
              <a:rPr lang="zh-CN" dirty="0"/>
              <a:t>月环比对照上一个完整月，无基数时明确标记，年度报告包含十二个月和分类汇总并支持导出，当前周期注明查询截止时点。</a:t>
            </a:r>
            <a:endParaRPr lang="zh-CN" dirty="0"/>
          </a:p>
          <a:p>
            <a:r>
              <a:rPr lang="zh-CN" dirty="0"/>
              <a:t>请求审计保留操作人与结果，资金变更关联流水与凭证，对账差异进入异常队列，不会自动修改数字来调平，让客户看得清，也让工作人员有依据可查。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理财与储蓄这部分，我们把产品选择和日常资金管理放在一起，帮助客户理解哪些产品符合条件，也通过预算约束日常消费。</a:t>
            </a:r>
            <a:endParaRPr lang="zh-CN" dirty="0"/>
          </a:p>
          <a:p>
            <a:r>
              <a:rPr lang="zh-CN" dirty="0"/>
              <a:t>理财匹配依据本人有效风险测评、拟投入金额、可接受期限和流动性偏好进行透明筛选，展示排序与排除理由，不预测收益，也不构成申购授权。</a:t>
            </a:r>
            <a:endParaRPr lang="zh-CN" dirty="0"/>
          </a:p>
          <a:p>
            <a:r>
              <a:rPr lang="zh-CN" dirty="0"/>
              <a:t>申购仍需适当性匹配、抄录风险语句和支付密码，持有批次及封闭期分别保留，赎回只处理已开放批次。</a:t>
            </a:r>
            <a:endParaRPr lang="zh-CN" dirty="0"/>
          </a:p>
          <a:p>
            <a:r>
              <a:rPr lang="zh-CN" dirty="0"/>
              <a:t>预算针对选定商户设置每日额度，在记账前计算今日成功支出与本次金额，超出限额就拦截，打卡积分和额度券也有统一规则。</a:t>
            </a:r>
            <a:endParaRPr lang="zh-CN" dirty="0"/>
          </a:p>
          <a:p>
            <a:r>
              <a:rPr lang="zh-CN" dirty="0"/>
              <a:t>沙箱模拟消费使用预设商户，经过卡状态、渠道、单笔单日限额、预算、余额与币种的校验链，让消费约束能够直接演示；它只用于演示环境，理财的即时赎回到账也明确标为沙箱行为。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个人与安全部分将身份、授权、数据和账务分别设立边界，客户端校验改善体验，服务端重新核验关键条件。</a:t>
            </a:r>
            <a:endParaRPr lang="zh-CN" dirty="0"/>
          </a:p>
          <a:p>
            <a:r>
              <a:rPr lang="zh-CN" dirty="0"/>
              <a:t>登录流程包括手机号格式、登录密码和短信验证码，会话令牌使用随机值，数据库只存摘要，改密后撤销其他设备会话，并通过限流约束重复尝试。</a:t>
            </a:r>
            <a:endParaRPr lang="zh-CN" dirty="0"/>
          </a:p>
          <a:p>
            <a:r>
              <a:rPr lang="zh-CN" dirty="0"/>
              <a:t>敏感操作由会话推导客户身份，逐次检查资源归属并核验支付密码，口令使用 scrypt 保存，敏感字段用 AES-256-GCM 加密，模型密钥仅留在服务端。</a:t>
            </a:r>
            <a:endParaRPr lang="zh-CN" dirty="0"/>
          </a:p>
          <a:p>
            <a:r>
              <a:rPr lang="zh-CN" dirty="0"/>
              <a:t>数据库所有者、应用和银行 worker 分权，运行时禁止自动建表，审计、不可变回执与对账异常为后续复核保留证据。</a:t>
            </a:r>
            <a:endParaRPr lang="zh-CN" dirty="0"/>
          </a:p>
          <a:p>
            <a:r>
              <a:rPr lang="zh-CN" dirty="0"/>
              <a:t>这些控制有明确的实现位置，同时报告也列出了真实短信、实名与银行通道未接入，以及浏览器安全头和高可用等后续事项。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Agent 的分工是模型理解需求与组织表达，账户数据、金额、业务状态和执行结果由受控工具及服务端提供。</a:t>
            </a:r>
            <a:endParaRPr lang="zh-CN" dirty="0"/>
          </a:p>
          <a:p>
            <a:r>
              <a:rPr lang="zh-CN" dirty="0"/>
              <a:t>只读查询逐次验证客户归属，写操作生成确认卡，等待客户在网页明确确认，再经过支付密码等业务核验，默认一百八十秒未确认即拒绝。</a:t>
            </a:r>
            <a:endParaRPr lang="zh-CN" dirty="0"/>
          </a:p>
          <a:p>
            <a:r>
              <a:rPr lang="zh-CN" dirty="0"/>
              <a:t>运行时以 DSH 独立 profile 注入银行人格、知识和工具集，客户、员工与运维会话按命名空间隔离，客户工具只暴露受控业务动作。</a:t>
            </a:r>
            <a:endParaRPr lang="zh-CN" dirty="0"/>
          </a:p>
          <a:p>
            <a:r>
              <a:rPr lang="zh-CN" dirty="0"/>
              <a:t>模型输出、工具调用和确认卡事件通过 SSE 按序推送，支持逐字展示和断线后按序续传，让用户看到办理过程的反馈。</a:t>
            </a:r>
            <a:endParaRPr lang="zh-CN" dirty="0"/>
          </a:p>
          <a:p>
            <a:r>
              <a:rPr lang="zh-CN" dirty="0"/>
              <a:t>查询失败不会被描述成零余额，未接入能力不会被编造成成功回执，理财分析不代替客户授权，让自然语言入口在便捷之外保留清晰的责任边界。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我们的独特之处，可以用一条沙箱场景串起来：为选定商户设置每日预算，发起模拟消费，观察额度检查、资金记账和账单如何协同。</a:t>
            </a:r>
            <a:endParaRPr lang="zh-CN" dirty="0"/>
          </a:p>
          <a:p>
            <a:r>
              <a:rPr lang="zh-CN" dirty="0"/>
              <a:t>消费在记账前核验卡状态、渠道、单笔与单日限额、预算及余额币种，超预算时明确给出今日额度、已用金额和本次金额，拦截原因能被直接理解。</a:t>
            </a:r>
            <a:endParaRPr lang="zh-CN" dirty="0"/>
          </a:p>
          <a:p>
            <a:r>
              <a:rPr lang="zh-CN" dirty="0"/>
              <a:t>通过校验的消费先记账，再异步补充分类，模型超时或失败不会将已成功消费回滚，分类结果与账单统计也有明确状态和口径。</a:t>
            </a:r>
            <a:endParaRPr lang="zh-CN" dirty="0"/>
          </a:p>
          <a:p>
            <a:r>
              <a:rPr lang="zh-CN" dirty="0"/>
              <a:t>流程背后是多端协同与规则共享，网页和原生安卓连接同一业务体系，客户与员工各有独立入口和工具边界，工单、审批与代客处置沿用统一事务、幂等和审计，微信渠道提供已确认消息的便捷触达。</a:t>
            </a:r>
            <a:endParaRPr lang="zh-CN" dirty="0"/>
          </a:p>
          <a:p>
            <a:r>
              <a:rPr lang="zh-CN" dirty="0"/>
              <a:t>报告记录了十五个共享规则模块、二十个测试文件和七十八项断言，还有四个专用数据库的整合门禁；门禁缺配置即失败，不把跳过当作通过，发布记录同时保留验证结论与未通过项。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招财猫银行希望让自然语言成为便捷的业务入口，让本人确认、服务端授权和完整事务成为资金操作的共同约束，并通过共享规则、审计与验证门禁保留可核查的工程证据。</a:t>
            </a:r>
            <a:endParaRPr lang="zh-CN" dirty="0"/>
          </a:p>
          <a:p>
            <a:r>
              <a:rPr lang="zh-CN" dirty="0"/>
              <a:t>当前版本是沙箱演示作品，下一步优先接入持牌银行适配器并补齐安全头，再推进短信实名、监管报送和高可用等能力，谢谢大家，欢迎提问。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0" Type="http://schemas.openxmlformats.org/officeDocument/2006/relationships/notesSlide" Target="../notesSlides/notesSlide6.xml"/><Relationship Id="rId2" Type="http://schemas.openxmlformats.org/officeDocument/2006/relationships/tags" Target="../tags/tag14.xml"/><Relationship Id="rId19" Type="http://schemas.openxmlformats.org/officeDocument/2006/relationships/slideLayout" Target="../slideLayouts/slideLayout7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2" Type="http://schemas.openxmlformats.org/officeDocument/2006/relationships/notesSlide" Target="../notesSlides/notesSlide8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50.xml"/><Relationship Id="rId2" Type="http://schemas.openxmlformats.org/officeDocument/2006/relationships/tags" Target="../tags/tag32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tags" Target="../tags/tag45.xml"/><Relationship Id="rId14" Type="http://schemas.openxmlformats.org/officeDocument/2006/relationships/tags" Target="../tags/tag44.xml"/><Relationship Id="rId13" Type="http://schemas.openxmlformats.org/officeDocument/2006/relationships/tags" Target="../tags/tag43.xml"/><Relationship Id="rId12" Type="http://schemas.openxmlformats.org/officeDocument/2006/relationships/tags" Target="../tags/tag42.xml"/><Relationship Id="rId11" Type="http://schemas.openxmlformats.org/officeDocument/2006/relationships/tags" Target="../tags/tag41.xml"/><Relationship Id="rId10" Type="http://schemas.openxmlformats.org/officeDocument/2006/relationships/tags" Target="../tags/tag40.xml"/><Relationship Id="rId1" Type="http://schemas.openxmlformats.org/officeDocument/2006/relationships/tags" Target="../tags/tag3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418319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92124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424159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2708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0" y="420624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1540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19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2124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24159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2708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0" y="470915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1540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18319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2124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424159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2708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0" y="5212079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18319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92124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424159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2708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0" y="5715000"/>
            <a:ext cx="32004" cy="32004"/>
          </a:xfrm>
          <a:prstGeom prst="rect">
            <a:avLst/>
          </a:prstGeom>
          <a:solidFill>
            <a:srgbClr val="1E2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9808" y="841248"/>
            <a:ext cx="841248" cy="841248"/>
          </a:xfrm>
          <a:prstGeom prst="roundRect">
            <a:avLst>
              <a:gd name="adj" fmla="val 32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1005840"/>
            <a:ext cx="841248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5000"/>
              </a:lnSpc>
            </a:pPr>
            <a:r>
              <a:rPr sz="260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</a:t>
            </a:r>
            <a:endParaRPr sz="260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73936" y="9326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8EA3C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M O N E Y   M E O W   B A N K</a:t>
            </a:r>
            <a:endParaRPr sz="1100" b="1" i="0">
              <a:solidFill>
                <a:srgbClr val="8EA3C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773936" y="118872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招财猫银行</a:t>
            </a:r>
            <a:endParaRPr sz="190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49808" y="2212848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200" b="1" i="0" spc="300">
                <a:solidFill>
                  <a:srgbClr val="9B8C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AI BANKING AGENT · 技术答辩</a:t>
            </a:r>
            <a:endParaRPr sz="1200" b="1" i="0" spc="300">
              <a:solidFill>
                <a:srgbClr val="9B8C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/>
          <p:nvPr/>
        </p:nvSpPr>
        <p:spPr>
          <a:xfrm>
            <a:off x="749808" y="2578608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97631" rIns="0" bIns="0" anchor="t" anchorCtr="0">
            <a:noAutofit/>
          </a:bodyPr>
          <a:lstStyle/>
          <a:p>
            <a:pPr algn="l"/>
            <a:r>
              <a:rPr lang="zh-CN" sz="412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安全、便捷地办业务</a:t>
            </a:r>
            <a:endParaRPr lang="zh-CN" sz="4120" b="1" dirty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/>
          <p:nvPr/>
        </p:nvSpPr>
        <p:spPr>
          <a:xfrm>
            <a:off x="749808" y="3529584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54769" rIns="0" bIns="0" anchor="t" anchorCtr="0">
            <a:noAutofit/>
          </a:bodyPr>
          <a:lstStyle/>
          <a:p>
            <a:pPr algn="l"/>
            <a:r>
              <a:rPr lang="zh-CN" sz="1880" dirty="0">
                <a:solidFill>
                  <a:srgbClr val="C7D3E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自然语言办理 · 客户掌握授权 · 资金全程可追溯</a:t>
            </a:r>
            <a:endParaRPr lang="zh-CN" sz="1880" dirty="0">
              <a:solidFill>
                <a:srgbClr val="C7D3E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749808" y="4443984"/>
            <a:ext cx="27432" cy="56692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6112" y="44439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四端一核</a:t>
            </a:r>
            <a:endParaRPr sz="140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96112" y="47183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5C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网页 · 安卓 · 员工端 · IM</a:t>
            </a:r>
            <a:endParaRPr sz="1050" b="0" i="0">
              <a:solidFill>
                <a:srgbClr val="93A5C2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3767328" y="4443984"/>
            <a:ext cx="27432" cy="56692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13632" y="444398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56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115 个端点</a:t>
            </a:r>
            <a:endParaRPr sz="140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913632" y="4718304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93A5C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契约先行 · 同一套规则</a:t>
            </a:r>
            <a:endParaRPr sz="1050" b="0" i="0">
              <a:solidFill>
                <a:srgbClr val="93A5C2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784848" y="4443984"/>
            <a:ext cx="27432" cy="56692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/>
          <p:nvPr/>
        </p:nvSpPr>
        <p:spPr>
          <a:xfrm>
            <a:off x="6931152" y="444398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6196" rIns="0" bIns="0" anchor="t" anchorCtr="0">
            <a:noAutofit/>
          </a:bodyPr>
          <a:lstStyle/>
          <a:p>
            <a:pPr algn="l"/>
            <a:r>
              <a:rPr lang="zh-CN" sz="142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受控 Agent</a:t>
            </a:r>
            <a:endParaRPr lang="zh-CN" sz="1420" b="1" dirty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/>
          <p:nvPr/>
        </p:nvSpPr>
        <p:spPr>
          <a:xfrm>
            <a:off x="6931152" y="4718304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dirty="0">
                <a:solidFill>
                  <a:srgbClr val="93A5C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理解需求 · 确认授权 · 业务执行</a:t>
            </a:r>
            <a:endParaRPr lang="zh-CN" sz="1050" dirty="0">
              <a:solidFill>
                <a:srgbClr val="93A5C2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49808" y="5797296"/>
            <a:ext cx="10692079" cy="10972"/>
          </a:xfrm>
          <a:prstGeom prst="rect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5907024"/>
            <a:ext cx="76809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6E7E9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比赛演示作品 · 非真实银行　|　技术文档同步提交</a:t>
            </a:r>
            <a:endParaRPr sz="950" b="0" i="0">
              <a:solidFill>
                <a:srgbClr val="6E7E9A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84287" y="5907024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25000"/>
              </a:lnSpc>
            </a:pPr>
            <a:endParaRPr sz="950" b="0" i="0">
              <a:solidFill>
                <a:srgbClr val="6E7E9A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9" name="mascot"/>
          <p:cNvGrpSpPr/>
          <p:nvPr/>
        </p:nvGrpSpPr>
        <p:grpSpPr>
          <a:xfrm>
            <a:off x="556895" y="702945"/>
            <a:ext cx="1217295" cy="1116965"/>
            <a:chOff x="7429500" y="1609725"/>
            <a:chExt cx="4095750" cy="4095750"/>
          </a:xfrm>
        </p:grpSpPr>
        <p:pic>
          <p:nvPicPr>
            <p:cNvPr id="50" name="Image 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429500" y="1609725"/>
              <a:ext cx="4095750" cy="40957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ADVANTAGES</a:t>
            </a:r>
            <a:endParaRPr lang="en-US" sz="1150" b="1" i="0" spc="24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/>
          <p:nvPr/>
        </p:nvSpPr>
        <p:spPr>
          <a:xfrm>
            <a:off x="749808" y="731520"/>
            <a:ext cx="10692098" cy="566928"/>
          </a:xfrm>
          <a:prstGeom prst="rect">
            <a:avLst/>
          </a:prstGeom>
          <a:noFill/>
          <a:ln>
            <a:noFill/>
          </a:ln>
        </p:spPr>
        <p:txBody>
          <a:bodyPr wrap="none" lIns="0" tIns="7620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安全可控、业务便捷、智能协同</a:t>
            </a:r>
            <a:endParaRPr lang="zh-CN" sz="300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/>
          <p:nvPr/>
        </p:nvSpPr>
        <p:spPr>
          <a:xfrm>
            <a:off x="749808" y="1298448"/>
            <a:ext cx="10692098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46196" rIns="0" bIns="0" anchor="t" anchorCtr="0">
            <a:noAutofit/>
          </a:bodyPr>
          <a:lstStyle/>
          <a:p>
            <a:pPr algn="l"/>
            <a:endParaRPr lang="zh-CN" sz="142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49808" y="1755648"/>
            <a:ext cx="3381146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2"/>
            </p:custDataLst>
          </p:nvPr>
        </p:nvSpPr>
        <p:spPr>
          <a:xfrm>
            <a:off x="749808" y="1755648"/>
            <a:ext cx="3381146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42415" y="19202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200" b="1" i="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/>
          <p:nvPr>
            <p:custDataLst>
              <p:tags r:id="rId4"/>
            </p:custDataLst>
          </p:nvPr>
        </p:nvSpPr>
        <p:spPr>
          <a:xfrm>
            <a:off x="1042416" y="2322576"/>
            <a:ext cx="28142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5334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安全可控</a:t>
            </a:r>
            <a:endParaRPr lang="zh-CN" sz="180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5"/>
            </p:custDataLst>
          </p:nvPr>
        </p:nvSpPr>
        <p:spPr>
          <a:xfrm>
            <a:off x="4405274" y="1755648"/>
            <a:ext cx="3381146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4405274" y="1755648"/>
            <a:ext cx="3381146" cy="41148"/>
          </a:xfrm>
          <a:prstGeom prst="roundRect">
            <a:avLst>
              <a:gd name="adj" fmla="val 5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4697882" y="19202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306FDB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200" b="1" i="0">
              <a:solidFill>
                <a:srgbClr val="306FDB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/>
          <p:nvPr>
            <p:custDataLst>
              <p:tags r:id="rId8"/>
            </p:custDataLst>
          </p:nvPr>
        </p:nvSpPr>
        <p:spPr>
          <a:xfrm>
            <a:off x="4697920" y="2322576"/>
            <a:ext cx="28142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5334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业务便捷</a:t>
            </a:r>
            <a:endParaRPr lang="zh-CN" sz="180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>
            <p:custDataLst>
              <p:tags r:id="rId9"/>
            </p:custDataLst>
          </p:nvPr>
        </p:nvSpPr>
        <p:spPr>
          <a:xfrm>
            <a:off x="8060740" y="1755648"/>
            <a:ext cx="3381146" cy="30358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10"/>
            </p:custDataLst>
          </p:nvPr>
        </p:nvSpPr>
        <p:spPr>
          <a:xfrm>
            <a:off x="8060740" y="1755648"/>
            <a:ext cx="3381146" cy="41148"/>
          </a:xfrm>
          <a:prstGeom prst="roundRect">
            <a:avLst>
              <a:gd name="adj" fmla="val 50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1"/>
            </p:custDataLst>
          </p:nvPr>
        </p:nvSpPr>
        <p:spPr>
          <a:xfrm>
            <a:off x="8353348" y="1920240"/>
            <a:ext cx="73152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0F8A8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200" b="1" i="0">
              <a:solidFill>
                <a:srgbClr val="0F8A8A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/>
          <p:nvPr>
            <p:custDataLst>
              <p:tags r:id="rId12"/>
            </p:custDataLst>
          </p:nvPr>
        </p:nvSpPr>
        <p:spPr>
          <a:xfrm>
            <a:off x="8353330" y="2322576"/>
            <a:ext cx="281425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53340" rIns="0" bIns="0" anchor="t" anchorCtr="0">
            <a:noAutofit/>
          </a:bodyPr>
          <a:lstStyle/>
          <a:p>
            <a:pPr algn="l"/>
            <a:r>
              <a: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智能协同</a:t>
            </a:r>
            <a:endParaRPr lang="zh-CN" sz="180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9808" y="5047488"/>
            <a:ext cx="10692079" cy="640080"/>
          </a:xfrm>
          <a:prstGeom prst="roundRect">
            <a:avLst>
              <a:gd name="adj" fmla="val 6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/>
          <p:nvPr/>
        </p:nvSpPr>
        <p:spPr>
          <a:xfrm>
            <a:off x="1078992" y="5212080"/>
            <a:ext cx="10052018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47625" rIns="0" bIns="0" anchor="t" anchorCtr="0">
            <a:no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我们的优势：把便捷入口、客户授权与资金约束放进同一条业务链</a:t>
            </a:r>
            <a:endParaRPr lang="zh-CN" sz="1500" b="1" dirty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/>
          <p:nvPr/>
        </p:nvSpPr>
        <p:spPr>
          <a:xfrm>
            <a:off x="7418546" y="6382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5481" rIns="0" bIns="0" anchor="t" anchorCtr="0">
            <a:noAutofit/>
          </a:bodyPr>
          <a:lstStyle/>
          <a:p>
            <a:pPr algn="r"/>
            <a:r>
              <a:rPr lang="zh-CN" sz="860" dirty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技术报告 §1、§2.3、§4.8</a:t>
            </a:r>
            <a:endParaRPr lang="zh-CN" sz="860" dirty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02 / 11</a:t>
            </a:r>
            <a:endParaRPr lang="zh-CN" sz="950" b="1" dirty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ARCHITECTURE</a:t>
            </a:r>
            <a:endParaRPr sz="1150" b="1" i="0" spc="24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五层架构：四端一核</a:t>
            </a:r>
            <a:endParaRPr sz="3000" b="1" i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/>
          <p:nvPr/>
        </p:nvSpPr>
        <p:spPr>
          <a:xfrm>
            <a:off x="749808" y="1298448"/>
            <a:ext cx="10692098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多端共用规则；Agent 通过受控接口办理业务，权限与资金判断始终在服务端</a:t>
            </a:r>
            <a:endParaRPr lang="zh-CN" sz="135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10692079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45920"/>
            <a:ext cx="841248" cy="731520"/>
          </a:xfrm>
          <a:prstGeom prst="roundRect">
            <a:avLst>
              <a:gd name="adj" fmla="val 5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8176" y="1645920"/>
            <a:ext cx="182880" cy="731520"/>
          </a:xfrm>
          <a:prstGeom prst="rect">
            <a:avLst/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883664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客户端层</a:t>
            </a:r>
            <a:endParaRPr sz="95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682495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/>
        </p:nvSpPr>
        <p:spPr>
          <a:xfrm>
            <a:off x="1773936" y="1783080"/>
            <a:ext cx="167754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网页用户端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/>
          <p:nvPr/>
        </p:nvSpPr>
        <p:spPr>
          <a:xfrm>
            <a:off x="1773936" y="1993392"/>
            <a:ext cx="16958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网页 · 34 条路由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634374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/>
        </p:nvSpPr>
        <p:spPr>
          <a:xfrm>
            <a:off x="3725799" y="1783080"/>
            <a:ext cx="167754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安卓客户端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/>
          <p:nvPr/>
        </p:nvSpPr>
        <p:spPr>
          <a:xfrm>
            <a:off x="3725799" y="1993392"/>
            <a:ext cx="16958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原生 Kotlin · Compose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586252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/>
        </p:nvSpPr>
        <p:spPr>
          <a:xfrm>
            <a:off x="5677662" y="1783080"/>
            <a:ext cx="167754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工作人员端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/>
          <p:nvPr/>
        </p:nvSpPr>
        <p:spPr>
          <a:xfrm>
            <a:off x="5677662" y="1993392"/>
            <a:ext cx="16958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工单 · 双人复核 · 审计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538130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/>
        </p:nvSpPr>
        <p:spPr>
          <a:xfrm>
            <a:off x="7629525" y="1783080"/>
            <a:ext cx="167754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IM 渠道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/>
          <p:nvPr/>
        </p:nvSpPr>
        <p:spPr>
          <a:xfrm>
            <a:off x="7629525" y="1993392"/>
            <a:ext cx="16958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微信 · 企业微信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490008" y="1728216"/>
            <a:ext cx="1860438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/>
          <p:nvPr/>
        </p:nvSpPr>
        <p:spPr>
          <a:xfrm>
            <a:off x="9581483" y="1783080"/>
            <a:ext cx="1677543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个人工作台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/>
          <p:nvPr/>
        </p:nvSpPr>
        <p:spPr>
          <a:xfrm>
            <a:off x="9581483" y="1993392"/>
            <a:ext cx="16958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独立日历与提醒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49808" y="2468880"/>
            <a:ext cx="10692079" cy="60350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9808" y="2468880"/>
            <a:ext cx="841248" cy="603504"/>
          </a:xfrm>
          <a:prstGeom prst="roundRect">
            <a:avLst>
              <a:gd name="adj" fmla="val 5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08176" y="2468880"/>
            <a:ext cx="182880" cy="603504"/>
          </a:xfrm>
          <a:prstGeom prst="rect">
            <a:avLst/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642616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接口层</a:t>
            </a:r>
            <a:endParaRPr sz="95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682495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/>
          <p:nvPr/>
        </p:nvSpPr>
        <p:spPr>
          <a:xfrm>
            <a:off x="1773936" y="2606040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/api 银行接口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/>
          <p:nvPr/>
        </p:nvSpPr>
        <p:spPr>
          <a:xfrm>
            <a:off x="1773936" y="2816352"/>
            <a:ext cx="218379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endParaRPr lang="zh-CN" sz="960" b="1" dirty="0">
              <a:solidFill>
                <a:srgbClr val="306FDB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122343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/>
          <p:nvPr/>
        </p:nvSpPr>
        <p:spPr>
          <a:xfrm>
            <a:off x="4213765" y="2606040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en-US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/staff-api</a:t>
            </a:r>
            <a:endParaRPr lang="en-US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/>
          <p:nvPr/>
        </p:nvSpPr>
        <p:spPr>
          <a:xfrm>
            <a:off x="4213765" y="2816352"/>
            <a:ext cx="218379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员工业务独立入口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562191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/>
          <p:nvPr/>
        </p:nvSpPr>
        <p:spPr>
          <a:xfrm>
            <a:off x="6653594" y="2606040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en-US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/agent-api</a:t>
            </a:r>
            <a:endParaRPr lang="en-US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/>
          <p:nvPr/>
        </p:nvSpPr>
        <p:spPr>
          <a:xfrm>
            <a:off x="6653594" y="2816352"/>
            <a:ext cx="218379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客户 Agent · SSE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002039" y="2551176"/>
            <a:ext cx="2348407" cy="43891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/>
          <p:nvPr/>
        </p:nvSpPr>
        <p:spPr>
          <a:xfrm>
            <a:off x="9093518" y="2606040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员工 Agent ×2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/>
          <p:nvPr/>
        </p:nvSpPr>
        <p:spPr>
          <a:xfrm>
            <a:off x="9093518" y="2816352"/>
            <a:ext cx="2183797" cy="14630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员工 / 只读运维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49808" y="3163824"/>
            <a:ext cx="10692079" cy="7863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49808" y="3163824"/>
            <a:ext cx="841248" cy="786384"/>
          </a:xfrm>
          <a:prstGeom prst="roundRect">
            <a:avLst>
              <a:gd name="adj" fmla="val 5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408176" y="3163824"/>
            <a:ext cx="182880" cy="78638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3429000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应用层</a:t>
            </a:r>
            <a:endParaRPr sz="95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1682495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/>
          <p:nvPr/>
        </p:nvSpPr>
        <p:spPr>
          <a:xfrm>
            <a:off x="1773936" y="3300984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银行业务域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/>
          <p:nvPr/>
        </p:nvSpPr>
        <p:spPr>
          <a:xfrm>
            <a:off x="1773936" y="3511296"/>
            <a:ext cx="2183797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账户 · 卡 · 转账 · 理财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4122343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/>
          <p:nvPr/>
        </p:nvSpPr>
        <p:spPr>
          <a:xfrm>
            <a:off x="4213765" y="3300984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安全网关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/>
          <p:nvPr/>
        </p:nvSpPr>
        <p:spPr>
          <a:xfrm>
            <a:off x="4213765" y="3511296"/>
            <a:ext cx="2183797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限流 · 幂等 · 授权 · 审计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6562191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/>
          <p:nvPr/>
        </p:nvSpPr>
        <p:spPr>
          <a:xfrm>
            <a:off x="6653594" y="3300984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Agent 运行时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/>
          <p:nvPr/>
        </p:nvSpPr>
        <p:spPr>
          <a:xfrm>
            <a:off x="6653594" y="3511296"/>
            <a:ext cx="2183797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Profile + 工具白名单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002039" y="3246120"/>
            <a:ext cx="2348407" cy="621792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/>
          <p:nvPr/>
        </p:nvSpPr>
        <p:spPr>
          <a:xfrm>
            <a:off x="9093518" y="3300984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对账与出纳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/>
          <p:nvPr/>
        </p:nvSpPr>
        <p:spPr>
          <a:xfrm>
            <a:off x="9093518" y="3511296"/>
            <a:ext cx="2183797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回执 · outbox · 对账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749808" y="4041648"/>
            <a:ext cx="10692079" cy="457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49808" y="4041648"/>
            <a:ext cx="841248" cy="457200"/>
          </a:xfrm>
          <a:prstGeom prst="roundRect">
            <a:avLst>
              <a:gd name="adj" fmla="val 5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408176" y="4041648"/>
            <a:ext cx="182880" cy="457200"/>
          </a:xfrm>
          <a:prstGeom prst="rect">
            <a:avLst/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8" y="414223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规则层</a:t>
            </a:r>
            <a:endParaRPr sz="95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682495" y="4123944"/>
            <a:ext cx="9667951" cy="29260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/>
          <p:nvPr/>
        </p:nvSpPr>
        <p:spPr>
          <a:xfrm>
            <a:off x="1773936" y="4178808"/>
            <a:ext cx="9485090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shared/ 纯函数规则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6" name="TextBox 156"/>
          <p:cNvSpPr txBox="1"/>
          <p:nvPr/>
        </p:nvSpPr>
        <p:spPr>
          <a:xfrm>
            <a:off x="1769174" y="4410075"/>
            <a:ext cx="451472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15 个纯函数模块：会员、预算、账单、理财、分摊；网页 mock、后端、Agent 共用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749808" y="4590288"/>
            <a:ext cx="10692079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49808" y="4590288"/>
            <a:ext cx="841248" cy="731520"/>
          </a:xfrm>
          <a:prstGeom prst="roundRect">
            <a:avLst>
              <a:gd name="adj" fmla="val 5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408176" y="4590288"/>
            <a:ext cx="182880" cy="731520"/>
          </a:xfrm>
          <a:prstGeom prst="rect">
            <a:avLst/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8" y="4828032"/>
            <a:ext cx="841248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数据层</a:t>
            </a:r>
            <a:endParaRPr sz="95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Rounded Rectangle 66"/>
          <p:cNvSpPr/>
          <p:nvPr/>
        </p:nvSpPr>
        <p:spPr>
          <a:xfrm>
            <a:off x="1682495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/>
          <p:nvPr/>
        </p:nvSpPr>
        <p:spPr>
          <a:xfrm>
            <a:off x="1773936" y="4727448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en-US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PostgreSQL 16</a:t>
            </a:r>
            <a:endParaRPr lang="en-US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/>
          <p:nvPr/>
        </p:nvSpPr>
        <p:spPr>
          <a:xfrm>
            <a:off x="1773936" y="4937760"/>
            <a:ext cx="2183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四个 schema 分工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4122343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/>
          <p:nvPr/>
        </p:nvSpPr>
        <p:spPr>
          <a:xfrm>
            <a:off x="4213765" y="4727448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AI 会话库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/>
          <p:nvPr/>
        </p:nvSpPr>
        <p:spPr>
          <a:xfrm>
            <a:off x="4213765" y="4937760"/>
            <a:ext cx="2183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客户 / 员工 / 运维隔离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6562191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/>
          <p:nvPr/>
        </p:nvSpPr>
        <p:spPr>
          <a:xfrm>
            <a:off x="6653594" y="4727448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定时任务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/>
          <p:nvPr/>
        </p:nvSpPr>
        <p:spPr>
          <a:xfrm>
            <a:off x="6653594" y="4937760"/>
            <a:ext cx="2183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备份 · 对账 · 巡检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9002039" y="4672583"/>
            <a:ext cx="2348407" cy="566928"/>
          </a:xfrm>
          <a:prstGeom prst="roundRect">
            <a:avLst>
              <a:gd name="adj" fmla="val 8000"/>
            </a:avLst>
          </a:prstGeom>
          <a:solidFill>
            <a:srgbClr val="FBFCFF"/>
          </a:solidFill>
          <a:ln w="7620">
            <a:solidFill>
              <a:srgbClr val="EAEF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/>
          <p:nvPr/>
        </p:nvSpPr>
        <p:spPr>
          <a:xfrm>
            <a:off x="9093518" y="4727448"/>
            <a:ext cx="2165509" cy="219456"/>
          </a:xfrm>
          <a:prstGeom prst="rect">
            <a:avLst/>
          </a:prstGeom>
          <a:noFill/>
          <a:ln>
            <a:noFill/>
          </a:ln>
        </p:spPr>
        <p:txBody>
          <a:bodyPr wrap="none" lIns="0" tIns="39052" rIns="0" bIns="0" anchor="t" anchorCtr="0">
            <a:noAutofit/>
          </a:bodyPr>
          <a:lstStyle/>
          <a:p>
            <a:pPr algn="l"/>
            <a:r>
              <a:rPr lang="zh-CN" sz="105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主机加固</a:t>
            </a:r>
            <a:endParaRPr lang="zh-CN" sz="105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Box 77"/>
          <p:cNvSpPr/>
          <p:nvPr/>
        </p:nvSpPr>
        <p:spPr>
          <a:xfrm>
            <a:off x="9093518" y="4937760"/>
            <a:ext cx="21837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6195" rIns="0" bIns="0" anchor="t" anchorCtr="0">
            <a:noAutofit/>
          </a:bodyPr>
          <a:lstStyle/>
          <a:p>
            <a:pPr algn="l"/>
            <a:r>
              <a:rPr lang="zh-CN" sz="90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最小权限 · 进程加固</a:t>
            </a:r>
            <a:endParaRPr lang="zh-CN" sz="90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6086703" y="2395728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086703" y="3145536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086703" y="3986784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086703" y="4590288"/>
            <a:ext cx="18288" cy="8229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49808" y="5705856"/>
            <a:ext cx="27432" cy="51206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361688" y="5705856"/>
            <a:ext cx="27432" cy="512064"/>
          </a:xfrm>
          <a:prstGeom prst="rect">
            <a:avLst/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73568" y="5705856"/>
            <a:ext cx="27432" cy="512064"/>
          </a:xfrm>
          <a:prstGeom prst="rect">
            <a:avLst/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03 / 11</a:t>
            </a:r>
            <a:endParaRPr lang="zh-CN" sz="950" b="1" dirty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sz="1150" b="1" i="0" spc="24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账户与</a:t>
            </a:r>
            <a:r>
              <a:rPr lang="zh-CN"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支付</a:t>
            </a:r>
            <a:endParaRPr lang="zh-CN" sz="3000" b="1" i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04 / 11</a:t>
            </a:r>
            <a:endParaRPr lang="zh-CN" sz="950" b="1" dirty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3" name="account-model"/>
          <p:cNvGrpSpPr/>
          <p:nvPr/>
        </p:nvGrpSpPr>
        <p:grpSpPr>
          <a:xfrm>
            <a:off x="752475" y="1857375"/>
            <a:ext cx="5105400" cy="3219450"/>
            <a:chOff x="752475" y="1857375"/>
            <a:chExt cx="5105400" cy="3219450"/>
          </a:xfrm>
        </p:grpSpPr>
        <p:sp>
          <p:nvSpPr>
            <p:cNvPr id="9" name="Rectangle 9"/>
            <p:cNvSpPr/>
            <p:nvPr/>
          </p:nvSpPr>
          <p:spPr>
            <a:xfrm>
              <a:off x="752475" y="1857375"/>
              <a:ext cx="5105400" cy="3219450"/>
            </a:xfrm>
            <a:prstGeom prst="roundRect">
              <a:avLst>
                <a:gd name="adj" fmla="val 3550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10" name="Rectangle 10"/>
            <p:cNvSpPr/>
            <p:nvPr/>
          </p:nvSpPr>
          <p:spPr>
            <a:xfrm>
              <a:off x="752475" y="1857375"/>
              <a:ext cx="5105400" cy="381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971931" y="2041525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一个账户，多币种、多张卡</a:t>
              </a:r>
              <a:endPara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0407" y="2432050"/>
              <a:ext cx="228295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533AFD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唯一储蓄资金账户</a:t>
              </a:r>
              <a:endParaRPr lang="zh-CN" sz="2100" b="1" dirty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4217" y="2835275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统一账号 · 币种分别记账 · 卡片作为支付工具</a:t>
              </a:r>
              <a:endParaRPr lang="zh-CN" sz="135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81075" y="3276600"/>
              <a:ext cx="1390650" cy="504825"/>
            </a:xfrm>
            <a:prstGeom prst="roundRect">
              <a:avLst>
                <a:gd name="adj" fmla="val 13208"/>
              </a:avLst>
            </a:prstGeom>
            <a:solidFill>
              <a:srgbClr val="F2F0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5" name="TextBox 15"/>
            <p:cNvSpPr txBox="1"/>
            <p:nvPr/>
          </p:nvSpPr>
          <p:spPr>
            <a:xfrm>
              <a:off x="1200352" y="3435350"/>
              <a:ext cx="952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00" b="1" dirty="0">
                  <a:solidFill>
                    <a:srgbClr val="533AFD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人民币 CNY</a:t>
              </a:r>
              <a:endParaRPr lang="zh-CN" sz="1300" b="1" dirty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43175" y="3276600"/>
              <a:ext cx="1390650" cy="504825"/>
            </a:xfrm>
            <a:prstGeom prst="roundRect">
              <a:avLst>
                <a:gd name="adj" fmla="val 13208"/>
              </a:avLst>
            </a:prstGeom>
            <a:solidFill>
              <a:srgbClr val="F2F0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/>
          </p:nvSpPr>
          <p:spPr>
            <a:xfrm>
              <a:off x="2853320" y="3435350"/>
              <a:ext cx="770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00" b="1" dirty="0">
                  <a:solidFill>
                    <a:srgbClr val="533AFD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美元 USD</a:t>
              </a:r>
              <a:endParaRPr lang="zh-CN" sz="1300" b="1" dirty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105275" y="3276600"/>
              <a:ext cx="1390650" cy="504825"/>
            </a:xfrm>
            <a:prstGeom prst="roundRect">
              <a:avLst>
                <a:gd name="adj" fmla="val 13208"/>
              </a:avLst>
            </a:prstGeom>
            <a:solidFill>
              <a:srgbClr val="F2F0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9" name="TextBox 19"/>
            <p:cNvSpPr txBox="1"/>
            <p:nvPr/>
          </p:nvSpPr>
          <p:spPr>
            <a:xfrm>
              <a:off x="4415420" y="3435350"/>
              <a:ext cx="7703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00" b="1" dirty="0">
                  <a:solidFill>
                    <a:srgbClr val="533AFD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港币 HKD</a:t>
              </a:r>
              <a:endParaRPr lang="zh-CN" sz="1300" b="1" dirty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981075" y="4000500"/>
              <a:ext cx="4648200" cy="9525"/>
            </a:xfrm>
            <a:custGeom>
              <a:avLst/>
              <a:gdLst/>
              <a:ahLst/>
              <a:cxnLst/>
              <a:rect l="l" t="t" r="r" b="b"/>
              <a:pathLst>
                <a:path w="4648200" h="9525">
                  <a:moveTo>
                    <a:pt x="0" y="0"/>
                  </a:moveTo>
                  <a:lnTo>
                    <a:pt x="4648200" y="0"/>
                  </a:lnTo>
                </a:path>
              </a:pathLst>
            </a:custGeom>
            <a:noFill/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973074" y="4162425"/>
              <a:ext cx="3057832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Visa / 银联卡关联同一资金账户</a:t>
              </a:r>
              <a:endParaRPr lang="zh-CN" sz="158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4217" y="452120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开卡、换卡、锁卡都不另建账户</a:t>
              </a:r>
              <a:endParaRPr lang="zh-CN" sz="135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3" name="payment-value"/>
          <p:cNvGrpSpPr/>
          <p:nvPr/>
        </p:nvGrpSpPr>
        <p:grpSpPr>
          <a:xfrm>
            <a:off x="6153150" y="1924050"/>
            <a:ext cx="3851148" cy="2781300"/>
            <a:chOff x="6153150" y="1924050"/>
            <a:chExt cx="3851148" cy="2781300"/>
          </a:xfrm>
        </p:grpSpPr>
        <p:sp>
          <p:nvSpPr>
            <p:cNvPr id="24" name="Rectangle 24"/>
            <p:cNvSpPr/>
            <p:nvPr/>
          </p:nvSpPr>
          <p:spPr>
            <a:xfrm>
              <a:off x="6153150" y="1924050"/>
              <a:ext cx="38100" cy="7239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5" name="TextBox 25"/>
            <p:cNvSpPr txBox="1"/>
            <p:nvPr/>
          </p:nvSpPr>
          <p:spPr>
            <a:xfrm>
              <a:off x="6353937" y="1936750"/>
              <a:ext cx="279608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533AFD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便捷｜集中管理账户与卡片</a:t>
              </a:r>
              <a:endParaRPr lang="zh-CN" sz="1720" b="1" dirty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5842" y="233045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多币种余额、卡状态与资金信息清晰呈现</a:t>
              </a:r>
              <a:endParaRPr lang="zh-CN" sz="135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53150" y="2952750"/>
              <a:ext cx="38100" cy="723900"/>
            </a:xfrm>
            <a:prstGeom prst="roundRect">
              <a:avLst>
                <a:gd name="adj" fmla="val 50000"/>
              </a:avLst>
            </a:prstGeom>
            <a:solidFill>
              <a:srgbClr val="306FD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6353937" y="2965450"/>
              <a:ext cx="3027629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306FDB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安全｜卡状态与资金权限分离</a:t>
              </a:r>
              <a:endParaRPr lang="zh-CN" sz="1720" b="1" dirty="0">
                <a:solidFill>
                  <a:srgbClr val="306FDB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355842" y="335915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锁定、挂失或未激活卡片拒绝消费</a:t>
              </a:r>
              <a:endParaRPr lang="zh-CN" sz="135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153150" y="3981450"/>
              <a:ext cx="38100" cy="723900"/>
            </a:xfrm>
            <a:prstGeom prst="roundRect">
              <a:avLst>
                <a:gd name="adj" fmla="val 50000"/>
              </a:avLst>
            </a:prstGeom>
            <a:solidFill>
              <a:srgbClr val="0F8A8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1" name="TextBox 31"/>
            <p:cNvSpPr txBox="1"/>
            <p:nvPr/>
          </p:nvSpPr>
          <p:spPr>
            <a:xfrm>
              <a:off x="6353937" y="3994150"/>
              <a:ext cx="256453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b="1" dirty="0">
                  <a:solidFill>
                    <a:srgbClr val="0F8A8A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透明｜费用与限额先确认</a:t>
              </a:r>
              <a:endParaRPr lang="zh-CN" sz="1720" b="1" dirty="0">
                <a:solidFill>
                  <a:srgbClr val="0F8A8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355842" y="4387850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报价、会员费率、额度与币种由统一规则校验</a:t>
              </a:r>
              <a:endParaRPr lang="zh-CN" sz="135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7" name="benefit-takeaway"/>
          <p:cNvGrpSpPr/>
          <p:nvPr/>
        </p:nvGrpSpPr>
        <p:grpSpPr>
          <a:xfrm>
            <a:off x="752475" y="5248275"/>
            <a:ext cx="10696575" cy="771525"/>
            <a:chOff x="752475" y="5248275"/>
            <a:chExt cx="10696575" cy="771525"/>
          </a:xfrm>
        </p:grpSpPr>
        <p:sp>
          <p:nvSpPr>
            <p:cNvPr id="34" name="Rectangle 34"/>
            <p:cNvSpPr/>
            <p:nvPr/>
          </p:nvSpPr>
          <p:spPr>
            <a:xfrm>
              <a:off x="752475" y="5248275"/>
              <a:ext cx="10696575" cy="771525"/>
            </a:xfrm>
            <a:prstGeom prst="roundRect">
              <a:avLst>
                <a:gd name="adj" fmla="val 7407"/>
              </a:avLst>
            </a:prstGeom>
            <a:solidFill>
              <a:srgbClr val="101C3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" name="TextBox 35"/>
            <p:cNvSpPr txBox="1"/>
            <p:nvPr/>
          </p:nvSpPr>
          <p:spPr>
            <a:xfrm>
              <a:off x="972693" y="5340350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优势：操作入口集中，资金关系清晰</a:t>
              </a:r>
              <a:endParaRPr lang="zh-CN" sz="165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74598" y="5667375"/>
              <a:ext cx="44931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2DAEA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卡片管理不改变资金归属；敏感动作仍由服务端验密与授权</a:t>
              </a:r>
              <a:endParaRPr lang="zh-CN" sz="1280" dirty="0">
                <a:solidFill>
                  <a:srgbClr val="D2DAE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ALGORITHM 0</a:t>
            </a: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sz="1150" b="1" i="0" spc="24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转账：冻结 → 结清 / 释放</a:t>
            </a:r>
            <a:endParaRPr sz="3000" b="1" i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/>
          <p:nvPr/>
        </p:nvSpPr>
        <p:spPr>
          <a:xfrm>
            <a:off x="749808" y="1298448"/>
            <a:ext cx="10692098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44767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余额、冻结、流水与凭证同事务提交；异常整笔回滚，客户可在在途窗口撤销</a:t>
            </a:r>
            <a:endParaRPr lang="zh-CN" sz="135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40" b="1" i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300" b="1" i="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/>
          <p:nvPr/>
        </p:nvSpPr>
        <p:spPr>
          <a:xfrm>
            <a:off x="877824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受理校验</a:t>
            </a:r>
            <a:endParaRPr lang="zh-CN" sz="128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/>
          <p:nvPr/>
        </p:nvSpPr>
        <p:spPr>
          <a:xfrm>
            <a:off x="877824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收款人核验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账户归属校验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渠道范围校验</a:t>
            </a:r>
            <a:endParaRPr lang="zh-CN" sz="106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04872" y="2304288"/>
            <a:ext cx="82296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2450592" y="2235708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96896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96896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24912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40" b="1" i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300" b="1" i="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/>
          <p:nvPr/>
        </p:nvSpPr>
        <p:spPr>
          <a:xfrm>
            <a:off x="2724912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报价限额</a:t>
            </a:r>
            <a:endParaRPr lang="zh-CN" sz="128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/>
          <p:nvPr/>
        </p:nvSpPr>
        <p:spPr>
          <a:xfrm>
            <a:off x="2724912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汇率与手续费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会员权益规则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单笔与单日限额</a:t>
            </a:r>
            <a:endParaRPr lang="zh-CN" sz="106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51959" y="2304288"/>
            <a:ext cx="82296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4297679" y="2235708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43983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43983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1999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40" b="1" i="0">
                <a:solidFill>
                  <a:srgbClr val="D92159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300" b="1" i="0">
              <a:solidFill>
                <a:srgbClr val="D92159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/>
          <p:nvPr/>
        </p:nvSpPr>
        <p:spPr>
          <a:xfrm>
            <a:off x="4572000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支付验密</a:t>
            </a:r>
            <a:endParaRPr lang="zh-CN" sz="128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/>
          <p:nvPr/>
        </p:nvSpPr>
        <p:spPr>
          <a:xfrm>
            <a:off x="4572000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scrypt 验证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错误次数留存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不保存明文</a:t>
            </a:r>
            <a:endParaRPr lang="zh-CN" sz="106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099047" y="2304288"/>
            <a:ext cx="82296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6144767" y="2235708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91071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91071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7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40" b="1" i="0">
                <a:solidFill>
                  <a:srgbClr val="306FDB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300" b="1" i="0">
              <a:solidFill>
                <a:srgbClr val="306FDB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/>
          <p:nvPr/>
        </p:nvSpPr>
        <p:spPr>
          <a:xfrm>
            <a:off x="6419088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冻结预留</a:t>
            </a:r>
            <a:endParaRPr lang="zh-CN" sz="128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/>
          <p:nvPr/>
        </p:nvSpPr>
        <p:spPr>
          <a:xfrm>
            <a:off x="6419088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按付款币种预留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只占本指令金额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并发事务锁</a:t>
            </a:r>
            <a:endParaRPr lang="zh-CN" sz="106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946136" y="2304288"/>
            <a:ext cx="82296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Isosceles Triangle 31"/>
          <p:cNvSpPr/>
          <p:nvPr/>
        </p:nvSpPr>
        <p:spPr>
          <a:xfrm rot="5400000">
            <a:off x="7991856" y="2235708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38159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138159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66175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40" b="1" i="0">
                <a:solidFill>
                  <a:srgbClr val="306FDB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300" b="1" i="0">
              <a:solidFill>
                <a:srgbClr val="306FDB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/>
          <p:nvPr/>
        </p:nvSpPr>
        <p:spPr>
          <a:xfrm>
            <a:off x="8266176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指令落账</a:t>
            </a:r>
            <a:endParaRPr lang="zh-CN" sz="128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/>
          <p:nvPr/>
        </p:nvSpPr>
        <p:spPr>
          <a:xfrm>
            <a:off x="8266176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记录在途状态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双边流水与凭证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幂等响应同事务</a:t>
            </a:r>
            <a:endParaRPr lang="zh-CN" sz="106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793224" y="2304288"/>
            <a:ext cx="82296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Isosceles Triangle 38"/>
          <p:cNvSpPr/>
          <p:nvPr/>
        </p:nvSpPr>
        <p:spPr>
          <a:xfrm rot="5400000">
            <a:off x="9838944" y="2235708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85247" y="1645920"/>
            <a:ext cx="1609344" cy="1335024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985247" y="1645920"/>
            <a:ext cx="1609344" cy="41148"/>
          </a:xfrm>
          <a:prstGeom prst="roundRect">
            <a:avLst>
              <a:gd name="adj" fmla="val 50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13263" y="1719072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440" b="1" i="0">
                <a:solidFill>
                  <a:srgbClr val="0F8A8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300" b="1" i="0">
              <a:solidFill>
                <a:srgbClr val="0F8A8A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/>
          <p:nvPr/>
        </p:nvSpPr>
        <p:spPr>
          <a:xfrm>
            <a:off x="10113264" y="1975104"/>
            <a:ext cx="1389888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/>
            <a:r>
              <a:rPr lang="zh-CN" sz="128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结清／释放</a:t>
            </a:r>
            <a:endParaRPr lang="zh-CN" sz="1280" b="1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/>
          <p:nvPr/>
        </p:nvSpPr>
        <p:spPr>
          <a:xfrm>
            <a:off x="10113264" y="2267712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wrap="none" lIns="0" tIns="39338" rIns="0" bIns="0" anchor="t" anchorCtr="0">
            <a:noAutofit/>
          </a:bodyPr>
          <a:lstStyle/>
          <a:p>
            <a:pPr algn="l">
              <a:lnSpc>
                <a:spcPts val="1650"/>
              </a:lnSpc>
            </a:pP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结清确认后扣款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撤销释放原冻结</a:t>
            </a:r>
            <a:b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6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回执只增不改</a:t>
            </a:r>
            <a:endParaRPr lang="zh-CN" sz="106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49808" y="3218688"/>
            <a:ext cx="5074920" cy="1207008"/>
          </a:xfrm>
          <a:prstGeom prst="roundRect">
            <a:avLst>
              <a:gd name="adj" fmla="val 6000"/>
            </a:avLst>
          </a:prstGeom>
          <a:solidFill>
            <a:srgbClr val="FFF5F8"/>
          </a:solidFill>
          <a:ln w="10160">
            <a:solidFill>
              <a:srgbClr val="F6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/>
          <p:nvPr/>
        </p:nvSpPr>
        <p:spPr>
          <a:xfrm>
            <a:off x="987552" y="3346704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9054" rIns="0" bIns="0" anchor="t" anchorCtr="0">
            <a:noAutofit/>
          </a:bodyPr>
          <a:lstStyle/>
          <a:p>
            <a:pPr algn="l"/>
            <a:r>
              <a:rPr lang="zh-CN" sz="1580" b="1" dirty="0">
                <a:solidFill>
                  <a:srgbClr val="D92159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便捷｜</a:t>
            </a:r>
            <a:endParaRPr lang="zh-CN" sz="1580" b="1" dirty="0">
              <a:solidFill>
                <a:srgbClr val="D92159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/>
          <p:nvPr/>
        </p:nvSpPr>
        <p:spPr>
          <a:xfrm>
            <a:off x="987552" y="3621024"/>
            <a:ext cx="46177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>
              <a:lnSpc>
                <a:spcPts val="1875"/>
              </a:lnSpc>
            </a:pPr>
            <a:endParaRPr lang="zh-CN" sz="128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6126480" y="3218688"/>
            <a:ext cx="5312664" cy="1207008"/>
          </a:xfrm>
          <a:prstGeom prst="roundRect">
            <a:avLst>
              <a:gd name="adj" fmla="val 6000"/>
            </a:avLst>
          </a:prstGeom>
          <a:solidFill>
            <a:srgbClr val="F0FBFB"/>
          </a:solidFill>
          <a:ln w="10160">
            <a:solidFill>
              <a:srgbClr val="C9E9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/>
          <p:nvPr/>
        </p:nvSpPr>
        <p:spPr>
          <a:xfrm>
            <a:off x="6364224" y="3346704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9054" rIns="0" bIns="0" anchor="t" anchorCtr="0">
            <a:noAutofit/>
          </a:bodyPr>
          <a:lstStyle/>
          <a:p>
            <a:pPr algn="l"/>
            <a:r>
              <a:rPr lang="zh-CN" sz="1580" b="1" dirty="0">
                <a:solidFill>
                  <a:srgbClr val="0F8A8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安全｜</a:t>
            </a:r>
            <a:endParaRPr lang="zh-CN" sz="1580" b="1" dirty="0">
              <a:solidFill>
                <a:srgbClr val="0F8A8A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/>
          <p:nvPr/>
        </p:nvSpPr>
        <p:spPr>
          <a:xfrm>
            <a:off x="6364224" y="3621024"/>
            <a:ext cx="484632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43339" rIns="0" bIns="0" anchor="t" anchorCtr="0">
            <a:noAutofit/>
          </a:bodyPr>
          <a:lstStyle/>
          <a:p>
            <a:pPr algn="l">
              <a:lnSpc>
                <a:spcPts val="1875"/>
              </a:lnSpc>
            </a:pPr>
            <a:endParaRPr lang="zh-CN" sz="128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749808" y="4645152"/>
            <a:ext cx="10692079" cy="841248"/>
          </a:xfrm>
          <a:prstGeom prst="roundRect">
            <a:avLst>
              <a:gd name="adj" fmla="val 6000"/>
            </a:avLst>
          </a:prstGeom>
          <a:solidFill>
            <a:srgbClr val="101C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/>
          <p:nvPr/>
        </p:nvSpPr>
        <p:spPr>
          <a:xfrm>
            <a:off x="1060704" y="4773168"/>
            <a:ext cx="1005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20765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核心优势：资金变更与证据同步提交</a:t>
            </a:r>
            <a:endParaRPr lang="zh-CN" sz="1720" b="1" dirty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/>
          <p:nvPr/>
        </p:nvSpPr>
        <p:spPr>
          <a:xfrm>
            <a:off x="1060704" y="5029200"/>
            <a:ext cx="10052018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101918" rIns="0" bIns="0" anchor="t" anchorCtr="0">
            <a:no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崩溃或校验失败整笔回滚，避免出现资金已变动、流水或凭证未完成的中间状态</a:t>
            </a:r>
            <a:endParaRPr lang="zh-CN" sz="1350" dirty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05 / 11</a:t>
            </a:r>
            <a:endParaRPr lang="zh-CN" sz="950" b="1" dirty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sz="1150" b="1" i="0" spc="24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账单与</a:t>
            </a:r>
            <a:r>
              <a:rPr lang="zh-CN"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资金</a:t>
            </a:r>
            <a:endParaRPr lang="zh-CN" sz="3000" b="1" i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06 / 11</a:t>
            </a:r>
            <a:endParaRPr lang="zh-CN" sz="950" b="1" dirty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4" name="statements"/>
          <p:cNvGrpSpPr/>
          <p:nvPr>
            <p:custDataLst>
              <p:tags r:id="rId1"/>
            </p:custDataLst>
          </p:nvPr>
        </p:nvGrpSpPr>
        <p:grpSpPr>
          <a:xfrm>
            <a:off x="752475" y="1857375"/>
            <a:ext cx="3381375" cy="3219450"/>
            <a:chOff x="752475" y="1857375"/>
            <a:chExt cx="3381375" cy="3219450"/>
          </a:xfrm>
        </p:grpSpPr>
        <p:sp>
          <p:nvSpPr>
            <p:cNvPr id="9" name="Rectangle 9"/>
            <p:cNvSpPr/>
            <p:nvPr>
              <p:custDataLst>
                <p:tags r:id="rId2"/>
              </p:custDataLst>
            </p:nvPr>
          </p:nvSpPr>
          <p:spPr>
            <a:xfrm>
              <a:off x="752475" y="1857375"/>
              <a:ext cx="3381375" cy="3219450"/>
            </a:xfrm>
            <a:prstGeom prst="roundRect">
              <a:avLst>
                <a:gd name="adj" fmla="val 3550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10" name="Rectangle 10"/>
            <p:cNvSpPr/>
            <p:nvPr>
              <p:custDataLst>
                <p:tags r:id="rId3"/>
              </p:custDataLst>
            </p:nvPr>
          </p:nvSpPr>
          <p:spPr>
            <a:xfrm>
              <a:off x="752475" y="1857375"/>
              <a:ext cx="3381375" cy="381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>
              <p:custDataLst>
                <p:tags r:id="rId4"/>
              </p:custDataLst>
            </p:nvPr>
          </p:nvSpPr>
          <p:spPr>
            <a:xfrm>
              <a:off x="971931" y="2041525"/>
              <a:ext cx="9144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账单</a:t>
              </a:r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分析</a:t>
              </a:r>
              <a:endPara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>
              <p:custDataLst>
                <p:tags r:id="rId5"/>
              </p:custDataLst>
            </p:nvPr>
          </p:nvSpPr>
          <p:spPr>
            <a:xfrm>
              <a:off x="972693" y="25304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533AFD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统一统计口径</a:t>
              </a:r>
              <a:endParaRPr lang="zh-CN" sz="1650" b="1" dirty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>
              <p:custDataLst>
                <p:tags r:id="rId6"/>
              </p:custDataLst>
            </p:nvPr>
          </p:nvSpPr>
          <p:spPr>
            <a:xfrm>
              <a:off x="974217" y="2936875"/>
              <a:ext cx="127000" cy="384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endParaRPr lang="zh-CN" sz="130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0" name="budgets"/>
          <p:cNvGrpSpPr/>
          <p:nvPr>
            <p:custDataLst>
              <p:tags r:id="rId7"/>
            </p:custDataLst>
          </p:nvPr>
        </p:nvGrpSpPr>
        <p:grpSpPr>
          <a:xfrm>
            <a:off x="4410075" y="1857375"/>
            <a:ext cx="3381375" cy="3219450"/>
            <a:chOff x="4410075" y="1857375"/>
            <a:chExt cx="3381375" cy="3219450"/>
          </a:xfrm>
        </p:grpSpPr>
        <p:sp>
          <p:nvSpPr>
            <p:cNvPr id="15" name="Rectangle 15"/>
            <p:cNvSpPr/>
            <p:nvPr>
              <p:custDataLst>
                <p:tags r:id="rId8"/>
              </p:custDataLst>
            </p:nvPr>
          </p:nvSpPr>
          <p:spPr>
            <a:xfrm>
              <a:off x="4410075" y="1857375"/>
              <a:ext cx="3381375" cy="3219450"/>
            </a:xfrm>
            <a:prstGeom prst="roundRect">
              <a:avLst>
                <a:gd name="adj" fmla="val 3550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16" name="Rectangle 16"/>
            <p:cNvSpPr/>
            <p:nvPr>
              <p:custDataLst>
                <p:tags r:id="rId9"/>
              </p:custDataLst>
            </p:nvPr>
          </p:nvSpPr>
          <p:spPr>
            <a:xfrm>
              <a:off x="4410075" y="1857375"/>
              <a:ext cx="3381375" cy="38100"/>
            </a:xfrm>
            <a:prstGeom prst="roundRect">
              <a:avLst>
                <a:gd name="adj" fmla="val 50000"/>
              </a:avLst>
            </a:prstGeom>
            <a:solidFill>
              <a:srgbClr val="306FD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" name="TextBox 17"/>
            <p:cNvSpPr txBox="1"/>
            <p:nvPr>
              <p:custDataLst>
                <p:tags r:id="rId10"/>
              </p:custDataLst>
            </p:nvPr>
          </p:nvSpPr>
          <p:spPr>
            <a:xfrm>
              <a:off x="4629531" y="2041525"/>
              <a:ext cx="9144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预算</a:t>
              </a:r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控制</a:t>
              </a:r>
              <a:endPara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11"/>
              </p:custDataLst>
            </p:nvPr>
          </p:nvSpPr>
          <p:spPr>
            <a:xfrm>
              <a:off x="4630293" y="2530475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06FDB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额度在消费前校验</a:t>
              </a:r>
              <a:endParaRPr lang="zh-CN" sz="1650" b="1" dirty="0">
                <a:solidFill>
                  <a:srgbClr val="306FDB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12"/>
              </p:custDataLst>
            </p:nvPr>
          </p:nvSpPr>
          <p:spPr>
            <a:xfrm>
              <a:off x="4631817" y="2936875"/>
              <a:ext cx="127000" cy="384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endParaRPr lang="zh-CN" sz="130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6" name="splitting"/>
          <p:cNvGrpSpPr/>
          <p:nvPr>
            <p:custDataLst>
              <p:tags r:id="rId13"/>
            </p:custDataLst>
          </p:nvPr>
        </p:nvGrpSpPr>
        <p:grpSpPr>
          <a:xfrm>
            <a:off x="8067675" y="1857375"/>
            <a:ext cx="3381375" cy="3219450"/>
            <a:chOff x="8067675" y="1857375"/>
            <a:chExt cx="3381375" cy="3219450"/>
          </a:xfrm>
        </p:grpSpPr>
        <p:sp>
          <p:nvSpPr>
            <p:cNvPr id="21" name="Rectangle 21"/>
            <p:cNvSpPr/>
            <p:nvPr>
              <p:custDataLst>
                <p:tags r:id="rId14"/>
              </p:custDataLst>
            </p:nvPr>
          </p:nvSpPr>
          <p:spPr>
            <a:xfrm>
              <a:off x="8067675" y="1857375"/>
              <a:ext cx="3381375" cy="3219450"/>
            </a:xfrm>
            <a:prstGeom prst="roundRect">
              <a:avLst>
                <a:gd name="adj" fmla="val 3550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22" name="Rectangle 22"/>
            <p:cNvSpPr/>
            <p:nvPr>
              <p:custDataLst>
                <p:tags r:id="rId15"/>
              </p:custDataLst>
            </p:nvPr>
          </p:nvSpPr>
          <p:spPr>
            <a:xfrm>
              <a:off x="8067675" y="1857375"/>
              <a:ext cx="3381375" cy="38100"/>
            </a:xfrm>
            <a:prstGeom prst="roundRect">
              <a:avLst>
                <a:gd name="adj" fmla="val 50000"/>
              </a:avLst>
            </a:prstGeom>
            <a:solidFill>
              <a:srgbClr val="0F8A8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>
              <p:custDataLst>
                <p:tags r:id="rId16"/>
              </p:custDataLst>
            </p:nvPr>
          </p:nvSpPr>
          <p:spPr>
            <a:xfrm>
              <a:off x="8287131" y="2041525"/>
              <a:ext cx="81661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AA </a:t>
              </a:r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拆分</a:t>
              </a:r>
              <a:endPara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17"/>
              </p:custDataLst>
            </p:nvPr>
          </p:nvSpPr>
          <p:spPr>
            <a:xfrm>
              <a:off x="8287893" y="2530475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8A8A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精确到整数分</a:t>
              </a:r>
              <a:endParaRPr lang="zh-CN" sz="1650" b="1" dirty="0">
                <a:solidFill>
                  <a:srgbClr val="0F8A8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TextBox 25"/>
            <p:cNvSpPr txBox="1"/>
            <p:nvPr>
              <p:custDataLst>
                <p:tags r:id="rId18"/>
              </p:custDataLst>
            </p:nvPr>
          </p:nvSpPr>
          <p:spPr>
            <a:xfrm>
              <a:off x="8289417" y="2936875"/>
              <a:ext cx="127000" cy="3841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endParaRPr lang="zh-CN" sz="130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0" name="benefit-takeaway"/>
          <p:cNvGrpSpPr/>
          <p:nvPr/>
        </p:nvGrpSpPr>
        <p:grpSpPr>
          <a:xfrm>
            <a:off x="752475" y="5248275"/>
            <a:ext cx="10696575" cy="771525"/>
            <a:chOff x="752475" y="5248275"/>
            <a:chExt cx="10696575" cy="771525"/>
          </a:xfrm>
        </p:grpSpPr>
        <p:sp>
          <p:nvSpPr>
            <p:cNvPr id="27" name="Rectangle 27"/>
            <p:cNvSpPr/>
            <p:nvPr/>
          </p:nvSpPr>
          <p:spPr>
            <a:xfrm>
              <a:off x="752475" y="5248275"/>
              <a:ext cx="10696575" cy="771525"/>
            </a:xfrm>
            <a:prstGeom prst="roundRect">
              <a:avLst>
                <a:gd name="adj" fmla="val 7407"/>
              </a:avLst>
            </a:prstGeom>
            <a:solidFill>
              <a:srgbClr val="101C3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/>
          </p:nvSpPr>
          <p:spPr>
            <a:xfrm>
              <a:off x="972693" y="5340350"/>
              <a:ext cx="6286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优势：</a:t>
              </a:r>
              <a:endParaRPr lang="zh-CN" sz="165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74598" y="5667375"/>
              <a:ext cx="127000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80" dirty="0">
                <a:solidFill>
                  <a:srgbClr val="D2DAE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150" b="1" i="0" spc="24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理财与</a:t>
            </a:r>
            <a:r>
              <a:rPr lang="zh-CN"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储蓄</a:t>
            </a:r>
            <a:endParaRPr lang="zh-CN" sz="3000" b="1" i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07 / 11</a:t>
            </a:r>
            <a:endParaRPr lang="zh-CN" sz="950" b="1" dirty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" name="wealth-subtitle"/>
          <p:cNvGrpSpPr/>
          <p:nvPr/>
        </p:nvGrpSpPr>
        <p:grpSpPr>
          <a:xfrm>
            <a:off x="745236" y="1355725"/>
            <a:ext cx="4411167" cy="278702"/>
            <a:chOff x="745236" y="1355725"/>
            <a:chExt cx="4411167" cy="278702"/>
          </a:xfrm>
        </p:grpSpPr>
        <p:sp>
          <p:nvSpPr>
            <p:cNvPr id="9" name="TextBox 9"/>
            <p:cNvSpPr txBox="1"/>
            <p:nvPr/>
          </p:nvSpPr>
          <p:spPr>
            <a:xfrm>
              <a:off x="745236" y="1355725"/>
              <a:ext cx="441116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理财筛选有依据，日常消费有预算，模拟场景可验证</a:t>
              </a:r>
              <a:endParaRPr lang="zh-CN" sz="142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18" name="transparent-wealth"/>
          <p:cNvGrpSpPr/>
          <p:nvPr/>
        </p:nvGrpSpPr>
        <p:grpSpPr>
          <a:xfrm>
            <a:off x="752475" y="1857375"/>
            <a:ext cx="5105400" cy="3333750"/>
            <a:chOff x="752475" y="1857375"/>
            <a:chExt cx="5105400" cy="3333750"/>
          </a:xfrm>
        </p:grpSpPr>
        <p:sp>
          <p:nvSpPr>
            <p:cNvPr id="11" name="Rectangle 11"/>
            <p:cNvSpPr/>
            <p:nvPr/>
          </p:nvSpPr>
          <p:spPr>
            <a:xfrm>
              <a:off x="752475" y="1857375"/>
              <a:ext cx="5105400" cy="3333750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12" name="Rectangle 12"/>
            <p:cNvSpPr/>
            <p:nvPr/>
          </p:nvSpPr>
          <p:spPr>
            <a:xfrm>
              <a:off x="752475" y="1857375"/>
              <a:ext cx="5105400" cy="381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3" name="TextBox 13"/>
            <p:cNvSpPr txBox="1"/>
            <p:nvPr/>
          </p:nvSpPr>
          <p:spPr>
            <a:xfrm>
              <a:off x="971931" y="2041525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理财匹配：理由透明</a:t>
              </a:r>
              <a:endPara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2693" y="2463800"/>
              <a:ext cx="1270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600" b="1" dirty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2" name="budget-and-consumption"/>
          <p:cNvGrpSpPr/>
          <p:nvPr/>
        </p:nvGrpSpPr>
        <p:grpSpPr>
          <a:xfrm>
            <a:off x="6134100" y="1857375"/>
            <a:ext cx="5314950" cy="3333750"/>
            <a:chOff x="6134100" y="1857375"/>
            <a:chExt cx="5314950" cy="3333750"/>
          </a:xfrm>
        </p:grpSpPr>
        <p:sp>
          <p:nvSpPr>
            <p:cNvPr id="19" name="Rectangle 19"/>
            <p:cNvSpPr/>
            <p:nvPr/>
          </p:nvSpPr>
          <p:spPr>
            <a:xfrm>
              <a:off x="6134100" y="1857375"/>
              <a:ext cx="5314950" cy="3333750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20" name="Rectangle 20"/>
            <p:cNvSpPr/>
            <p:nvPr/>
          </p:nvSpPr>
          <p:spPr>
            <a:xfrm>
              <a:off x="6134100" y="1857375"/>
              <a:ext cx="5314950" cy="38100"/>
            </a:xfrm>
            <a:prstGeom prst="roundRect">
              <a:avLst>
                <a:gd name="adj" fmla="val 50000"/>
              </a:avLst>
            </a:prstGeom>
            <a:solidFill>
              <a:srgbClr val="0F8A8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1" name="TextBox 21"/>
            <p:cNvSpPr txBox="1"/>
            <p:nvPr/>
          </p:nvSpPr>
          <p:spPr>
            <a:xfrm>
              <a:off x="6353556" y="2041525"/>
              <a:ext cx="22494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预算控制 × 模拟消费</a:t>
              </a:r>
              <a:endPara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362700" y="2505075"/>
              <a:ext cx="1600200" cy="800100"/>
            </a:xfrm>
            <a:prstGeom prst="roundRect">
              <a:avLst>
                <a:gd name="adj" fmla="val 9524"/>
              </a:avLst>
            </a:prstGeom>
            <a:solidFill>
              <a:srgbClr val="EDF8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/>
          </p:nvSpPr>
          <p:spPr>
            <a:xfrm>
              <a:off x="6729400" y="26193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F8A8A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设置预算</a:t>
              </a:r>
              <a:endParaRPr lang="zh-CN" sz="1580" b="1" dirty="0">
                <a:solidFill>
                  <a:srgbClr val="0F8A8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72072" y="294322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商户每日限额</a:t>
              </a:r>
              <a:endParaRPr lang="zh-CN" sz="120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991475" y="2505075"/>
              <a:ext cx="1600200" cy="800100"/>
            </a:xfrm>
            <a:prstGeom prst="roundRect">
              <a:avLst>
                <a:gd name="adj" fmla="val 9524"/>
              </a:avLst>
            </a:prstGeom>
            <a:solidFill>
              <a:srgbClr val="EDF8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8358175" y="26193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F8A8A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模拟刷卡</a:t>
              </a:r>
              <a:endParaRPr lang="zh-CN" sz="1580" b="1" dirty="0">
                <a:solidFill>
                  <a:srgbClr val="0F8A8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20075" y="294322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校验卡片与额度</a:t>
              </a:r>
              <a:endParaRPr lang="zh-CN" sz="120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9620250" y="2505075"/>
              <a:ext cx="1600200" cy="800100"/>
            </a:xfrm>
            <a:prstGeom prst="roundRect">
              <a:avLst>
                <a:gd name="adj" fmla="val 9524"/>
              </a:avLst>
            </a:prstGeom>
            <a:solidFill>
              <a:srgbClr val="EDF8F8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9" name="TextBox 29"/>
            <p:cNvSpPr txBox="1"/>
            <p:nvPr/>
          </p:nvSpPr>
          <p:spPr>
            <a:xfrm>
              <a:off x="9986950" y="2619375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0F8A8A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超额拦截</a:t>
              </a:r>
              <a:endParaRPr lang="zh-CN" sz="1580" b="1" dirty="0">
                <a:solidFill>
                  <a:srgbClr val="0F8A8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10394" y="294322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记账前拒绝</a:t>
              </a:r>
              <a:endParaRPr lang="zh-CN" sz="120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6" name="benefit-takeaway"/>
          <p:cNvGrpSpPr/>
          <p:nvPr/>
        </p:nvGrpSpPr>
        <p:grpSpPr>
          <a:xfrm>
            <a:off x="752475" y="5353050"/>
            <a:ext cx="10696575" cy="666750"/>
            <a:chOff x="752475" y="5353050"/>
            <a:chExt cx="10696575" cy="666750"/>
          </a:xfrm>
        </p:grpSpPr>
        <p:sp>
          <p:nvSpPr>
            <p:cNvPr id="33" name="Rectangle 33"/>
            <p:cNvSpPr/>
            <p:nvPr/>
          </p:nvSpPr>
          <p:spPr>
            <a:xfrm>
              <a:off x="752475" y="5353050"/>
              <a:ext cx="10696575" cy="666750"/>
            </a:xfrm>
            <a:prstGeom prst="roundRect">
              <a:avLst>
                <a:gd name="adj" fmla="val 8571"/>
              </a:avLst>
            </a:prstGeom>
            <a:solidFill>
              <a:srgbClr val="101C3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4" name="TextBox 34"/>
            <p:cNvSpPr txBox="1"/>
            <p:nvPr/>
          </p:nvSpPr>
          <p:spPr>
            <a:xfrm>
              <a:off x="972693" y="5445125"/>
              <a:ext cx="6286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优势：</a:t>
              </a:r>
              <a:endParaRPr lang="zh-CN" sz="165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4598" y="5772150"/>
              <a:ext cx="127000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280" dirty="0">
                <a:solidFill>
                  <a:srgbClr val="D2DAE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PART</a:t>
            </a:r>
            <a:r>
              <a:rPr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 0</a:t>
            </a: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lang="en-US" sz="1150" b="1" i="0" spc="24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lang="zh-CN"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个人与</a:t>
            </a:r>
            <a:r>
              <a:rPr lang="zh-CN"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安全</a:t>
            </a:r>
            <a:endParaRPr lang="zh-CN" sz="3000" b="1" i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08 / 11</a:t>
            </a:r>
            <a:endParaRPr lang="zh-CN" sz="950" b="1" dirty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" name="customer-consent"/>
          <p:cNvGrpSpPr/>
          <p:nvPr/>
        </p:nvGrpSpPr>
        <p:grpSpPr>
          <a:xfrm>
            <a:off x="752475" y="1857375"/>
            <a:ext cx="3333750" cy="3333750"/>
            <a:chOff x="752475" y="1857375"/>
            <a:chExt cx="3333750" cy="3333750"/>
          </a:xfrm>
        </p:grpSpPr>
        <p:sp>
          <p:nvSpPr>
            <p:cNvPr id="9" name="Rectangle 9"/>
            <p:cNvSpPr/>
            <p:nvPr/>
          </p:nvSpPr>
          <p:spPr>
            <a:xfrm>
              <a:off x="752475" y="1857375"/>
              <a:ext cx="3333750" cy="3333750"/>
            </a:xfrm>
            <a:prstGeom prst="roundRect">
              <a:avLst>
                <a:gd name="adj" fmla="val 34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10" name="Rectangle 10"/>
            <p:cNvSpPr/>
            <p:nvPr/>
          </p:nvSpPr>
          <p:spPr>
            <a:xfrm>
              <a:off x="752475" y="1857375"/>
              <a:ext cx="3333750" cy="381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1" name="TextBox 11"/>
            <p:cNvSpPr txBox="1"/>
            <p:nvPr/>
          </p:nvSpPr>
          <p:spPr>
            <a:xfrm>
              <a:off x="971931" y="204152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客户掌握授权</a:t>
              </a:r>
              <a:endPara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68502" y="2466975"/>
              <a:ext cx="1026719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80" b="1" dirty="0">
                  <a:solidFill>
                    <a:srgbClr val="533AFD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确认卡</a:t>
              </a:r>
              <a:endParaRPr lang="zh-CN" sz="2480" b="1" dirty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0026" y="2933700"/>
              <a:ext cx="148945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533AFD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＋支付密码</a:t>
              </a:r>
              <a:endParaRPr lang="zh-CN" sz="2180" b="1" dirty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3836" y="3454400"/>
              <a:ext cx="2133600" cy="11252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zh-CN" sz="140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操作由本人明确确认</a:t>
              </a:r>
              <a:br>
                <a:rPr lang="zh-CN" sz="142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42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敏感操作重复校验</a:t>
              </a:r>
              <a:endParaRPr lang="zh-CN" sz="140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>
                <a:lnSpc>
                  <a:spcPts val="2925"/>
                </a:lnSpc>
              </a:pPr>
              <a:r>
                <a:rPr lang="zh-CN" sz="140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密码重复输入错误自动</a:t>
              </a:r>
              <a:r>
                <a:rPr lang="zh-CN" sz="140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锁卡</a:t>
              </a:r>
              <a:endParaRPr lang="zh-CN" sz="140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0" name="auth"/>
          <p:cNvGrpSpPr/>
          <p:nvPr>
            <p:custDataLst>
              <p:tags r:id="rId1"/>
            </p:custDataLst>
          </p:nvPr>
        </p:nvGrpSpPr>
        <p:grpSpPr>
          <a:xfrm>
            <a:off x="4362450" y="1857375"/>
            <a:ext cx="3429000" cy="1581150"/>
            <a:chOff x="4362450" y="1857375"/>
            <a:chExt cx="3429000" cy="1581150"/>
          </a:xfrm>
        </p:grpSpPr>
        <p:sp>
          <p:nvSpPr>
            <p:cNvPr id="16" name="Rectangle 16"/>
            <p:cNvSpPr/>
            <p:nvPr>
              <p:custDataLst>
                <p:tags r:id="rId2"/>
              </p:custDataLst>
            </p:nvPr>
          </p:nvSpPr>
          <p:spPr>
            <a:xfrm>
              <a:off x="4362450" y="1857375"/>
              <a:ext cx="3429000" cy="1581150"/>
            </a:xfrm>
            <a:prstGeom prst="roundRect">
              <a:avLst>
                <a:gd name="adj" fmla="val 72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17" name="Rectangle 17"/>
            <p:cNvSpPr/>
            <p:nvPr>
              <p:custDataLst>
                <p:tags r:id="rId3"/>
              </p:custDataLst>
            </p:nvPr>
          </p:nvSpPr>
          <p:spPr>
            <a:xfrm>
              <a:off x="4362450" y="1857375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306FDB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" name="TextBox 18"/>
            <p:cNvSpPr txBox="1"/>
            <p:nvPr>
              <p:custDataLst>
                <p:tags r:id="rId4"/>
              </p:custDataLst>
            </p:nvPr>
          </p:nvSpPr>
          <p:spPr>
            <a:xfrm>
              <a:off x="4581906" y="2041525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身份与会话</a:t>
              </a:r>
              <a:endPara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9" name="TextBox 19"/>
            <p:cNvSpPr txBox="1"/>
            <p:nvPr>
              <p:custDataLst>
                <p:tags r:id="rId5"/>
              </p:custDataLst>
            </p:nvPr>
          </p:nvSpPr>
          <p:spPr>
            <a:xfrm>
              <a:off x="4584573" y="2527300"/>
              <a:ext cx="2451354" cy="545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三段登录＋双维度限流</a:t>
              </a:r>
              <a:br>
                <a:rPr lang="zh-CN" sz="128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2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令牌只存摘要，改密撤销其他会话</a:t>
              </a:r>
              <a:endParaRPr lang="zh-CN" sz="122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5" name="crypto"/>
          <p:cNvGrpSpPr/>
          <p:nvPr>
            <p:custDataLst>
              <p:tags r:id="rId6"/>
            </p:custDataLst>
          </p:nvPr>
        </p:nvGrpSpPr>
        <p:grpSpPr>
          <a:xfrm>
            <a:off x="8020050" y="1857375"/>
            <a:ext cx="3429000" cy="1581150"/>
            <a:chOff x="8020050" y="1857375"/>
            <a:chExt cx="3429000" cy="1581150"/>
          </a:xfrm>
        </p:grpSpPr>
        <p:sp>
          <p:nvSpPr>
            <p:cNvPr id="21" name="Rectangle 21"/>
            <p:cNvSpPr/>
            <p:nvPr>
              <p:custDataLst>
                <p:tags r:id="rId7"/>
              </p:custDataLst>
            </p:nvPr>
          </p:nvSpPr>
          <p:spPr>
            <a:xfrm>
              <a:off x="8020050" y="1857375"/>
              <a:ext cx="3429000" cy="1581150"/>
            </a:xfrm>
            <a:prstGeom prst="roundRect">
              <a:avLst>
                <a:gd name="adj" fmla="val 72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22" name="Rectangle 22"/>
            <p:cNvSpPr/>
            <p:nvPr>
              <p:custDataLst>
                <p:tags r:id="rId8"/>
              </p:custDataLst>
            </p:nvPr>
          </p:nvSpPr>
          <p:spPr>
            <a:xfrm>
              <a:off x="8020050" y="1857375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0F8A8A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3" name="TextBox 23"/>
            <p:cNvSpPr txBox="1"/>
            <p:nvPr>
              <p:custDataLst>
                <p:tags r:id="rId9"/>
              </p:custDataLst>
            </p:nvPr>
          </p:nvSpPr>
          <p:spPr>
            <a:xfrm>
              <a:off x="8239506" y="204152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口令与敏感数据</a:t>
              </a:r>
              <a:endPara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TextBox 24"/>
            <p:cNvSpPr txBox="1"/>
            <p:nvPr>
              <p:custDataLst>
                <p:tags r:id="rId10"/>
              </p:custDataLst>
            </p:nvPr>
          </p:nvSpPr>
          <p:spPr>
            <a:xfrm>
              <a:off x="8242173" y="2527300"/>
              <a:ext cx="2053082" cy="545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scrypt 哈希存储口令</a:t>
              </a:r>
              <a:br>
                <a:rPr lang="zh-CN" sz="128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2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AES-256-GCM 加密敏感字段</a:t>
              </a:r>
              <a:endParaRPr lang="zh-CN" sz="122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0" name="permissions"/>
          <p:cNvGrpSpPr/>
          <p:nvPr>
            <p:custDataLst>
              <p:tags r:id="rId11"/>
            </p:custDataLst>
          </p:nvPr>
        </p:nvGrpSpPr>
        <p:grpSpPr>
          <a:xfrm>
            <a:off x="4362450" y="3609975"/>
            <a:ext cx="3429000" cy="1581150"/>
            <a:chOff x="4362450" y="3609975"/>
            <a:chExt cx="3429000" cy="1581150"/>
          </a:xfrm>
        </p:grpSpPr>
        <p:sp>
          <p:nvSpPr>
            <p:cNvPr id="26" name="Rectangle 26"/>
            <p:cNvSpPr/>
            <p:nvPr>
              <p:custDataLst>
                <p:tags r:id="rId12"/>
              </p:custDataLst>
            </p:nvPr>
          </p:nvSpPr>
          <p:spPr>
            <a:xfrm>
              <a:off x="4362450" y="3609975"/>
              <a:ext cx="3429000" cy="1581150"/>
            </a:xfrm>
            <a:prstGeom prst="roundRect">
              <a:avLst>
                <a:gd name="adj" fmla="val 72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27" name="Rectangle 27"/>
            <p:cNvSpPr/>
            <p:nvPr>
              <p:custDataLst>
                <p:tags r:id="rId13"/>
              </p:custDataLst>
            </p:nvPr>
          </p:nvSpPr>
          <p:spPr>
            <a:xfrm>
              <a:off x="4362450" y="3609975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533AFD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8" name="TextBox 28"/>
            <p:cNvSpPr txBox="1"/>
            <p:nvPr>
              <p:custDataLst>
                <p:tags r:id="rId14"/>
              </p:custDataLst>
            </p:nvPr>
          </p:nvSpPr>
          <p:spPr>
            <a:xfrm>
              <a:off x="4581906" y="379412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最小权限隔离</a:t>
              </a:r>
              <a:endPara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TextBox 29"/>
            <p:cNvSpPr txBox="1"/>
            <p:nvPr>
              <p:custDataLst>
                <p:tags r:id="rId15"/>
              </p:custDataLst>
            </p:nvPr>
          </p:nvSpPr>
          <p:spPr>
            <a:xfrm>
              <a:off x="4584573" y="4279900"/>
              <a:ext cx="2630170" cy="545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客户、员工与运维分权</a:t>
              </a:r>
              <a:br>
                <a:rPr lang="zh-CN" sz="128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2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应用、数据库所有者与 worker 分离</a:t>
              </a:r>
              <a:endParaRPr lang="zh-CN" sz="122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5" name="audit"/>
          <p:cNvGrpSpPr/>
          <p:nvPr>
            <p:custDataLst>
              <p:tags r:id="rId16"/>
            </p:custDataLst>
          </p:nvPr>
        </p:nvGrpSpPr>
        <p:grpSpPr>
          <a:xfrm>
            <a:off x="8020050" y="3609975"/>
            <a:ext cx="3429000" cy="1581150"/>
            <a:chOff x="8020050" y="3609975"/>
            <a:chExt cx="3429000" cy="1581150"/>
          </a:xfrm>
        </p:grpSpPr>
        <p:sp>
          <p:nvSpPr>
            <p:cNvPr id="31" name="Rectangle 31"/>
            <p:cNvSpPr/>
            <p:nvPr>
              <p:custDataLst>
                <p:tags r:id="rId17"/>
              </p:custDataLst>
            </p:nvPr>
          </p:nvSpPr>
          <p:spPr>
            <a:xfrm>
              <a:off x="8020050" y="3609975"/>
              <a:ext cx="3429000" cy="1581150"/>
            </a:xfrm>
            <a:prstGeom prst="roundRect">
              <a:avLst>
                <a:gd name="adj" fmla="val 7229"/>
              </a:avLst>
            </a:prstGeom>
            <a:solidFill>
              <a:srgbClr val="FFFFFF"/>
            </a:solidFill>
            <a:ln w="11430">
              <a:solidFill>
                <a:srgbClr val="E2E8F2"/>
              </a:solidFill>
            </a:ln>
          </p:spPr>
          <p:txBody>
            <a:bodyPr/>
            <a:p/>
          </p:txBody>
        </p:sp>
        <p:sp>
          <p:nvSpPr>
            <p:cNvPr id="32" name="Rectangle 32"/>
            <p:cNvSpPr/>
            <p:nvPr>
              <p:custDataLst>
                <p:tags r:id="rId18"/>
              </p:custDataLst>
            </p:nvPr>
          </p:nvSpPr>
          <p:spPr>
            <a:xfrm>
              <a:off x="8020050" y="3609975"/>
              <a:ext cx="3429000" cy="38100"/>
            </a:xfrm>
            <a:prstGeom prst="roundRect">
              <a:avLst>
                <a:gd name="adj" fmla="val 50000"/>
              </a:avLst>
            </a:prstGeom>
            <a:solidFill>
              <a:srgbClr val="D92159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3" name="TextBox 33"/>
            <p:cNvSpPr txBox="1"/>
            <p:nvPr>
              <p:custDataLst>
                <p:tags r:id="rId19"/>
              </p:custDataLst>
            </p:nvPr>
          </p:nvSpPr>
          <p:spPr>
            <a:xfrm>
              <a:off x="8239506" y="3794125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审计、对账与恢复</a:t>
              </a:r>
              <a:endParaRPr lang="zh-CN" sz="180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4" name="TextBox 34"/>
            <p:cNvSpPr txBox="1"/>
            <p:nvPr>
              <p:custDataLst>
                <p:tags r:id="rId20"/>
              </p:custDataLst>
            </p:nvPr>
          </p:nvSpPr>
          <p:spPr>
            <a:xfrm>
              <a:off x="8242173" y="4279900"/>
              <a:ext cx="2288794" cy="545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325"/>
                </a:lnSpc>
              </a:pPr>
              <a:r>
                <a:rPr lang="zh-CN" sz="12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请求、认证、资金操作留痕</a:t>
              </a:r>
              <a:br>
                <a:rPr lang="zh-CN" sz="128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2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回执不可变，差异进入异常队列</a:t>
              </a:r>
              <a:endParaRPr lang="zh-CN" sz="122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9" name="benefit-takeaway"/>
          <p:cNvGrpSpPr/>
          <p:nvPr/>
        </p:nvGrpSpPr>
        <p:grpSpPr>
          <a:xfrm>
            <a:off x="752475" y="5362575"/>
            <a:ext cx="10696575" cy="657225"/>
            <a:chOff x="752475" y="5362575"/>
            <a:chExt cx="10696575" cy="657225"/>
          </a:xfrm>
        </p:grpSpPr>
        <p:sp>
          <p:nvSpPr>
            <p:cNvPr id="36" name="Rectangle 36"/>
            <p:cNvSpPr/>
            <p:nvPr/>
          </p:nvSpPr>
          <p:spPr>
            <a:xfrm>
              <a:off x="752475" y="5362575"/>
              <a:ext cx="10696575" cy="657225"/>
            </a:xfrm>
            <a:prstGeom prst="roundRect">
              <a:avLst>
                <a:gd name="adj" fmla="val 8696"/>
              </a:avLst>
            </a:prstGeom>
            <a:solidFill>
              <a:srgbClr val="101C35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7" name="TextBox 37"/>
            <p:cNvSpPr txBox="1"/>
            <p:nvPr/>
          </p:nvSpPr>
          <p:spPr>
            <a:xfrm>
              <a:off x="972693" y="5454650"/>
              <a:ext cx="628650" cy="2533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优势：</a:t>
              </a:r>
              <a:endParaRPr lang="zh-CN" sz="165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PART 05 </a:t>
            </a:r>
            <a:r>
              <a:rPr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1150" b="1" i="0" spc="24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设计</a:t>
            </a:r>
            <a:endParaRPr lang="zh-CN" sz="3000" b="1" i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50592" y="2176272"/>
            <a:ext cx="73151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 rot="5400000">
            <a:off x="2487168" y="2107691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60903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60903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2176272"/>
            <a:ext cx="73151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 rot="5400000">
            <a:off x="4398264" y="2107691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0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2176272"/>
            <a:ext cx="73151" cy="20116"/>
          </a:xfrm>
          <a:prstGeom prst="rect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 rot="5400000">
            <a:off x="6309360" y="2107691"/>
            <a:ext cx="100584" cy="155448"/>
          </a:xfrm>
          <a:prstGeom prst="triangle">
            <a:avLst/>
          </a:prstGeom>
          <a:solidFill>
            <a:srgbClr val="B9C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83096" y="1755648"/>
            <a:ext cx="162763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83096" y="1755648"/>
            <a:ext cx="1627632" cy="41148"/>
          </a:xfrm>
          <a:prstGeom prst="roundRect">
            <a:avLst>
              <a:gd name="adj" fmla="val 50000"/>
            </a:avLst>
          </a:prstGeom>
          <a:solidFill>
            <a:srgbClr val="4434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9808" y="2999232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2F0FF"/>
          </a:solidFill>
          <a:ln>
            <a:noFill/>
          </a:ln>
        </p:spPr>
        <p:txBody>
          <a:bodyPr wrap="none" lIns="212217" tIns="174022" rIns="0" bIns="0" anchor="t" anchorCtr="0">
            <a:noAutofit/>
          </a:bodyPr>
          <a:lstStyle/>
          <a:p>
            <a:pPr algn="l"/>
            <a:r>
              <a:rPr lang="zh-CN" sz="1580" b="1" dirty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模型负责理解与表达；服务端决定事实、权限与资金</a:t>
            </a:r>
            <a:endParaRPr lang="zh-CN" sz="1580" b="1" dirty="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749808" y="3785615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14400" y="3913631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9808" y="4443983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4400" y="4571999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49808" y="5102351"/>
            <a:ext cx="736092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14400" y="5230367"/>
            <a:ext cx="310896" cy="310896"/>
          </a:xfrm>
          <a:prstGeom prst="roundRect">
            <a:avLst>
              <a:gd name="adj" fmla="val 30000"/>
            </a:avLst>
          </a:prstGeom>
          <a:solidFill>
            <a:srgbClr val="30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449056" y="1755648"/>
            <a:ext cx="2999232" cy="23042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143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449056" y="1755648"/>
            <a:ext cx="2999232" cy="41148"/>
          </a:xfrm>
          <a:prstGeom prst="roundRect">
            <a:avLst>
              <a:gd name="adj" fmla="val 50000"/>
            </a:avLst>
          </a:prstGeom>
          <a:solidFill>
            <a:srgbClr val="0F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449056" y="4187952"/>
            <a:ext cx="2999232" cy="1316736"/>
          </a:xfrm>
          <a:prstGeom prst="roundRect">
            <a:avLst>
              <a:gd name="adj" fmla="val 5500"/>
            </a:avLst>
          </a:prstGeom>
          <a:solidFill>
            <a:srgbClr val="F2F0FF"/>
          </a:solidFill>
          <a:ln w="11430">
            <a:solidFill>
              <a:srgbClr val="EAE7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449056" y="4187952"/>
            <a:ext cx="2999232" cy="41148"/>
          </a:xfrm>
          <a:prstGeom prst="roundRect">
            <a:avLst>
              <a:gd name="adj" fmla="val 50000"/>
            </a:avLst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09 / 11</a:t>
            </a:r>
            <a:endParaRPr lang="zh-CN" sz="950" b="1" dirty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6" name="content-5"/>
          <p:cNvGrpSpPr/>
          <p:nvPr/>
        </p:nvGrpSpPr>
        <p:grpSpPr>
          <a:xfrm>
            <a:off x="875157" y="1850898"/>
            <a:ext cx="867156" cy="731202"/>
            <a:chOff x="875157" y="1850898"/>
            <a:chExt cx="867156" cy="731202"/>
          </a:xfrm>
        </p:grpSpPr>
        <p:sp>
          <p:nvSpPr>
            <p:cNvPr id="64" name="TextBox 64"/>
            <p:cNvSpPr txBox="1"/>
            <p:nvPr/>
          </p:nvSpPr>
          <p:spPr>
            <a:xfrm>
              <a:off x="875157" y="1850898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理解需求</a:t>
              </a:r>
              <a:endParaRPr lang="zh-CN" sz="158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77443" y="2142998"/>
              <a:ext cx="86487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知识库＋会话</a:t>
              </a:r>
              <a:br>
                <a:rPr lang="zh-CN" sz="112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识别业务意图</a:t>
              </a:r>
              <a:endParaRPr lang="zh-CN" sz="112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9" name="content-11"/>
          <p:cNvGrpSpPr/>
          <p:nvPr/>
        </p:nvGrpSpPr>
        <p:grpSpPr>
          <a:xfrm>
            <a:off x="2786253" y="1850898"/>
            <a:ext cx="867156" cy="731202"/>
            <a:chOff x="2786253" y="1850898"/>
            <a:chExt cx="867156" cy="731202"/>
          </a:xfrm>
        </p:grpSpPr>
        <p:sp>
          <p:nvSpPr>
            <p:cNvPr id="67" name="TextBox 67"/>
            <p:cNvSpPr txBox="1"/>
            <p:nvPr/>
          </p:nvSpPr>
          <p:spPr>
            <a:xfrm>
              <a:off x="2786253" y="1850898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受控工具</a:t>
              </a:r>
              <a:endParaRPr lang="zh-CN" sz="158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788539" y="2142998"/>
              <a:ext cx="86487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白名单校验</a:t>
              </a:r>
              <a:br>
                <a:rPr lang="zh-CN" sz="112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逐次校验归属</a:t>
              </a:r>
              <a:endParaRPr lang="zh-CN" sz="112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2" name="content-17"/>
          <p:cNvGrpSpPr/>
          <p:nvPr/>
        </p:nvGrpSpPr>
        <p:grpSpPr>
          <a:xfrm>
            <a:off x="4697349" y="1850898"/>
            <a:ext cx="867156" cy="731202"/>
            <a:chOff x="4697349" y="1850898"/>
            <a:chExt cx="867156" cy="731202"/>
          </a:xfrm>
        </p:grpSpPr>
        <p:sp>
          <p:nvSpPr>
            <p:cNvPr id="70" name="TextBox 70"/>
            <p:cNvSpPr txBox="1"/>
            <p:nvPr/>
          </p:nvSpPr>
          <p:spPr>
            <a:xfrm>
              <a:off x="4697349" y="1850898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本人确认</a:t>
              </a:r>
              <a:endParaRPr lang="zh-CN" sz="158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699635" y="2142998"/>
              <a:ext cx="86487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确认卡＋验密</a:t>
              </a:r>
              <a:br>
                <a:rPr lang="zh-CN" sz="112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超时默认拒绝</a:t>
              </a:r>
              <a:endParaRPr lang="zh-CN" sz="112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5" name="content-23"/>
          <p:cNvGrpSpPr/>
          <p:nvPr/>
        </p:nvGrpSpPr>
        <p:grpSpPr>
          <a:xfrm>
            <a:off x="6608445" y="1850898"/>
            <a:ext cx="1151636" cy="731202"/>
            <a:chOff x="6608445" y="1850898"/>
            <a:chExt cx="1151636" cy="731202"/>
          </a:xfrm>
        </p:grpSpPr>
        <p:sp>
          <p:nvSpPr>
            <p:cNvPr id="73" name="TextBox 73"/>
            <p:cNvSpPr txBox="1"/>
            <p:nvPr/>
          </p:nvSpPr>
          <p:spPr>
            <a:xfrm>
              <a:off x="6608445" y="1850898"/>
              <a:ext cx="866800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061B3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接口执行</a:t>
              </a:r>
              <a:endParaRPr lang="zh-CN" sz="1580" b="1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610731" y="2142998"/>
              <a:ext cx="1149350" cy="4391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25"/>
                </a:lnSpc>
              </a:pPr>
              <a:r>
                <a:rPr lang="zh-CN" sz="11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服务端重新校验</a:t>
              </a:r>
              <a:br>
                <a:rPr lang="zh-CN" sz="112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12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返回真实业务结果</a:t>
              </a:r>
              <a:endParaRPr lang="zh-CN" sz="112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0" name="content-44"/>
          <p:cNvGrpSpPr/>
          <p:nvPr/>
        </p:nvGrpSpPr>
        <p:grpSpPr>
          <a:xfrm>
            <a:off x="8668131" y="1965325"/>
            <a:ext cx="2073402" cy="1683258"/>
            <a:chOff x="8668131" y="1965325"/>
            <a:chExt cx="2073402" cy="1683258"/>
          </a:xfrm>
        </p:grpSpPr>
        <p:sp>
          <p:nvSpPr>
            <p:cNvPr id="88" name="TextBox 88"/>
            <p:cNvSpPr txBox="1"/>
            <p:nvPr/>
          </p:nvSpPr>
          <p:spPr>
            <a:xfrm>
              <a:off x="8668131" y="1965325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F8A8A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运行时有边界</a:t>
              </a:r>
              <a:endParaRPr lang="zh-CN" sz="1800" b="1" dirty="0">
                <a:solidFill>
                  <a:srgbClr val="0F8A8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8670417" y="2384425"/>
              <a:ext cx="2071116" cy="1264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zh-CN" sz="135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DSH 树外 Profile</a:t>
              </a:r>
              <a:br>
                <a:rPr lang="zh-CN" sz="135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35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独立人格与受控工具集</a:t>
              </a:r>
              <a:br>
                <a:rPr lang="zh-CN" sz="135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35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客户／员工／运维会话隔离</a:t>
              </a:r>
              <a:br>
                <a:rPr lang="zh-CN" sz="135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35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仅经银行 API 访问业务</a:t>
              </a:r>
              <a:endParaRPr lang="zh-CN" sz="135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93" name="content-48"/>
          <p:cNvGrpSpPr/>
          <p:nvPr/>
        </p:nvGrpSpPr>
        <p:grpSpPr>
          <a:xfrm>
            <a:off x="8669274" y="4352925"/>
            <a:ext cx="2229993" cy="903605"/>
            <a:chOff x="8669274" y="4352925"/>
            <a:chExt cx="2229993" cy="903605"/>
          </a:xfrm>
        </p:grpSpPr>
        <p:sp>
          <p:nvSpPr>
            <p:cNvPr id="91" name="TextBox 91"/>
            <p:cNvSpPr txBox="1"/>
            <p:nvPr/>
          </p:nvSpPr>
          <p:spPr>
            <a:xfrm>
              <a:off x="8669274" y="4352925"/>
              <a:ext cx="2142998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533AFD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便捷入口，授权不放松</a:t>
              </a:r>
              <a:endParaRPr lang="zh-CN" sz="1580" b="1" dirty="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670417" y="4679950"/>
              <a:ext cx="2228850" cy="576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网页／安卓／IM 协同</a:t>
              </a:r>
              <a:br>
                <a:rPr lang="zh-CN" sz="135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</a:br>
              <a:r>
                <a:rPr lang="zh-CN" sz="1350" dirty="0">
                  <a:solidFill>
                    <a:srgbClr val="586B86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敏感操作</a:t>
              </a:r>
              <a:r>
                <a:rPr lang="zh-CN" sz="1350" dirty="0">
                  <a:solidFill>
                    <a:srgbClr val="586B86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仍需本人确认与核身</a:t>
              </a:r>
              <a:endParaRPr lang="zh-CN" sz="1350" dirty="0">
                <a:solidFill>
                  <a:srgbClr val="586B8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475488"/>
            <a:ext cx="10692079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lang="en-US" sz="1150" b="1" i="0" spc="240">
                <a:solidFill>
                  <a:srgbClr val="533AFD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CREATIVITY</a:t>
            </a:r>
            <a:endParaRPr lang="en-US" sz="1150" b="1" i="0" spc="240">
              <a:solidFill>
                <a:srgbClr val="533AFD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731520"/>
            <a:ext cx="10692079" cy="566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6000"/>
              </a:lnSpc>
            </a:pPr>
            <a:r>
              <a:rPr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我们</a:t>
            </a:r>
            <a:r>
              <a:rPr lang="zh-CN"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的独特</a:t>
            </a:r>
            <a:r>
              <a:rPr lang="zh-CN" sz="3000" b="1" i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之处</a:t>
            </a:r>
            <a:endParaRPr lang="zh-CN" sz="3000" b="1" i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/>
          <p:nvPr/>
        </p:nvSpPr>
        <p:spPr>
          <a:xfrm>
            <a:off x="749808" y="1298448"/>
            <a:ext cx="10692098" cy="384048"/>
          </a:xfrm>
          <a:prstGeom prst="rect">
            <a:avLst/>
          </a:prstGeom>
          <a:noFill/>
          <a:ln>
            <a:noFill/>
          </a:ln>
        </p:spPr>
        <p:txBody>
          <a:bodyPr wrap="none" lIns="0" tIns="46196" rIns="0" bIns="0" anchor="t" anchorCtr="0">
            <a:noAutofit/>
          </a:bodyPr>
          <a:lstStyle/>
          <a:p>
            <a:pPr algn="l"/>
            <a:r>
              <a:rPr lang="zh-CN" sz="1420" dirty="0">
                <a:solidFill>
                  <a:srgbClr val="4E607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把自然语言服务、预算管理与受控执行连成可演示的业务流程</a:t>
            </a:r>
            <a:endParaRPr lang="zh-CN" sz="1420" dirty="0">
              <a:solidFill>
                <a:srgbClr val="4E607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682496"/>
            <a:ext cx="5394960" cy="3108960"/>
          </a:xfrm>
          <a:prstGeom prst="roundRect">
            <a:avLst>
              <a:gd name="adj" fmla="val 5500"/>
            </a:avLst>
          </a:prstGeom>
          <a:solidFill>
            <a:srgbClr val="FFF9FB"/>
          </a:solidFill>
          <a:ln w="11430">
            <a:solidFill>
              <a:srgbClr val="F6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9808" y="1682496"/>
            <a:ext cx="5394960" cy="41148"/>
          </a:xfrm>
          <a:prstGeom prst="roundRect">
            <a:avLst>
              <a:gd name="adj" fmla="val 50000"/>
            </a:avLst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/>
        </p:nvSpPr>
        <p:spPr>
          <a:xfrm>
            <a:off x="1042416" y="182880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2861" rIns="0" bIns="0" anchor="t" anchorCtr="0">
            <a:noAutofit/>
          </a:bodyPr>
          <a:lstStyle/>
          <a:p>
            <a:pPr algn="l"/>
            <a:r>
              <a:rPr lang="zh-CN" sz="1720" b="1" dirty="0">
                <a:solidFill>
                  <a:srgbClr val="D92159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演示亮点：预算 × 模拟消费</a:t>
            </a:r>
            <a:endParaRPr lang="zh-CN" sz="1720" b="1" dirty="0">
              <a:solidFill>
                <a:srgbClr val="D92159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/>
          <p:nvPr/>
        </p:nvSpPr>
        <p:spPr>
          <a:xfrm>
            <a:off x="1042416" y="2176272"/>
            <a:ext cx="4846320" cy="2377440"/>
          </a:xfrm>
          <a:prstGeom prst="rect">
            <a:avLst/>
          </a:prstGeom>
          <a:noFill/>
          <a:ln>
            <a:noFill/>
          </a:ln>
        </p:spPr>
        <p:txBody>
          <a:bodyPr wrap="none" lIns="0" tIns="100203" rIns="0" bIns="0" anchor="t" anchorCtr="0">
            <a:noAutofit/>
          </a:bodyPr>
          <a:lstStyle/>
          <a:p>
            <a:pPr algn="l">
              <a:lnSpc>
                <a:spcPts val="2550"/>
              </a:lnSpc>
            </a:pPr>
            <a:r>
              <a:rPr lang="zh-CN" sz="150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01 设置商户每日预算</a:t>
            </a:r>
            <a:br>
              <a:rPr lang="zh-CN" sz="150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50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02 用模拟消费检验卡片与额度</a:t>
            </a:r>
            <a:br>
              <a:rPr lang="zh-CN" sz="150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50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03 超额即拦截，资金不落账</a:t>
            </a:r>
            <a:br>
              <a:rPr lang="zh-CN" sz="150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50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04 额度内消费记账后，后台补分类</a:t>
            </a:r>
            <a:br>
              <a:rPr lang="zh-CN" sz="150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50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05 账单反馈支出，达标日结算积分</a:t>
            </a:r>
            <a:br>
              <a:rPr lang="zh-CN" sz="150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50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把“管钱”与“花钱”连在同一套规则中</a:t>
            </a:r>
            <a:endParaRPr lang="zh-CN" sz="1500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10528" y="173736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endParaRPr sz="1100" b="1" i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10528" y="2084831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10528" y="2084831"/>
            <a:ext cx="41148" cy="475488"/>
          </a:xfrm>
          <a:prstGeom prst="rect">
            <a:avLst/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/>
        </p:nvSpPr>
        <p:spPr>
          <a:xfrm>
            <a:off x="6675120" y="220370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4053" rIns="0" bIns="0" anchor="t" anchorCtr="0">
            <a:noAutofit/>
          </a:bodyPr>
          <a:lstStyle/>
          <a:p>
            <a:pPr algn="l"/>
            <a:r>
              <a:rPr lang="zh-CN" sz="131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自然语言直达业务</a:t>
            </a:r>
            <a:endParaRPr lang="zh-CN" sz="1310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/>
          <p:nvPr/>
        </p:nvSpPr>
        <p:spPr>
          <a:xfrm>
            <a:off x="8887968" y="2203704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1196" rIns="0" bIns="0" anchor="t" anchorCtr="0">
            <a:noAutofit/>
          </a:bodyPr>
          <a:lstStyle/>
          <a:p>
            <a:pPr algn="l"/>
            <a:r>
              <a:rPr lang="zh-CN" sz="116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受控工具连接常用办理</a:t>
            </a:r>
            <a:endParaRPr lang="zh-CN" sz="1160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10528" y="2651760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0528" y="2651760"/>
            <a:ext cx="41148" cy="475488"/>
          </a:xfrm>
          <a:prstGeom prst="rect">
            <a:avLst/>
          </a:prstGeom>
          <a:solidFill>
            <a:srgbClr val="D92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/>
          <p:nvPr/>
        </p:nvSpPr>
        <p:spPr>
          <a:xfrm>
            <a:off x="6675120" y="277063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4053" rIns="0" bIns="0" anchor="t" anchorCtr="0">
            <a:noAutofit/>
          </a:bodyPr>
          <a:lstStyle/>
          <a:p>
            <a:pPr algn="l"/>
            <a:r>
              <a:rPr lang="zh-CN" sz="131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多端服务，同一套规则</a:t>
            </a:r>
            <a:endParaRPr lang="zh-CN" sz="1310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/>
          <p:nvPr/>
        </p:nvSpPr>
        <p:spPr>
          <a:xfrm>
            <a:off x="8887968" y="2770632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1196" rIns="0" bIns="0" anchor="t" anchorCtr="0">
            <a:noAutofit/>
          </a:bodyPr>
          <a:lstStyle/>
          <a:p>
            <a:pPr algn="l"/>
            <a:r>
              <a:rPr lang="zh-CN" sz="116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15 个共享规则模块复用</a:t>
            </a:r>
            <a:endParaRPr lang="zh-CN" sz="1160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10528" y="3218688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10528" y="3218688"/>
            <a:ext cx="41148" cy="47548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/>
          <p:nvPr/>
        </p:nvSpPr>
        <p:spPr>
          <a:xfrm>
            <a:off x="6675120" y="3337560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4053" rIns="0" bIns="0" anchor="t" anchorCtr="0">
            <a:noAutofit/>
          </a:bodyPr>
          <a:lstStyle/>
          <a:p>
            <a:pPr algn="l"/>
            <a:r>
              <a:rPr lang="zh-CN" sz="131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客户与员工协同</a:t>
            </a:r>
            <a:endParaRPr lang="zh-CN" sz="1310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/>
          <p:nvPr/>
        </p:nvSpPr>
        <p:spPr>
          <a:xfrm>
            <a:off x="8887968" y="33375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1196" rIns="0" bIns="0" anchor="t" anchorCtr="0">
            <a:noAutofit/>
          </a:bodyPr>
          <a:lstStyle/>
          <a:p>
            <a:pPr algn="l"/>
            <a:r>
              <a:rPr lang="zh-CN" sz="116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独立 Agent、工单与审批</a:t>
            </a:r>
            <a:endParaRPr lang="zh-CN" sz="1160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10528" y="3785615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10528" y="3785615"/>
            <a:ext cx="41148" cy="475488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/>
          <p:nvPr/>
        </p:nvSpPr>
        <p:spPr>
          <a:xfrm>
            <a:off x="6675120" y="390448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4053" rIns="0" bIns="0" anchor="t" anchorCtr="0">
            <a:noAutofit/>
          </a:bodyPr>
          <a:lstStyle/>
          <a:p>
            <a:pPr algn="l"/>
            <a:r>
              <a:rPr lang="zh-CN" sz="131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微信入口与本人提醒</a:t>
            </a:r>
            <a:endParaRPr lang="zh-CN" sz="1310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/>
          <p:nvPr/>
        </p:nvSpPr>
        <p:spPr>
          <a:xfrm>
            <a:off x="8887968" y="390448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1196" rIns="0" bIns="0" anchor="t" anchorCtr="0">
            <a:noAutofit/>
          </a:bodyPr>
          <a:lstStyle/>
          <a:p>
            <a:pPr algn="l"/>
            <a:r>
              <a:rPr lang="zh-CN" sz="116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扫码绑定，确认后投递</a:t>
            </a:r>
            <a:endParaRPr lang="zh-CN" sz="1160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10528" y="4352544"/>
            <a:ext cx="4937760" cy="4754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8890">
            <a:solidFill>
              <a:srgbClr val="E2E8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10528" y="4352544"/>
            <a:ext cx="41148" cy="475488"/>
          </a:xfrm>
          <a:prstGeom prst="rect">
            <a:avLst/>
          </a:prstGeom>
          <a:solidFill>
            <a:srgbClr val="647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/>
          <p:nvPr/>
        </p:nvSpPr>
        <p:spPr>
          <a:xfrm>
            <a:off x="6675120" y="4471416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4053" rIns="0" bIns="0" anchor="t" anchorCtr="0">
            <a:noAutofit/>
          </a:bodyPr>
          <a:lstStyle/>
          <a:p>
            <a:pPr algn="l"/>
            <a:r>
              <a:rPr lang="zh-CN" sz="131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资金与证据同步</a:t>
            </a:r>
            <a:endParaRPr lang="zh-CN" sz="1310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/>
          <p:nvPr/>
        </p:nvSpPr>
        <p:spPr>
          <a:xfrm>
            <a:off x="8887968" y="4471416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41196" rIns="0" bIns="0" anchor="t" anchorCtr="0">
            <a:noAutofit/>
          </a:bodyPr>
          <a:lstStyle/>
          <a:p>
            <a:pPr algn="l"/>
            <a:r>
              <a:rPr lang="zh-CN" sz="1160" dirty="0">
                <a:solidFill>
                  <a:srgbClr val="061B3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事务、幂等、审计可追溯</a:t>
            </a:r>
            <a:endParaRPr lang="zh-CN" sz="1160" dirty="0">
              <a:solidFill>
                <a:srgbClr val="061B31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/>
          <p:nvPr/>
        </p:nvSpPr>
        <p:spPr>
          <a:xfrm>
            <a:off x="1161288" y="5120640"/>
            <a:ext cx="98691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63817" rIns="0" bIns="0" anchor="t" anchorCtr="0">
            <a:noAutofit/>
          </a:bodyPr>
          <a:lstStyle/>
          <a:p>
            <a:pPr algn="l"/>
            <a:endParaRPr lang="zh-CN" sz="1720" b="1" dirty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E2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638251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招财猫银行 · Money Meow Bank　|　AI Banking 智能体</a:t>
            </a:r>
            <a:endParaRPr sz="900" b="0" i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/>
          <p:nvPr/>
        </p:nvSpPr>
        <p:spPr>
          <a:xfrm>
            <a:off x="10527506" y="638251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7A8AA6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10 / 11</a:t>
            </a:r>
            <a:endParaRPr lang="zh-CN" sz="950" b="1" dirty="0">
              <a:solidFill>
                <a:srgbClr val="7A8AA6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786384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00" b="1" i="0" spc="300">
                <a:solidFill>
                  <a:srgbClr val="9B8C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TAKEAWAYS</a:t>
            </a:r>
            <a:endParaRPr sz="1100" b="1" i="0" spc="300">
              <a:solidFill>
                <a:srgbClr val="9B8C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/>
          <p:nvPr/>
        </p:nvSpPr>
        <p:spPr>
          <a:xfrm>
            <a:off x="749808" y="1078992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76200" rIns="0" bIns="0" anchor="t" anchorCtr="0">
            <a:noAutofit/>
          </a:bodyPr>
          <a:lstStyle/>
          <a:p>
            <a:pPr algn="l"/>
            <a:r>
              <a:rPr lang="zh-CN" sz="300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安全、便捷、可核查的智能银行</a:t>
            </a:r>
            <a:endParaRPr lang="zh-CN" sz="3000" b="1" dirty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49808" y="1975104"/>
            <a:ext cx="32004" cy="78638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0976" y="199339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9B8C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00" b="1" i="0">
              <a:solidFill>
                <a:srgbClr val="9B8C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/>
          <p:nvPr/>
        </p:nvSpPr>
        <p:spPr>
          <a:xfrm>
            <a:off x="1463040" y="1975104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54769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让业务办理更便捷</a:t>
            </a:r>
            <a:endParaRPr lang="zh-CN" sz="1880" b="1" dirty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9808" y="2907792"/>
            <a:ext cx="32004" cy="78638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29260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9B8C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00" b="1" i="0">
              <a:solidFill>
                <a:srgbClr val="9B8C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/>
          <p:nvPr/>
        </p:nvSpPr>
        <p:spPr>
          <a:xfrm>
            <a:off x="1463040" y="2907792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54769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让资金处理更可靠</a:t>
            </a:r>
            <a:endParaRPr lang="zh-CN" sz="1880" b="1" dirty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49808" y="3840480"/>
            <a:ext cx="32004" cy="786384"/>
          </a:xfrm>
          <a:prstGeom prst="rect">
            <a:avLst/>
          </a:prstGeom>
          <a:solidFill>
            <a:srgbClr val="533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858768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1180" b="1" i="0">
                <a:solidFill>
                  <a:srgbClr val="9B8C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00" b="1" i="0">
              <a:solidFill>
                <a:srgbClr val="9B8C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/>
          <p:nvPr/>
        </p:nvSpPr>
        <p:spPr>
          <a:xfrm>
            <a:off x="1463040" y="3840480"/>
            <a:ext cx="5120640" cy="329184"/>
          </a:xfrm>
          <a:prstGeom prst="rect">
            <a:avLst/>
          </a:prstGeom>
          <a:noFill/>
          <a:ln>
            <a:noFill/>
          </a:ln>
        </p:spPr>
        <p:txBody>
          <a:bodyPr wrap="none" lIns="0" tIns="54769" rIns="0" bIns="0" anchor="t" anchorCtr="0">
            <a:noAutofit/>
          </a:bodyPr>
          <a:lstStyle/>
          <a:p>
            <a:pPr algn="l"/>
            <a:r>
              <a:rPr lang="zh-CN" sz="1880" b="1" dirty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让智能服务可验证</a:t>
            </a:r>
            <a:endParaRPr lang="zh-CN" sz="1880" b="1" dirty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07808" y="1874519"/>
            <a:ext cx="3840480" cy="2852928"/>
          </a:xfrm>
          <a:prstGeom prst="roundRect">
            <a:avLst>
              <a:gd name="adj" fmla="val 5000"/>
            </a:avLst>
          </a:prstGeom>
          <a:solidFill>
            <a:srgbClr val="162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/>
        </p:nvSpPr>
        <p:spPr>
          <a:xfrm>
            <a:off x="7845552" y="2029968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pPr algn="l"/>
            <a:r>
              <a:rPr lang="zh-CN" sz="1200" b="1" dirty="0">
                <a:solidFill>
                  <a:srgbClr val="9B8C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下一步：补齐真实链路与纵深防护</a:t>
            </a:r>
            <a:endParaRPr lang="zh-CN" sz="1200" b="1" dirty="0">
              <a:solidFill>
                <a:srgbClr val="9B8C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45552" y="2359152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P0</a:t>
            </a:r>
            <a:endParaRPr sz="95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/>
          <p:nvPr/>
        </p:nvSpPr>
        <p:spPr>
          <a:xfrm>
            <a:off x="8302752" y="2359152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40481" rIns="0" bIns="0" anchor="t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C2CEE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持牌银行适配器</a:t>
            </a:r>
            <a:br>
              <a:rPr lang="zh-CN" sz="1120" dirty="0">
                <a:solidFill>
                  <a:srgbClr val="C2CEE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sz="1120" dirty="0">
                <a:solidFill>
                  <a:srgbClr val="C2CEE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CSP / HSTS</a:t>
            </a:r>
            <a:endParaRPr lang="en-US" sz="1120" dirty="0">
              <a:solidFill>
                <a:srgbClr val="C2CEE2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45552" y="3017520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P1</a:t>
            </a:r>
            <a:endParaRPr sz="95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/>
          <p:nvPr/>
        </p:nvSpPr>
        <p:spPr>
          <a:xfrm>
            <a:off x="8302752" y="301752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40481" rIns="0" bIns="0" anchor="t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C2CEE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短信实名核验</a:t>
            </a:r>
            <a:br>
              <a:rPr lang="zh-CN" sz="1120" dirty="0">
                <a:solidFill>
                  <a:srgbClr val="C2CEE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120" dirty="0">
                <a:solidFill>
                  <a:srgbClr val="C2CEE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监管报送适配器</a:t>
            </a:r>
            <a:endParaRPr lang="zh-CN" sz="1120" dirty="0">
              <a:solidFill>
                <a:srgbClr val="C2CEE2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45552" y="3675887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P2</a:t>
            </a:r>
            <a:endParaRPr sz="95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/>
          <p:nvPr/>
        </p:nvSpPr>
        <p:spPr>
          <a:xfrm>
            <a:off x="8302752" y="3675888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40481" rIns="0" bIns="0" anchor="t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zh-CN" sz="1120" dirty="0">
                <a:solidFill>
                  <a:srgbClr val="C2CEE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计息与日结自动化</a:t>
            </a:r>
            <a:br>
              <a:rPr lang="zh-CN" sz="1120" dirty="0">
                <a:solidFill>
                  <a:srgbClr val="C2CEE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120" dirty="0">
                <a:solidFill>
                  <a:srgbClr val="C2CEE2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多副本与故障切换</a:t>
            </a:r>
            <a:endParaRPr lang="zh-CN" sz="1120" dirty="0">
              <a:solidFill>
                <a:srgbClr val="C2CEE2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/>
          <p:nvPr/>
        </p:nvSpPr>
        <p:spPr>
          <a:xfrm>
            <a:off x="7845552" y="4224528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39053" rIns="0" bIns="0" anchor="t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zh-CN" sz="1050" dirty="0">
                <a:solidFill>
                  <a:srgbClr val="7E90AE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当前：sandbox 可演示</a:t>
            </a:r>
            <a:br>
              <a:rPr lang="zh-CN" sz="1050" dirty="0">
                <a:solidFill>
                  <a:srgbClr val="7E90AE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1050" dirty="0">
                <a:solidFill>
                  <a:srgbClr val="7E90AE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live 未接入能力明确拒绝</a:t>
            </a:r>
            <a:endParaRPr lang="zh-CN" sz="1050" dirty="0">
              <a:solidFill>
                <a:srgbClr val="7E90AE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8" y="5138928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谢谢，欢迎提问。</a:t>
            </a:r>
            <a:endParaRPr sz="3200" b="1" i="0">
              <a:solidFill>
                <a:srgbClr val="FFFFFF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/>
          <p:nvPr/>
        </p:nvSpPr>
        <p:spPr>
          <a:xfrm>
            <a:off x="749808" y="5833872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wrap="none" lIns="0" tIns="40481" rIns="0" bIns="0" anchor="t" anchorCtr="0">
            <a:noAutofit/>
          </a:bodyPr>
          <a:lstStyle/>
          <a:p>
            <a:pPr algn="l"/>
            <a:r>
              <a:rPr lang="zh-CN" sz="1120" dirty="0">
                <a:solidFill>
                  <a:srgbClr val="8EA3C8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虚拟银行演示系统；尚未接入真实资金通道、支付清算与监管报送</a:t>
            </a:r>
            <a:endParaRPr lang="zh-CN" sz="1120" dirty="0">
              <a:solidFill>
                <a:srgbClr val="8EA3C8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49808" y="6291072"/>
            <a:ext cx="10692079" cy="10972"/>
          </a:xfrm>
          <a:prstGeom prst="rect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25000"/>
              </a:lnSpc>
            </a:pPr>
            <a:r>
              <a:rPr sz="900" b="0" i="0">
                <a:solidFill>
                  <a:srgbClr val="6E7E9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招财猫银行 · Money Meow Bank</a:t>
            </a:r>
            <a:endParaRPr sz="900" b="0" i="0">
              <a:solidFill>
                <a:srgbClr val="6E7E9A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/>
          <p:nvPr/>
        </p:nvSpPr>
        <p:spPr>
          <a:xfrm>
            <a:off x="10527506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37152" rIns="0" bIns="0" anchor="t" anchorCtr="0">
            <a:noAutofit/>
          </a:bodyPr>
          <a:lstStyle/>
          <a:p>
            <a:pPr algn="r"/>
            <a:r>
              <a:rPr lang="zh-CN" sz="950" b="1" dirty="0">
                <a:solidFill>
                  <a:srgbClr val="6E7E9A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rPr>
              <a:t>11 / 11</a:t>
            </a:r>
            <a:endParaRPr lang="zh-CN" sz="950" b="1" dirty="0">
              <a:solidFill>
                <a:srgbClr val="6E7E9A"/>
              </a:solidFill>
              <a:latin typeface="Bahnschrift" panose="020B0502040204020203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3" name="closing-detail-6"/>
          <p:cNvGrpSpPr/>
          <p:nvPr/>
        </p:nvGrpSpPr>
        <p:grpSpPr>
          <a:xfrm>
            <a:off x="1459611" y="2365375"/>
            <a:ext cx="3646526" cy="278702"/>
            <a:chOff x="1459611" y="2365375"/>
            <a:chExt cx="3646526" cy="278702"/>
          </a:xfrm>
        </p:grpSpPr>
        <p:sp>
          <p:nvSpPr>
            <p:cNvPr id="52" name="TextBox 52"/>
            <p:cNvSpPr txBox="1"/>
            <p:nvPr/>
          </p:nvSpPr>
          <p:spPr>
            <a:xfrm>
              <a:off x="1459611" y="2365375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5CFE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自然语言入口，多端协同，预算与理财联动</a:t>
              </a:r>
              <a:endParaRPr lang="zh-CN" sz="1420" dirty="0">
                <a:solidFill>
                  <a:srgbClr val="C5CFE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5" name="closing-detail-10"/>
          <p:cNvGrpSpPr/>
          <p:nvPr/>
        </p:nvGrpSpPr>
        <p:grpSpPr>
          <a:xfrm>
            <a:off x="1459611" y="3298825"/>
            <a:ext cx="3073044" cy="278702"/>
            <a:chOff x="1459611" y="3298825"/>
            <a:chExt cx="3073044" cy="278702"/>
          </a:xfrm>
        </p:grpSpPr>
        <p:sp>
          <p:nvSpPr>
            <p:cNvPr id="54" name="TextBox 54"/>
            <p:cNvSpPr txBox="1"/>
            <p:nvPr/>
          </p:nvSpPr>
          <p:spPr>
            <a:xfrm>
              <a:off x="1459611" y="3298825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5CFE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同事务、幂等与审计，失败整体回滚</a:t>
              </a:r>
              <a:endParaRPr lang="zh-CN" sz="1420" dirty="0">
                <a:solidFill>
                  <a:srgbClr val="C5CFE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7" name="closing-detail-14"/>
          <p:cNvGrpSpPr/>
          <p:nvPr/>
        </p:nvGrpSpPr>
        <p:grpSpPr>
          <a:xfrm>
            <a:off x="1459611" y="4232275"/>
            <a:ext cx="3073044" cy="278702"/>
            <a:chOff x="1459611" y="4232275"/>
            <a:chExt cx="3073044" cy="278702"/>
          </a:xfrm>
        </p:grpSpPr>
        <p:sp>
          <p:nvSpPr>
            <p:cNvPr id="56" name="TextBox 56"/>
            <p:cNvSpPr txBox="1"/>
            <p:nvPr/>
          </p:nvSpPr>
          <p:spPr>
            <a:xfrm>
              <a:off x="1459611" y="4232275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5CFE1"/>
                  </a:solidFill>
                  <a:latin typeface="Bahnschrift" panose="020B0502040204020203"/>
                  <a:ea typeface="微软雅黑" panose="020B0503020204020204" charset="-122"/>
                  <a:cs typeface="微软雅黑" panose="020B0503020204020204" charset="-122"/>
                </a:rPr>
                <a:t>客户保留授权，关键约束有工程门禁</a:t>
              </a:r>
              <a:endParaRPr lang="zh-CN" sz="1420" dirty="0">
                <a:solidFill>
                  <a:srgbClr val="C5CFE1"/>
                </a:solidFill>
                <a:latin typeface="Bahnschrift" panose="020B0502040204020203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2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3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4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5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6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7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8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9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10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11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12.xml><?xml version="1.0" encoding="utf-8"?>
<p:tagLst xmlns:p="http://schemas.openxmlformats.org/presentationml/2006/main">
  <p:tag name="KSO_WM_DIAGRAM_VIRTUALLY_FRAME" val="{&quot;height&quot;:239.04000000000002,&quot;left&quot;:37.389999999999986,&quot;top&quot;:138.24,&quot;width&quot;:863.545905511811}"/>
</p:tagLst>
</file>

<file path=ppt/tags/tag13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14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15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16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17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18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19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20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21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22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23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24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25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26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27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28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29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30.xml><?xml version="1.0" encoding="utf-8"?>
<p:tagLst xmlns:p="http://schemas.openxmlformats.org/presentationml/2006/main">
  <p:tag name="KSO_WM_DIAGRAM_VIRTUALLY_FRAME" val="{&quot;height&quot;:253.5,&quot;left&quot;:59.25,&quot;top&quot;:146.25,&quot;width&quot;:842.25}"/>
</p:tagLst>
</file>

<file path=ppt/tags/tag31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32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33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34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35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36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37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38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39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40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41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42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43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44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45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46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47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48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49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ags/tag50.xml><?xml version="1.0" encoding="utf-8"?>
<p:tagLst xmlns:p="http://schemas.openxmlformats.org/presentationml/2006/main">
  <p:tag name="KSO_WM_DIAGRAM_VIRTUALLY_FRAME" val="{&quot;height&quot;:262.5,&quot;left&quot;:343.5,&quot;top&quot;:146.25,&quot;width&quot;:55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hnschrift"/>
        <a:ea typeface="Microsoft YaHei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hnschrift"/>
        <a:ea typeface="Microsoft YaHei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hnschrift"/>
        <a:ea typeface="Microsoft YaHei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hnschrift"/>
        <a:ea typeface="Microsoft YaHei"/>
        <a:cs typeface=""/>
        <a:font script="Jpan" typeface="ＭＳ Ｐゴシック"/>
        <a:font script="Hang" typeface="맑은 고딕"/>
        <a:font script="Hans" typeface="Microsoft YaHei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2731</Words>
  <Application>WPS 演示</Application>
  <PresentationFormat>On-screen Show (4:3)</PresentationFormat>
  <Paragraphs>433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宋体</vt:lpstr>
      <vt:lpstr>Wingdings</vt:lpstr>
      <vt:lpstr>Arial</vt:lpstr>
      <vt:lpstr>Bahnschrift</vt:lpstr>
      <vt:lpstr>微软雅黑</vt:lpstr>
      <vt:lpstr>Arial Unicode MS</vt:lpstr>
      <vt:lpstr>Calibri</vt:lpstr>
      <vt:lpstr>Bahnschrift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张天棋</cp:lastModifiedBy>
  <cp:revision>4</cp:revision>
  <dcterms:created xsi:type="dcterms:W3CDTF">2013-01-27T09:14:00Z</dcterms:created>
  <dcterms:modified xsi:type="dcterms:W3CDTF">2026-10-30T08:40:34Z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26F5E97154324BF4ACDBCE6024A01655_12</vt:lpwstr>
  </property>
</Properties>
</file>